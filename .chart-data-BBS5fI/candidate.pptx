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2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3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4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18c7eb1d3b4903" /><Relationship Type="http://schemas.openxmlformats.org/officeDocument/2006/relationships/extended-properties" Target="/docProps/app.xml" Id="R8b51b9f8499b4a5a" /><Relationship Type="http://schemas.openxmlformats.org/officeDocument/2006/relationships/officeDocument" Target="/ppt/presentation.xml" Id="Rf3ca806c053447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75acd741e2401f"/>
    <p:sldMasterId xmlns:r="http://schemas.openxmlformats.org/officeDocument/2006/relationships" id="2147483660" r:id="Ra1c80ba31cf34b18"/>
  </p:sldMasterIdLst>
  <p:notesMasterIdLst>
    <p:notesMasterId xmlns:r="http://schemas.openxmlformats.org/officeDocument/2006/relationships" r:id="R1de769f96592496e"/>
  </p:notesMasterIdLst>
  <p:sldIdLst>
    <p:sldId xmlns:r="http://schemas.openxmlformats.org/officeDocument/2006/relationships" id="256" r:id="R6b964bb716d7404d"/>
    <p:sldId xmlns:r="http://schemas.openxmlformats.org/officeDocument/2006/relationships" id="257" r:id="R989b480aa68146e5"/>
    <p:sldId xmlns:r="http://schemas.openxmlformats.org/officeDocument/2006/relationships" id="258" r:id="Rb3ff476ca77b4306"/>
    <p:sldId xmlns:r="http://schemas.openxmlformats.org/officeDocument/2006/relationships" id="259" r:id="R4198a2a3ed454c90"/>
    <p:sldId xmlns:r="http://schemas.openxmlformats.org/officeDocument/2006/relationships" id="260" r:id="R82d9da746b32406f"/>
    <p:sldId xmlns:r="http://schemas.openxmlformats.org/officeDocument/2006/relationships" id="261" r:id="Rd7c821b5449b4302"/>
    <p:sldId xmlns:r="http://schemas.openxmlformats.org/officeDocument/2006/relationships" id="262" r:id="R974c9aceb78a4624"/>
    <p:sldId xmlns:r="http://schemas.openxmlformats.org/officeDocument/2006/relationships" id="263" r:id="R3ee9dd5ad9cd4986"/>
    <p:sldId xmlns:r="http://schemas.openxmlformats.org/officeDocument/2006/relationships" id="264" r:id="R7fb63ca69b69438b"/>
    <p:sldId xmlns:r="http://schemas.openxmlformats.org/officeDocument/2006/relationships" id="265" r:id="Ra8fd15d644e541db"/>
    <p:sldId xmlns:r="http://schemas.openxmlformats.org/officeDocument/2006/relationships" id="266" r:id="Rf5d9d05eed504f81"/>
    <p:sldId xmlns:r="http://schemas.openxmlformats.org/officeDocument/2006/relationships" id="267" r:id="Ra68c55e143504051"/>
    <p:sldId xmlns:r="http://schemas.openxmlformats.org/officeDocument/2006/relationships" id="268" r:id="Rc74fb95eeb804644"/>
    <p:sldId xmlns:r="http://schemas.openxmlformats.org/officeDocument/2006/relationships" id="269" r:id="Rd9b9a87274ec4e24"/>
    <p:sldId xmlns:r="http://schemas.openxmlformats.org/officeDocument/2006/relationships" id="270" r:id="R4c1e09a7974c46ff"/>
    <p:sldId xmlns:r="http://schemas.openxmlformats.org/officeDocument/2006/relationships" id="271" r:id="R8bb3414758454eae"/>
    <p:sldId xmlns:r="http://schemas.openxmlformats.org/officeDocument/2006/relationships" id="272" r:id="R45b9f502f38745bb"/>
    <p:sldId xmlns:r="http://schemas.openxmlformats.org/officeDocument/2006/relationships" id="273" r:id="R423718cc87184564"/>
    <p:sldId xmlns:r="http://schemas.openxmlformats.org/officeDocument/2006/relationships" id="274" r:id="R3f53c882c98a4107"/>
    <p:sldId xmlns:r="http://schemas.openxmlformats.org/officeDocument/2006/relationships" id="275" r:id="R2495105f0e214a0a"/>
    <p:sldId xmlns:r="http://schemas.openxmlformats.org/officeDocument/2006/relationships" id="276" r:id="R74a4e2d1ddae4a0f"/>
    <p:sldId xmlns:r="http://schemas.openxmlformats.org/officeDocument/2006/relationships" id="277" r:id="Rcd3db7218a1b4ceb"/>
    <p:sldId xmlns:r="http://schemas.openxmlformats.org/officeDocument/2006/relationships" id="278" r:id="Rfaf10b311ed44252"/>
    <p:sldId xmlns:r="http://schemas.openxmlformats.org/officeDocument/2006/relationships" id="279" r:id="R59d03b0a8fdb4022"/>
    <p:sldId xmlns:r="http://schemas.openxmlformats.org/officeDocument/2006/relationships" id="280" r:id="Rf4b4ec20ccb340d8"/>
    <p:sldId xmlns:r="http://schemas.openxmlformats.org/officeDocument/2006/relationships" id="281" r:id="Rc1ffca34d3964e15"/>
    <p:sldId xmlns:r="http://schemas.openxmlformats.org/officeDocument/2006/relationships" id="282" r:id="R9a8bc73aae684167"/>
    <p:sldId xmlns:r="http://schemas.openxmlformats.org/officeDocument/2006/relationships" id="283" r:id="Rfec99a645f9b4f75"/>
    <p:sldId xmlns:r="http://schemas.openxmlformats.org/officeDocument/2006/relationships" id="284" r:id="R1931ec6e95fe41a5"/>
    <p:sldId xmlns:r="http://schemas.openxmlformats.org/officeDocument/2006/relationships" id="285" r:id="Rc6fd46d1c36042ea"/>
    <p:sldId xmlns:r="http://schemas.openxmlformats.org/officeDocument/2006/relationships" id="286" r:id="Rd5070ba16c4f4989"/>
    <p:sldId xmlns:r="http://schemas.openxmlformats.org/officeDocument/2006/relationships" id="287" r:id="R9d534dc2f1764db1"/>
    <p:sldId xmlns:r="http://schemas.openxmlformats.org/officeDocument/2006/relationships" id="288" r:id="R027527d112ab48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af84fdc1a1487c" /><Relationship Type="http://schemas.openxmlformats.org/officeDocument/2006/relationships/slideMaster" Target="/ppt/slideMasters/slideMaster1.xml" Id="R3075acd741e2401f" /><Relationship Type="http://schemas.openxmlformats.org/officeDocument/2006/relationships/slideMaster" Target="/ppt/slideMasters/slideMaster2.xml" Id="Ra1c80ba31cf34b18" /><Relationship Type="http://schemas.openxmlformats.org/officeDocument/2006/relationships/notesMaster" Target="/ppt/notesMasters/notesMaster1.xml" Id="R1de769f96592496e" /><Relationship Type="http://schemas.openxmlformats.org/officeDocument/2006/relationships/presProps" Target="/ppt/presProps.xml" Id="Rea998f1947a64f1e" /><Relationship Type="http://schemas.openxmlformats.org/officeDocument/2006/relationships/viewProps" Target="/ppt/viewProps.xml" Id="R26518129ff1243bf" /><Relationship Type="http://schemas.openxmlformats.org/officeDocument/2006/relationships/tableStyles" Target="/ppt/tableStyles.xml" Id="Rd6d16d5dff9641bc" /><Relationship Type="http://schemas.openxmlformats.org/officeDocument/2006/relationships/slide" Target="/ppt/slides/slide1.xml" Id="R6b964bb716d7404d" /><Relationship Type="http://schemas.openxmlformats.org/officeDocument/2006/relationships/slide" Target="/ppt/slides/slide2.xml" Id="R989b480aa68146e5" /><Relationship Type="http://schemas.openxmlformats.org/officeDocument/2006/relationships/slide" Target="/ppt/slides/slide3.xml" Id="Rb3ff476ca77b4306" /><Relationship Type="http://schemas.openxmlformats.org/officeDocument/2006/relationships/slide" Target="/ppt/slides/slide4.xml" Id="R4198a2a3ed454c90" /><Relationship Type="http://schemas.openxmlformats.org/officeDocument/2006/relationships/slide" Target="/ppt/slides/slide5.xml" Id="R82d9da746b32406f" /><Relationship Type="http://schemas.openxmlformats.org/officeDocument/2006/relationships/slide" Target="/ppt/slides/slide6.xml" Id="Rd7c821b5449b4302" /><Relationship Type="http://schemas.openxmlformats.org/officeDocument/2006/relationships/slide" Target="/ppt/slides/slide7.xml" Id="R974c9aceb78a4624" /><Relationship Type="http://schemas.openxmlformats.org/officeDocument/2006/relationships/slide" Target="/ppt/slides/slide8.xml" Id="R3ee9dd5ad9cd4986" /><Relationship Type="http://schemas.openxmlformats.org/officeDocument/2006/relationships/slide" Target="/ppt/slides/slide9.xml" Id="R7fb63ca69b69438b" /><Relationship Type="http://schemas.openxmlformats.org/officeDocument/2006/relationships/slide" Target="/ppt/slides/slide10.xml" Id="Ra8fd15d644e541db" /><Relationship Type="http://schemas.openxmlformats.org/officeDocument/2006/relationships/slide" Target="/ppt/slides/slide11.xml" Id="Rf5d9d05eed504f81" /><Relationship Type="http://schemas.openxmlformats.org/officeDocument/2006/relationships/slide" Target="/ppt/slides/slide12.xml" Id="Ra68c55e143504051" /><Relationship Type="http://schemas.openxmlformats.org/officeDocument/2006/relationships/slide" Target="/ppt/slides/slide13.xml" Id="Rc74fb95eeb804644" /><Relationship Type="http://schemas.openxmlformats.org/officeDocument/2006/relationships/slide" Target="/ppt/slides/slide14.xml" Id="Rd9b9a87274ec4e24" /><Relationship Type="http://schemas.openxmlformats.org/officeDocument/2006/relationships/slide" Target="/ppt/slides/slide15.xml" Id="R4c1e09a7974c46ff" /><Relationship Type="http://schemas.openxmlformats.org/officeDocument/2006/relationships/slide" Target="/ppt/slides/slide16.xml" Id="R8bb3414758454eae" /><Relationship Type="http://schemas.openxmlformats.org/officeDocument/2006/relationships/slide" Target="/ppt/slides/slide17.xml" Id="R45b9f502f38745bb" /><Relationship Type="http://schemas.openxmlformats.org/officeDocument/2006/relationships/slide" Target="/ppt/slides/slide18.xml" Id="R423718cc87184564" /><Relationship Type="http://schemas.openxmlformats.org/officeDocument/2006/relationships/slide" Target="/ppt/slides/slide19.xml" Id="R3f53c882c98a4107" /><Relationship Type="http://schemas.openxmlformats.org/officeDocument/2006/relationships/slide" Target="/ppt/slides/slide20.xml" Id="R2495105f0e214a0a" /><Relationship Type="http://schemas.openxmlformats.org/officeDocument/2006/relationships/slide" Target="/ppt/slides/slide21.xml" Id="R74a4e2d1ddae4a0f" /><Relationship Type="http://schemas.openxmlformats.org/officeDocument/2006/relationships/slide" Target="/ppt/slides/slide22.xml" Id="Rcd3db7218a1b4ceb" /><Relationship Type="http://schemas.openxmlformats.org/officeDocument/2006/relationships/slide" Target="/ppt/slides/slide23.xml" Id="Rfaf10b311ed44252" /><Relationship Type="http://schemas.openxmlformats.org/officeDocument/2006/relationships/slide" Target="/ppt/slides/slide24.xml" Id="R59d03b0a8fdb4022" /><Relationship Type="http://schemas.openxmlformats.org/officeDocument/2006/relationships/slide" Target="/ppt/slides/slide25.xml" Id="Rf4b4ec20ccb340d8" /><Relationship Type="http://schemas.openxmlformats.org/officeDocument/2006/relationships/slide" Target="/ppt/slides/slide26.xml" Id="Rc1ffca34d3964e15" /><Relationship Type="http://schemas.openxmlformats.org/officeDocument/2006/relationships/slide" Target="/ppt/slides/slide27.xml" Id="R9a8bc73aae684167" /><Relationship Type="http://schemas.openxmlformats.org/officeDocument/2006/relationships/slide" Target="/ppt/slides/slide28.xml" Id="Rfec99a645f9b4f75" /><Relationship Type="http://schemas.openxmlformats.org/officeDocument/2006/relationships/slide" Target="/ppt/slides/slide29.xml" Id="R1931ec6e95fe41a5" /><Relationship Type="http://schemas.openxmlformats.org/officeDocument/2006/relationships/slide" Target="/ppt/slides/slide30.xml" Id="Rc6fd46d1c36042ea" /><Relationship Type="http://schemas.openxmlformats.org/officeDocument/2006/relationships/slide" Target="/ppt/slides/slide31.xml" Id="Rd5070ba16c4f4989" /><Relationship Type="http://schemas.openxmlformats.org/officeDocument/2006/relationships/slide" Target="/ppt/slides/slide32.xml" Id="R9d534dc2f1764db1" /><Relationship Type="http://schemas.openxmlformats.org/officeDocument/2006/relationships/slide" Target="/ppt/slides/slide33.xml" Id="R027527d112ab48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1377bcdb8aa147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6e6c34aae54e52" /><Relationship Type="http://schemas.openxmlformats.org/officeDocument/2006/relationships/notesMaster" Target="/ppt/notesMasters/notesMaster1.xml" Id="R19c7b454f2294f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d56c4f9b0a4efa" /><Relationship Type="http://schemas.openxmlformats.org/officeDocument/2006/relationships/notesMaster" Target="/ppt/notesMasters/notesMaster1.xml" Id="Ra92ee6aca46044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649a82a0524e86" /><Relationship Type="http://schemas.openxmlformats.org/officeDocument/2006/relationships/notesMaster" Target="/ppt/notesMasters/notesMaster1.xml" Id="Rb38e28c3e20a42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7f5d7c2a6044d2" /><Relationship Type="http://schemas.openxmlformats.org/officeDocument/2006/relationships/notesMaster" Target="/ppt/notesMasters/notesMaster1.xml" Id="Rb6355b687f064c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38f6e3916e49f2" /><Relationship Type="http://schemas.openxmlformats.org/officeDocument/2006/relationships/notesMaster" Target="/ppt/notesMasters/notesMaster1.xml" Id="R9b90c2427ba143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ee199494be424e" /><Relationship Type="http://schemas.openxmlformats.org/officeDocument/2006/relationships/notesMaster" Target="/ppt/notesMasters/notesMaster1.xml" Id="R16217faca05f40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ea19ec219a4207" /><Relationship Type="http://schemas.openxmlformats.org/officeDocument/2006/relationships/notesMaster" Target="/ppt/notesMasters/notesMaster1.xml" Id="R92f6897c0eea43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32e8dd103148e1" /><Relationship Type="http://schemas.openxmlformats.org/officeDocument/2006/relationships/notesMaster" Target="/ppt/notesMasters/notesMaster1.xml" Id="Rb347a0296b0c4a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c6dc499ed9413f" /><Relationship Type="http://schemas.openxmlformats.org/officeDocument/2006/relationships/notesMaster" Target="/ppt/notesMasters/notesMaster1.xml" Id="Ra51916df9c8a41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16b1eba3364b77" /><Relationship Type="http://schemas.openxmlformats.org/officeDocument/2006/relationships/notesMaster" Target="/ppt/notesMasters/notesMaster1.xml" Id="R5f319a5cb9934d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fb970f9a0148d2" /><Relationship Type="http://schemas.openxmlformats.org/officeDocument/2006/relationships/notesMaster" Target="/ppt/notesMasters/notesMaster1.xml" Id="Rd71c0d11ce6c47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7f6efec2234c55" /><Relationship Type="http://schemas.openxmlformats.org/officeDocument/2006/relationships/notesMaster" Target="/ppt/notesMasters/notesMaster1.xml" Id="R508ca01f122241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27606c4a850439a" /><Relationship Type="http://schemas.openxmlformats.org/officeDocument/2006/relationships/notesMaster" Target="/ppt/notesMasters/notesMaster1.xml" Id="Re252f99c7e024ab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ae94cc29142431c" /><Relationship Type="http://schemas.openxmlformats.org/officeDocument/2006/relationships/notesMaster" Target="/ppt/notesMasters/notesMaster1.xml" Id="R42b33d8e483f4a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631919b85b04d7d" /><Relationship Type="http://schemas.openxmlformats.org/officeDocument/2006/relationships/notesMaster" Target="/ppt/notesMasters/notesMaster1.xml" Id="R708153776a12433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9cb97914c2446d6" /><Relationship Type="http://schemas.openxmlformats.org/officeDocument/2006/relationships/notesMaster" Target="/ppt/notesMasters/notesMaster1.xml" Id="Rbcc852fc43e14d5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6a81e0e07c14ff5" /><Relationship Type="http://schemas.openxmlformats.org/officeDocument/2006/relationships/notesMaster" Target="/ppt/notesMasters/notesMaster1.xml" Id="Ref87705f92a64e7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9ef18d2ec0e4e00" /><Relationship Type="http://schemas.openxmlformats.org/officeDocument/2006/relationships/notesMaster" Target="/ppt/notesMasters/notesMaster1.xml" Id="Rf52ba74a85974ac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0e4b6db805e43a8" /><Relationship Type="http://schemas.openxmlformats.org/officeDocument/2006/relationships/notesMaster" Target="/ppt/notesMasters/notesMaster1.xml" Id="Re861951171a8467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9412705869344bb" /><Relationship Type="http://schemas.openxmlformats.org/officeDocument/2006/relationships/notesMaster" Target="/ppt/notesMasters/notesMaster1.xml" Id="R570c25faf1ba445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12713b2f92343aa" /><Relationship Type="http://schemas.openxmlformats.org/officeDocument/2006/relationships/notesMaster" Target="/ppt/notesMasters/notesMaster1.xml" Id="R367c14d3ae8f4db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cda30374aad45fb" /><Relationship Type="http://schemas.openxmlformats.org/officeDocument/2006/relationships/notesMaster" Target="/ppt/notesMasters/notesMaster1.xml" Id="R6a4a7055deb34b4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e372a30e7b040bc" /><Relationship Type="http://schemas.openxmlformats.org/officeDocument/2006/relationships/notesMaster" Target="/ppt/notesMasters/notesMaster1.xml" Id="Rd398b3f764324e1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81e0bd057524791" /><Relationship Type="http://schemas.openxmlformats.org/officeDocument/2006/relationships/notesMaster" Target="/ppt/notesMasters/notesMaster1.xml" Id="Rd894ff3802534c0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078b3d4dfda4b12" /><Relationship Type="http://schemas.openxmlformats.org/officeDocument/2006/relationships/notesMaster" Target="/ppt/notesMasters/notesMaster1.xml" Id="Ra5312f4272fa42b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62473e63b104dc7" /><Relationship Type="http://schemas.openxmlformats.org/officeDocument/2006/relationships/notesMaster" Target="/ppt/notesMasters/notesMaster1.xml" Id="R2e547d5426ba419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41b9201931747f0" /><Relationship Type="http://schemas.openxmlformats.org/officeDocument/2006/relationships/notesMaster" Target="/ppt/notesMasters/notesMaster1.xml" Id="R92c0829f3dcd486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e701f47dc8140b6" /><Relationship Type="http://schemas.openxmlformats.org/officeDocument/2006/relationships/notesMaster" Target="/ppt/notesMasters/notesMaster1.xml" Id="Rcee55c4636974cc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fb41fc87dad4290" /><Relationship Type="http://schemas.openxmlformats.org/officeDocument/2006/relationships/notesMaster" Target="/ppt/notesMasters/notesMaster1.xml" Id="R864f8b53d1d5482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6034c84dd3b4470" /><Relationship Type="http://schemas.openxmlformats.org/officeDocument/2006/relationships/notesMaster" Target="/ppt/notesMasters/notesMaster1.xml" Id="Rab2e276d61e6465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271142432b146f0" /><Relationship Type="http://schemas.openxmlformats.org/officeDocument/2006/relationships/notesMaster" Target="/ppt/notesMasters/notesMaster1.xml" Id="R343216d71c6d4e5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b11da500bd24e2d" /><Relationship Type="http://schemas.openxmlformats.org/officeDocument/2006/relationships/notesMaster" Target="/ppt/notesMasters/notesMaster1.xml" Id="R38533474e284442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695b3d9ac4448ba" /><Relationship Type="http://schemas.openxmlformats.org/officeDocument/2006/relationships/notesMaster" Target="/ppt/notesMasters/notesMaster1.xml" Id="Rd71979acbf4b44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页；建议 20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本页要点：中期答辩：重点汇报 PCU-Select 的背景、动机、方法与稿件结果，并说明后续系统工作。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各位老师好，我是林肯达。今天进行《面向大模型的数据与参数联合高效微调算法研究》的中期汇报。我将重点介绍目前形成的 PCU-Select 论文工作：为什么要研究、方法怎样设计、结果怎样分析，最后说明下一阶段的系统建设计划。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转场：下面按照问题、方法、结果和计划四个部分展开。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提示：完整读出总题目，明确本次主体是已开展的论文工作。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来源：/Users/bytedance/Library/Containers/com.tencent.xinWeChat/Data/Documents/xwechat_files/wxid_gv7hy4hchzzw22_bc53/msg/file/2026-09/开题答辩-林肯达.pptx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来源：用户提供的第二工作点方案（会话消息）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页；建议 15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本页要点：先说明研究问题，再解释方法与实验，最后汇报后续工作。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首先说明多配置微调场景中的数据选择问题；其次介绍共享位点、条件评分和子集生成方法；第三部分分析质量、消融和成本；最后介绍承接算法的实验管理系统，以及后续八周的建议安排。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转场：先从大模型微调的两类成本说起。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提示：快速指过四个部分，不逐字读二级条目。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来源：/Users/bytedance/Library/Containers/com.tencent.xinWeChat/Data/Documents/xwechat_files/wxid_gv7hy4hchzzw22_bc53/msg/file/2026-09/开题答辩-林肯达.pptx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来源：用户提供的第二工作点方案（会话消息）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页；建议 45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本页要点：单次微调要节省数据与参数成本，多配置场景还要减少重复选数。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大模型适配具体任务时，成本主要受到两个方面影响。一方面是用多少训练数据，数据高效微调通过选择更有用的样本，减少训练量。另一方面是更新多少参数，PEFT，也就是参数高效微调，只训练模型中的少量参数。现实中，同一个数据池可能要服务数学、代码等不同任务，也可能同时维护多种 PEFT 配置。此时，问题不只是哪次训练更省，还包括每增加一种配置，是否要重新做一遍昂贵的数据选择。我的课题把数据价值与可训练参数放在一起考虑。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转场：现有选数方案在处理配置差异时，存在一个具体矛盾。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提示：先讲数据和参数两条轴，再把目光移到多配置重复实验。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来源：/Users/bytedance/code/data-selection/paper/Sections/01_introduction.tex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来源：/Users/bytedance/code/data-selection/paper/Sections/03_problem_formulation.tex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页；建议 50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本页要点：配置无关方法易复用，逐 PEFT 的 LESS 更有针对性，但要重复建立梯度库。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这里比较三类方案。RDS 加这一语义基线根据样本与任务的相似度排序，知道任务需要什么，但不区分 PEFT 配置。共享梯度方法能够复用一份梯度库，也没有保留具体配置条件。LESS 则针对每套 PEFT 建立相应的梯度库，再根据任务样本选数，能够体现当前可训练参数的影响。但更换配置后，这份库往往需要重建。于是出现一个取舍：我们希望保留逐配置选择的针对性，又希望复用昂贵计算。PCU-Select 的目标就是让同一个评分器接收目标配置，而不是让所有配置使用同一套排名。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转场：这个目标首先依赖一个判断：微调配置为什么会改变数据价值？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提示：沿表格从语义、共享梯度到逐配置梯度讲；避免把 RDS+ 说成不感知任务。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来源：/Users/bytedance/code/data-selection/paper/Sections/01_introduction.tex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来源：/Users/bytedance/code/data-selection/paper/Sections/05_experiments.tex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页；建议 50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本页要点：LoRA、IA3 与 Adapter 的更新方式和容量不同，同一数据的训练作用可能不同。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可以把可训练参数理解成模型当前能够调整的方向。LoRA 给权重增加低秩更新，秩和作用模块决定更新容量与位置；IA3 通过学习缩放向量调整内部特征；Adapter 则通过一个较小的瓶颈网络加入额外变换。这几种方式对同一条样本产生的更新并不相同。即使都使用 LoRA，修改注意力还是 MLP、秩大还是秩小，也会改变可学习的空间。因此，一条样本对目标任务是否有帮助，不仅取决于内容是否相关，还取决于当前配置能否利用它带来的训练信号。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转场：接下来用跨配置复用子集的比较说明这一动机。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提示：将“更新子空间”解释为能够调整的方向，讲清三个示例即可。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来源：/Users/bytedance/code/data-selection/paper/tables/table_peft_configs.tex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页；建议 48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本页要点：稿件中逐 PEFT LESS 为 35.14，跨配置复用为 34.24，动机是复用计算而保留目标子集。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这一组比较在每个任务上，先用一套源 PEFT 的 LESS 选出子集，再把该任务子集用于其他目标配置。这里保留任务差异，只取消配置差异。实验结果汇总中，逐配置运行 LESS 的宏平均是三十五点一四，直接复用降到三十四点二四，低于 RDS 加的三十四点四四。这个现象提示：减少重复选数时，不能只把源配置的子集原样复制过去。更合适的方向是复用特征和评分机制，让不同配置仍然生成自己的子集。这也就是 PCU-Select 要解决的问题。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转场：下面将这个问题写成明确的条件数据选择目标。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提示：强调是四份任务专属源子集分别跨配置复用，不是所有任务共用一份子集。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来源：/Users/bytedance/code/data-selection/paper/tables/table_reuse_quality_cost.tex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来源：/Users/bytedance/code/data-selection/scripts/paper/competition_reuse_experiment.py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来源：/Users/bytedance/code/data-selection/tmp/midterm_v2/results_data.json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页；建议 45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本页要点：在预算内，为特定任务与 PEFT 配置选择训练子集。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我用 u(x,p,t) 表示一条数据的条件效用。x 是候选样本，p 是微调配置，t 是目标任务。它回答的是：在这种训练方式下，使用这条样本对当前任务有多大帮助。任务由一个包含三十二条训练或开发样本的小集合描述，论文称为 task sketch，可以理解成任务需求的缩影。目标是在预算 B 内选择子集，提升最终测试表现。由于穷举子集并反复训练不可行，我们学习一个评分器，近似预测这种效用。测试集只用于最终评价，不参与评分或选数。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转场：围绕这一目标，方法分成离线学习和在线选择两个阶段。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提示：依次解释 x、p、t、B；task sketch 用“任务需求的缩影”解释。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来源：/Users/bytedance/code/data-selection/paper/Sections/03_problem_formulation.tex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页；建议 50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本页要点：离线建立共享资产，在线以配置和任务为条件评分，再生成预算内子集。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先看整体流程。左侧是离线阶段，提取候选样本和任务的共享信号，再利用低成本梯度代理与少量短更新构造监督，训练一个条件评分器。这些工作形成可以反复使用的资产。右侧是在线阶段，输入新的目标 PEFT 与任务，读取样本缓存，由评分器输出每条数据的效用和不确定性，随后通过语义聚类与配额生成子集，交给下游微调。架构里有两点最关键：一是共享坐标让不同配置可以使用同一批样本信号；二是配置条件始终保留，因此复用资产之后仍能产生目标专属排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转场：下面先解释共享坐标为什么能够连接不同的 PEFT。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提示：先指离线、再指在线，最后回到共享位点和目标条件两处。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来源：/Users/bytedance/code/data-selection/paper/Figures/pcu-select-architecture-spec.md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页；建议 55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本页要点：在模块输出上观察梯度，通过位点、算子与容量表达配置差异，避免直接拼接异形参数梯度。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不同 PEFT 的参数张量形状不同，直接拼接原始梯度很难共用。因此，方法把观察位置放到模块输出上：选择八个均匀分布的 Transformer 层，每层取注意力、MLP 和残差输出，形成二十四个位点。根据链式法则，参数更新与这些中间输出的梯度存在联系，所以位点信号能够描述样本如何推动模型内部表示。可以把它理解成同一台设备上的固定测量点。配置掩码记录作用位置，算子和容量编码说明怎样更新、能更新多少。这里建立的是共享近似坐标，并不意味着二十四个位点能够完整恢复每种 PEFT 的所有参数梯度。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转场：有了共同坐标，评分器还需要读取样本、任务和配置的完整描述。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提示：先说形状不一致的问题，再用固定测量点解释；链式法则不展开矩阵推导。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来源：/Users/bytedance/code/data-selection/paper/Sections/08_appendix.tex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页；建议 50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本页要点：样本 848 维、PEFT 128 维、任务 848 维；结构信息比家族名称更具体。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三种输入各自回答一个问题。样本表示是八百四十八维，包括七百六十八维语义、十六维难度与格式、六十四维激活摘要，描述数据内容和模型反应。任务表示对三十二条任务样本的表示取平均，同样是八百四十八维，描述目标需求。PEFT 表示是一百二十八维，其中九十六维记录二十四个位点的活动与算子类型，另外两组十六维编码容量和训练配方。这样，两个都叫 LoRA 的配置也可以因为秩、模块或配方不同而得到不同编码。位点梯度另用于监督构造，不额外拼进这三个线上输入。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转场：接下来解释训练评分器需要的第一类监督信号。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提示：重点讲三类信息的职责；维度可指图带过，不连续背数字。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来源：/Users/bytedance/code/data-selection/src/pcu_select/pipeline/offline.py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来源：/Users/bytedance/code/data-selection/src/pcu_select/peft_space/encoder.py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页；建议 54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本页要点：在目标配置作用的位点上，比较样本与任务的梯度方向，再加权得到代理效用。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低保真标签来自梯度方向的一致性。首先在同一个位点上，计算候选样本和任务样本集的损失梯度。如果两个方向相近，说明它们对这个内部表示提出了相近的更新需求，可以作为样本可能有用的信号。为了降低存储成本，每个位点的梯度通过固定随机投影压缩到二百五十六维，再进行归一化。最后，用目标 PEFT 的位点权重对各位点余弦相似度加权，并在相同配置与任务内做排序归一化。样本梯度只需提取一次，更换配置时改变权重和条件即可，所以这类监督适合覆盖大规模候选池。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转场：梯度代理覆盖广，但比较间接，因此还需要更直接的短更新反馈。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提示：用“方向是否一致”解释余弦；强调是每个位点 256 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页；建议 58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本页要点：两个锚点、两种更新长度与三阶段采样，使少量标签覆盖更关键的排序区域。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高保真标签会实际做短程微调，观察任务损失下降多少。方法使用两个起点：基础模型，以及已经开始适配的暖启动模型；每个起点分别做一步和四步更新，减少对某个训练位置或更新长度的依赖。每个小批次包含目标样本和七条条件匹配样本，因此测到的是包含该样本的小批次短期作用。论文方案一共使用一万条标签，分三阶段选择：先覆盖不同配置和任务，再训练临时评分器，随后补充不确定性较大的区域，以及子集分界附近排序容易出错的区域。这样把较贵的实际更新用在更值得纠正的位置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转场：两种监督汇合后，由同一个条件评分器学习目标相关的排序。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提示：先解释锚点和更新步数，再说明 10K 标签的三阶段；不称其为长期真实贡献。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页；建议 57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本页要点：三路编码与条件调制保留目标差异，多保真两阶段学习输出效用和不确定性。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评分器先分别编码样本、PEFT 和任务。随后使用 FiLM，也就是根据配置与任务，对样本特征作缩放和平移，可以理解成用当前训练目标调整观察样本的角度。另一个双线性交互项直接表达样本与配置的匹配关系。训练分为两个阶段：阶段 A 先学习梯度代理给出的广泛排序；阶段 B 保留代理监督，再加入短更新标签的排序和回归，并学习不同样本预测的噪声大小。最终得到效用均值和不确定性，选数分数是均值减去零点二倍不确定性。它让分数高但预测较不稳定的样本受到一定惩罚，不是统计置信区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转场：有了每条样本的分数，还要解决高分样本可能过于相似的问题。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提示：FiLM 解释为按条件调整特征；明确 σ 是排序惩罚信号。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页；建议 48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本页要点：在高价值与语义覆盖之间分配预算，避免全局 Top-k 集中选择近似重复样本。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如果直接选全局分数最高的三万条，可能得到很多内容相近的样本。方法先按语义对候选池聚类，三十万条数据按默认规则形成五百四十七个簇，再分配三万条预算。每个簇的配额同时考虑两个因素：簇内高分样本的价值，以及簇本身的规模。价值高的簇得到更多机会，大簇也保留合理覆盖，最后在每个簇内取高分样本。这里既不是所有簇平均分，也不是只看最高分；取整之后还要确定性地处理余量，确保最终数量满足预算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转场：方法介绍完之后，下面说明实验如何组织。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提示：用高分练习题重复的例子解释，再指价值与规模两条输入。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来源：/Users/bytedance/code/data-selection/src/pcu_select/selection/adaptive_quota.py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15 页；建议 50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本页要点：主设置以 Llama-2-7B、300K 候选池、四任务、五种已见 PEFT 和 10% 预算组织评价。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主实验使用 Llama 二代七十亿参数模型，从三十万条混合指令中选择百分之十，也就是三万条。任务包括数学 GSM8K、代码 HumanEval、知识 MMLU 和多语言问答 TyDiQA，分别使用准确匹配、一次生成通过率、准确率和 F1。五种已见配置包括三种 LoRA、一种 IA3 和一种 Adapter。比较时固定骨干、训练步数、配方和评测协议，让选出的子集成为主要变量。稿件设置三个下游训练种子，同时固定评分器、任务 sketch 和候选池；所以重复口径是训练随机性，不是整个选择流程的独立重跑。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转场：先看注册配置和任务层面的总体质量。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提示：解释四任务各测什么；说明三种子口径和固定的选择条件。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来源：/Users/bytedance/code/data-selection/paper/Sections/05_experiments.tex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来源：/Users/bytedance/code/data-selection/paper/tables/table_peft_configs.tex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来源：/Users/bytedance/code/data-selection/tmp/midterm_v2/results_data.json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16 页；建议 48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本页要点：稿件宏平均中 PCU-Select 为 35.18，接近 LESS 的 35.14，高于配置无关基线。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图中汇总四个任务的原生百分制指标，再对五种 PEFT 等权平均。当前稿件中，Random 是三十二点二九，RDS 加是三十四点四四，共享梯度 Influence 是三十四点六八，LESS 是三十五点一四，PCU-Select 是三十五点一八。值得关注的是，条件评分在总体上接近逐配置 LESS，同时保留了跨配置复用机制。与 LESS 的差值只有零点零四，所以这一页的结论是宏平均接近，不能表述为显著领先，也不能把这个跨任务平均统一称为准确率。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转场：总体接近不等于每个任务都一致，下面拆开看。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提示：先交代宏平均含义，比较重点放在配置无关基线与 LESS 之间。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来源：/Users/bytedance/code/data-selection/paper/tables/table_main_results.tex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来源：/Users/bytedance/code/data-selection/paper/data/competition_stats.md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来源：/Users/bytedance/code/data-selection/tmp/midterm_v2/results_data.json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17 页；建议 48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本页要点：稿件中数学与知识任务较好，代码接近，多语言问答低于 LESS，不能用宏平均遮蔽差异。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相对 LESS，PCU-Select 在 GSM8K 上高零点二九，在 MMLU 上高零点六七；HumanEval 相差负零点零四，基本接近；TyDiQA 则低零点七七。这说明总体宏平均由不同任务上的变化共同组成。数学与知识任务中，条件评分和覆盖策略有较好的稿件表现；多语言问答仍然是需要重点检查的场景。后续会围绕任务表示、候选数据语言分布和短更新标签开展分析，但目前不能直接把差异归因于某一个模块。这一页保留逐任务结果，避免把平均接近讲成所有任务都一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转场：接下来通过消融比较各个模块的作用。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提示：按正向、接近、负向三类讲；原因用待分析假设，不写成实证因果。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来源：/Users/bytedance/code/data-selection/paper/tables/table_per_task_compact.tex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来源：/Users/bytedance/code/data-selection/tmp/midterm_v2/results_data.json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18 页；建议 50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本页要点：稿件消融中，去掉 PEFT 编码、改用全局 Top-k 和只保留代理监督均降低下游表现。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消融实验只在 GSM8K 和 HumanEval、两种代表配置、百分之十预算上进行，口径与主表不同。完整方法的平均分是十九点七二。去掉 PEFT 编码下降一点三七，说明具体配置条件值得保留；只给一个家族名称也不够。把聚类配额换成全局最高分选择，下降一点零八，反映覆盖策略的作用。只保留梯度代理标签下降零点八五，去掉任务表示下降零点八二。这组比较围绕三个设计选择展开：为什么感知配置、为什么结合两种监督、为什么评分后还需要覆盖控制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转场：质量之外，方法的另一个目标是降低多配置选择成本。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提示：先说明消融范围，再按条件／监督／配额分组，不把所有条目逐一朗读。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来源：/Users/bytedance/code/data-selection/paper/tables/table_ablations.tex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来源：/Users/bytedance/code/data-selection/paper/Sections/05_experiments.tex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来源：/Users/bytedance/code/data-selection/tmp/midterm_v2/results_data.json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19 页；建议 55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本页要点：PCU-Select 有前期共享投入，新增配置成本较低；稿件成本曲线约从第三套四任务配置开始占优。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横轴是目标 PEFT 的数量，每种配置都服务四个任务。LESS 的选择成本近似随配置数线性增长，每增加一套需要六十三点二个 GPU 小时。PCU-Select 先投入一百四十四个 GPU 小时建立共享资产，之后每套只增加一点五一。因此，它并不是第一次使用就更省，而是随着配置增多逐渐摊回前期成本。按稿件模型，两条曲线约在二点三三套配置相交；五套配置的选择成本是一百五十一点六对三百一十六。所谓约四十二倍，指新增配置的边际选择成本之比，不是五配置总加速，也不包含下游训练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转场：这种复用对新配置能用到什么程度，还需要看结构支持范围。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提示：先解释两条线截距和斜率，再讲交点和五配置；区分 GPU 小时与墙钟。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来源：/Users/bytedance/code/data-selection/paper/data/competition_cost_model.json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来源：/Users/bytedance/code/data-selection/paper/tables/table_cost_axes.tex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来源：/Users/bytedance/code/data-selection/tmp/midterm_v2/results_data.json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20 页；建议 45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本页要点：近支持配置可直接评分，偏移较大的配置需要校准或逐目标选数，不能无限外推。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方法对新配置不是统一处理，而是相对训练注册表分为三层。L0 是同一家族、结构接近已见范围的配置，可以评估直接使用评分器。L1 仍属于已见家族，但容量或作用位置变化较大，采用少量目标短更新标签做校准。L2 是未见家族，需要更谨慎地检查表示兼容性，有兼容标签时校准，否则回到逐目标选择。校准时固定共享评分器，只学习一个轻量残差修正头。因此这里的目标是给出可操作的使用边界，而不是承诺所有 PEFT 或所有骨干都能零样本迁移。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转场：到这里，可以总结工作一形成了哪些内容。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提示：按近支持→远支持→未见家族解释；本页讲配置分级与使用策略。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来源：/Users/bytedance/code/data-selection/paper/Sections/05_experiments.tex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来源：/Users/bytedance/code/data-selection/paper/data/competition_revision_notes.md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21 页；建议 25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本页要点：贡献围绕共享信号、条件评分和质量成本联合评价，继续分析任务差异与适用边界。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工作一已经形成三部分内容：用共享位点组织跨配置信号，用多保真条件评分生成目标专属子集，以及把质量和多配置摊销成本结合评价。相应方法、代码和论文稿件已形成。下一步继续分析任务差异和支持范围，完善实验结果的解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转场：这些已经形成的算法资产，也正好成为第二项工作的基础。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提示：用三句话收束工作一，当前状态只简述一次。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来源：/Users/bytedance/code/data-selection/README.md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来源：/Users/bytedance/code/data-selection/paper/Sections/05_experiments.tex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来源：/Users/bytedance/code/data-selection/paper/data/competition_revision_notes.md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22 页；建议 35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本页要点：基于 PCU-Select 的多配置数据选择与微调实验管理系统（计划）。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后续计划的第二项工作，直接使用第一项的评分器、特征缓存、PEFT 编码和配额算法。需要解决的问题是：当任务、配置、预算和训练种子不断组合时，哪些产物可以复用，哪些计算只需做一次，中断以后从哪里继续。首版计划采用单工作节点、任务队列、元数据索引和本地产物库，配一个简洁控制台。它承接已有算法，重点增加可检查的复用规则和可靠的实验执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转场：系统将围绕两项工程机制展开。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提示：强调承接关系与计划状态，系统范围一句带过。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来源：/Users/bytedance/code/data-selection/README.md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来源：/Users/bytedance/code/data-selection/scripts/experiments/README.md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来源：用户提供的第二工作点方案（会话消息）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23 页；建议 50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本页要点：依赖清单决定产物能否复用，公共节点与阶段状态决定怎样避免重复并恢复执行。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第一项机制是分层缓存。为特征、任务表示、评分、聚类和子集记录内容摘要、版本、配置与种子，输入变化后只重算受影响的下游。例如只改预算，可以复用评分和聚类。第二项机制是公共计算去重与阶段恢复。把请求拆成多个阶段，相同依赖的节点计划只执行一次；产物先写完整、校验后再发布，并为各请求保留独立记录。中断后复用已经完成的阶段，重跑失败阶段。首版的恢复以阶段为单位，不承诺训练内部某一步的断点续训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转场：用一个小矩阵可以直观看到公共计算在哪里。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提示：两机制各用一个例子；解释原子发布为“写完整、校验后才变为可用”。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来源：/Users/bytedance/code/data-selection/src/pcu_select/features/cache.py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来源：/Users/bytedance/code/data-selection/src/pcu_select/pipeline/apply.py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来源：用户提供的第二工作点方案（会话消息）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24 页；建议 45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本页要点：在固定条件下，4 份评分和 1 份聚类生成 12 份子集，再完成 24 次训练。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同一候选池上的两种 PEFT、两个任务、三个预算和两个训练种子，对应二十四次训练。固定样本与任务表示、评分器、聚类配置和选择种子后，两种配置乘两个任务形成四份目标评分；完整池语义聚类可以共享一份。四个条件各做三个预算，得到十二份子集，再分别使用两个训练种子，完成二十四次训练。每个任务和配置仍然有自己的子集。候选池顺序也必须一致；这个例子描述计划中的节点数量，不能直接换算成端到端加速倍数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转场：这些机制是否有效，要通过对照实验定量回答。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提示：沿 4 评分＋1 聚类→12 子集→24 训练讲，突出固定前提。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来源：/Users/bytedance/code/data-selection/src/pcu_select/selection/cluster.py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来源：用户提供的第二工作点方案（会话消息）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25 页；建议 40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本页要点：已有脚本、加入依赖缓存、完整系统三组对照，分别测试增量变化与批量故障场景。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验证分三组：已有脚本、加入依赖缓存、完整系统。已有脚本本身已有部分特征缓存，比较时保留这项基础。机制一测试改预算、改训练种子、增加样本和同名样本改内容，检查与完整重算的一致性，并记录重算量、时间与存储。机制二测试批量矩阵和故障中断，测执行次数、恢复时间与结果隔离。选择侧和端到端时间分开报告，缓存与去重的收益不重复相加，最终提升幅度由实测给出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转场：最后是完成这些工作的时间安排。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提示：先说三组，再讲两类场景；不给假定提升百分比。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来源：/Users/bytedance/code/data-selection/src/pcu_select/features/cache.py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来源：/Users/bytedance/code/data-selection/scripts/experiments/run_e1.py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来源：用户提供的第二工作点方案（会话消息）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26 页；建议 40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本页要点：算法结果整理与系统建设并行，按两周交付一个可检查里程碑。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这里按中期答辩后八周给出建议安排。前两周固定依赖和接口规范，同时整理第一工作实验记录。第三到第四周完成分层缓存与局部重算。第五到第六周接入公共节点执行、阶段恢复、控制台和报告，跑通实验矩阵。最后两周完成机制对照实验、系统演示和论文整理。第一工作的实验整理与论文完善贯穿这一周期，使系统验证与论文结果衔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转场：两项工作共同回答如何更高效地开展多配置微调。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提示：八周是相对建议计划；里程碑和并行核验各讲清一次。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来源：用户提供的第二工作点方案（会话消息）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来源：/Users/bytedance/code/data-selection/paper/data/competition_revision_notes.md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27 页；建议 19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本页要点：工作一研究选什么数据，工作二计划提高多配置实验的复用性与可靠性。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课题以数据和参数协同为主线。工作一通过共享信号和条件评分，研究怎样为不同配置选数据；工作二计划把这些资产组织成可复用、可恢复的实验系统。下一步重点是完成真实实验核验和系统机制的定量评价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转场：以上是我的中期汇报。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提示：两项工作各一句，最后收束到下一步。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来源：/Users/bytedance/code/data-selection/README.md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来源：用户提供的第二工作点方案（会话消息）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28 页；建议 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本页要点：进入提问环节。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我的汇报到此结束，感谢各位老师，敬请批评指正。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转场：根据老师提问展开。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提示：保持本页，按问题调用备用页。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来源：/Users/bytedance/Library/Containers/com.tencent.xinWeChat/Data/Documents/xwechat_files/wxid_gv7hy4hchzzw22_bc53/msg/file/2026-09/开题答辩-林肯达.pptx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29 页；备用页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本页要点：逐配置主表补充总体宏平均；不同配置和任务存在差异，均值不等于普遍领先。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这张表按五种已见 PEFT 分列，每个单元先平均四个任务的原生指标。PCU-Select 在 Adapter、IA3、注意力秩十六 LoRA 和秩八 qv LoRA 上的稿件汇总较高，在 MLP LoRA 上低于 LESS。总体平均为三十五点一八与三十五点一四。这里没有把任务原生指标混称为统一准确率，也没有根据这组均值宣称所有配置都优于基线。原始运行记录核验完成后，会保持同样的口径更新主表。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转场：如需区分哪个任务造成差异，可以回到逐任务页。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提示：只定位老师询问的行列；稿件主表与复用表离散度存在差异，备用表不使用误差条。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来源：/Users/bytedance/code/data-selection/paper/tables/table_main_results.tex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来源：/Users/bytedance/code/data-selection/tmp/midterm_v2/results_data.json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30 页；备用页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本页要点：跨 PEFT 新增配置带来摊销收益；仅增加任务、需要校准或计入训练时，成本解释不同。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成本单位是 GPU 小时，也就是墙钟时间乘 GPU 数量。PCU-Select 的一百四十四个 GPU 小时前期投入由特征、代理标签、短更新标签和评分器训练组成。新增一套四任务 PEFT 的选择成本为一点五一，对比 LESS 的六十三点二；但如果只给已有 PEFT 增加一个任务，二者分别约零点三八和零点三零，不能继续宣称四十二倍。需要目标校准时还要另计标签成本。所有曲线都排除了下游训练，所以它们说明的是多配置选数的摊销场景，不是模型训练本身同倍加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转场：成本比较必须先约定增加的是什么以及纳入哪些阶段。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提示：根据问题说明新增 PEFT、新增任务、校准和训练四种边界。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来源：/Users/bytedance/code/data-selection/paper/data/competition_cost_model.json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来源：/Users/bytedance/code/data-selection/paper/tables/table_cost_axes.tex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来源：/Users/bytedance/code/data-selection/tmp/midterm_v2/results_data.json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31 页；备用页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本页要点：预算、训练随机种子和候选池变化影响不同层；完整内容和版本依赖决定是否复用。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仅改变预算时，复用评分和聚类，重算配额和子集。选择条件不变、只改下游训练随机种子时，复用子集。新增候选样本且评分条件不变时，旧样本兼容的特征和逐样本分数可保留，但完整池聚类、配额和子集要重算。样本内容改变不能因为名字相同而命中旧缓存，候选顺序也进入池级依赖。学习率等训练配方进入 PEFT 编码，变化时需更新条件评分。恢复时只有完成标记和校验均通过的产物才能复用；首版失败训练阶段重新执行，不承诺 step 级续训。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转场：这些规则都将在增量变化和故障注入实验中检查。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提示：先回答具体变更案例，再补充内容摘要与恢复规则。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来源：/Users/bytedance/code/data-selection/src/pcu_select/features/cache.py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来源：/Users/bytedance/code/data-selection/src/pcu_select/peft_space/encoder.py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来源：/Users/bytedance/code/data-selection/src/pcu_select/selection/cluster.py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来源：用户提供的第二工作点方案（会话消息）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32 页；备用页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本页要点：说明统计口径、配置支持范围与运行记录。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当前数字来自论文实验结果，主表按配置、任务和训练种子汇总。成本按阶段关联计时记录。实验应记录数据内容版本、模型、PEFT、选择条件和训练种子，由真实运行记录重建表格。代码中存在某配置入口不等于已完成相同程度的实验验证，系统首版范围以核验过的骨干和 PEFT 为准。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转场：这使方法设计、代码实现和最终实验结论能够一一对应。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提示：说明实验来源、统计口径与支持范围。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来源：/Users/bytedance/code/data-selection/scripts/paper/competition_numbers.py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来源：/Users/bytedance/code/data-selection/paper/data/competition_revision_notes.md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来源：/Users/bytedance/code/data-selection/tmp/midterm_v2/results_data.json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33 页；备用页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本页要点：位点加权刻画目标作用位置，多保真标签提供效用近似，配额在价值与规模间平衡。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位点权重由活动掩码和容量调制组成，再归一化，使总权重集中在目标配置实际作用的位置。低保真标签是这些位点上样本与任务梯度余弦的加权和；高保真标签是短更新前后的任务损失差，并在相同配置、任务和测量设置内排序归一化。保守分数是效用均值减不确定性惩罚。簇配额则与正簇价值的零点六次方、簇规模的零点四次方乘积成比例，再作确定性取整。这些公式分别控制条件针对性、监督可比性和覆盖，不代表对子集最优性的精确求解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转场：如果需要，可以将某一公式对应回方法中的具体阶段。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提示：仅展开被问到的公式；解释符号含义和近似边界，避免连续推导。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来源：/Users/bytedance/code/data-selection/paper/Sections/03_problem_formulation.tex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ca6666242f4c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f08947df74411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c07033444c434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e55a17c0f34c8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c156f3855f488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dfc7d29ea4433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7b08f7bbe2406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ff3f13e2114bd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8098e18a8437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2500097581486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26c36b7100420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cfc93c2de6749f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7e643ffdbc840b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a973d7d072d456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ac1fbe94fef4ee6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100a6d1f88e45f0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051ff2388104471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c6435c0315d4f75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cb0572a92324621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a32e3643da6471e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5e20dca20ae4d9a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5ff579e80cc4e13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2689C5A-39D6-4AA8-842D-AFA80B0F783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B174B3E-6130-451F-91D2-497094F3447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61B0BF8-61B4-4AEB-A908-6EE833FC97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4B58681-CE1F-4881-BCEC-0181F0D95E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47A806E-9830-4AF7-880D-39C4655759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40C8609-DE43-44A3-B63F-125E20765D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F2BD86E-6D69-42C3-BE1B-AB2BD80C8E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1512489-34E2-42B5-AAF2-7EEEFFC817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F236CFA-1FE6-493E-A488-D01C7BBE13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F7E93A0-A21E-4A83-AC90-59080DE2FF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087624A-2523-48FC-AD15-6891AFEC3A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6EE59FC-0469-4832-9138-76A624E271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57F2DFF-F1BE-4479-9463-94F549A07B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1A68B91-7498-48B1-B8B1-33EDCCC61A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67978B2-B441-4529-9F0D-188B45EA59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1A24FE4-1EA8-4EB8-9FB7-1A2C2D2F8A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FBDB072-C4DB-4EA7-9F06-0B44F22FEC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B30901E-988B-4EDE-B95C-C5115794502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4959447-D7BB-4B47-A7EA-FC3880F567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94A03A9-2666-45AF-BA1A-2D50294FE2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3957B5C-98CD-4685-93A1-B7351B711D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AF034B4-9402-42D5-93A5-0AD84A498B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4D38C78-FB4F-4F23-AF35-48CF538584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A28E2EB-A431-4962-B406-3D73274421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541A78E8-7FDA-4319-8434-8AC91CB5209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8B1D0B4C-90AB-472F-8373-F1610EB928E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100A2B2-EC4C-4F3C-870F-10E9A57EDF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EA1E558-1430-4C85-97BA-807A424613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41BECE8-FF59-415D-85CA-76F15B8516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0E30CEB-E4E8-461E-91BA-D9030D0AFC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91DACA05-FC9D-4DEC-90C9-43EAD9F86D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E39696F-736D-4C2E-9B3F-AC4B4BFEB3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CE957A5-030F-429C-B80E-86741344B3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B195B2FF-1BFB-4EC6-ABA5-AA2DE8C0C8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B830267-4A7D-4E4D-98A1-8178B7C913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D1280C2-6B68-4689-A54E-2B024A9FB8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BB9D1FA-01EA-41D5-814D-07BE600871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329ACE3-4777-4315-BCE3-437964B09ED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3DB6B25D-F7C3-4AED-9D83-868FC49BA5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E8F7CB8-4E53-40A8-A2F4-B8847E19EE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766F97C-E4B0-4A7B-B3F8-71649B8B57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048CFDE-0C18-40D8-B032-FB046A1725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A453586-5D43-44DA-AF75-410401CE94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759A57A9-93D0-463D-85E6-C3045E4A19D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EE915D6-A56F-45C9-BCDB-40491EFDC31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B404627-9FE8-4CD2-AC6A-8DFE39E20C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41AB118-4575-4125-A8C3-8BB88C3AE4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745FD17-4EFB-4A27-9772-FE84400241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46ABE55-32B4-4DB7-BDB3-1F632865A1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294BE1F-12F0-4B28-8997-87FD0F4550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17345B0-300C-490C-A831-BE23A741AA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AACC23F-43D8-4EA3-BD23-5D787A18A0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384BECC-33C8-4520-AB98-26A5790A1E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76188F4F-6BD3-40C7-B567-CB1770FF1F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9F1CC3B-3B1F-4A66-B3F0-A39A5BF129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C379FD4-37D5-4012-B50E-0CE89696DA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47886B8-D250-4C97-A49C-BB0377FCAA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E3A7E6A-F8E8-45A4-AFE3-CDE5EAD6FC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B5D97EAC-A128-46A8-9F09-16301485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787400"/>
            <a:ext cx="11095355" cy="3505200"/>
          </a:xfrm>
          <a:custGeom xmlns:a="http://schemas.openxmlformats.org/drawingml/2006/main">
            <a:gdLst>
              <a:gd name="connsiteX0" fmla="*/ 10131107 w 11095355"/>
              <a:gd name="connsiteY0" fmla="*/ 0 h 3505200"/>
              <a:gd name="connsiteX1" fmla="*/ 11095355 w 11095355"/>
              <a:gd name="connsiteY1" fmla="*/ 835025 h 3505200"/>
              <a:gd name="connsiteX2" fmla="*/ 11095355 w 11095355"/>
              <a:gd name="connsiteY2" fmla="*/ 3505200 h 3505200"/>
              <a:gd name="connsiteX3" fmla="*/ 0 w 11095355"/>
              <a:gd name="connsiteY3" fmla="*/ 180612 h 3505200"/>
              <a:gd name="connsiteX4" fmla="*/ 0 w 11095355"/>
              <a:gd name="connsiteY4" fmla="*/ 36392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F6A31009-5471-4820-9445-E496DEF4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96646" y="2565400"/>
            <a:ext cx="11095355" cy="3505200"/>
          </a:xfrm>
          <a:custGeom xmlns:a="http://schemas.openxmlformats.org/drawingml/2006/main">
            <a:gdLst>
              <a:gd name="connsiteX0" fmla="*/ 11095355 w 11095355"/>
              <a:gd name="connsiteY0" fmla="*/ 3505200 h 3505200"/>
              <a:gd name="connsiteX1" fmla="*/ 0 w 11095355"/>
              <a:gd name="connsiteY1" fmla="*/ 180612 h 3505200"/>
              <a:gd name="connsiteX2" fmla="*/ 0 w 11095355"/>
              <a:gd name="connsiteY2" fmla="*/ 36392 h 3505200"/>
              <a:gd name="connsiteX3" fmla="*/ 10131107 w 11095355"/>
              <a:gd name="connsiteY3" fmla="*/ 0 h 3505200"/>
              <a:gd name="connsiteX4" fmla="*/ 11095355 w 11095355"/>
              <a:gd name="connsiteY4" fmla="*/ 835025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16FFF712-B591-4AC9-B7EE-8A34D84E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725150" y="4871720"/>
            <a:ext cx="295910" cy="68135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A72C500C-756A-49A3-8B13-F633952B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178540" y="4871720"/>
            <a:ext cx="286385" cy="68135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B420224E-BCCE-418E-85AE-31EDB5C1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70305" y="1399540"/>
            <a:ext cx="295910" cy="68135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CA1050C5-FE93-4294-B70D-78C49017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6440" y="1399540"/>
            <a:ext cx="286385" cy="68135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5BCCACA-2CA4-48FC-B14D-F267D1450A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65BDB3F-DADC-4009-B890-F4B66EA6C6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DA895DE-4661-411D-B751-20076F92A5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492D31-F713-41AD-8074-C07AF78BB8D4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06220" y="2680335"/>
            <a:ext cx="9180195" cy="1697990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6000"/>
            </a:lvl1pPr>
          </a:lstStyle>
          <a:p xmlns:a="http://schemas.openxmlformats.org/drawingml/2006/main">
            <a:r>
              <a:t>单击编辑母版标题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4A5FE53F-B4E0-42E9-8A1B-ACFA65F93D1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2470800" y="1926000"/>
            <a:ext cx="7250400" cy="4608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CF08314B-48A6-456B-9B40-97B850284D24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3936000" y="4680000"/>
            <a:ext cx="4320000" cy="5040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000" b="1"/>
            </a:lvl1pPr>
          </a:lstStyle>
          <a:p xmlns:a="http://schemas.openxmlformats.org/drawingml/2006/main">
            <a:pPr lvl="0">
              <a:buNone/>
            </a:pPr>
            <a:r>
              <a:t>署名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F1E7AD8-0E7A-45A5-A76D-915285C531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4618715-FB0A-4E97-AF6B-A3A7405DC98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13349FF-CF38-473E-A44E-267D5779EE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7E66E17-2340-40E0-8E1F-9BE5772DFD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56B37C4-B506-4532-8CFA-8298A20DDE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151F8B1-68F1-45CC-A352-828A2ADB4B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CD98098-8C07-4C74-A749-4A2C3AFA79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704A80C-A909-45C6-B0A9-C1E58511F2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任意多边形 55">
            <a:extLst xmlns:a="http://schemas.openxmlformats.org/drawingml/2006/main">
              <a:ext uri="{FF2B5EF4-FFF2-40B4-BE49-F238E27FC236}">
                <a16:creationId xmlns:a16="http://schemas.microsoft.com/office/drawing/2014/main" id="{092CB7A1-DDFB-4D20-81EA-E1A5FCE3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" y="2261235"/>
            <a:ext cx="923290" cy="1787525"/>
          </a:xfrm>
          <a:custGeom xmlns:a="http://schemas.openxmlformats.org/drawingml/2006/main">
            <a:gdLst>
              <a:gd name="connsiteX0" fmla="*/ 6 w 1454"/>
              <a:gd name="connsiteY0" fmla="*/ 2815 h 2815"/>
              <a:gd name="connsiteX1" fmla="*/ 0 w 1454"/>
              <a:gd name="connsiteY1" fmla="*/ 345 h 2815"/>
              <a:gd name="connsiteX2" fmla="*/ 310 w 1454"/>
              <a:gd name="connsiteY2" fmla="*/ 0 h 2815"/>
              <a:gd name="connsiteX3" fmla="*/ 1454 w 1454"/>
              <a:gd name="connsiteY3" fmla="*/ 9 h 2815"/>
            </a:gdLst>
            <a:rect l="l" t="t" r="r" b="b"/>
            <a:pathLst>
              <a:path w="1454" h="2815">
                <a:moveTo>
                  <a:pt x="6" y="2815"/>
                </a:moveTo>
                <a:lnTo>
                  <a:pt x="0" y="345"/>
                </a:lnTo>
                <a:cubicBezTo>
                  <a:pt x="0" y="154"/>
                  <a:pt x="138" y="0"/>
                  <a:pt x="310" y="0"/>
                </a:cubicBezTo>
                <a:lnTo>
                  <a:pt x="1454" y="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6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D98A633A-C196-4FFD-837A-A867949B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881120" y="2251710"/>
            <a:ext cx="158750" cy="39687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03B6207-455B-4ACF-A5A4-0054B117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123690" y="2251710"/>
            <a:ext cx="153670" cy="39687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CE3B2236-40AD-4813-BD02-15E09893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78205" y="4321810"/>
            <a:ext cx="158750" cy="39687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61AD01F0-748C-4DB1-81EE-B1D86F67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0715" y="4321810"/>
            <a:ext cx="153670" cy="39687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3" name="任意多边形 1">
            <a:extLst xmlns:a="http://schemas.openxmlformats.org/drawingml/2006/main">
              <a:ext uri="{FF2B5EF4-FFF2-40B4-BE49-F238E27FC236}">
                <a16:creationId xmlns:a16="http://schemas.microsoft.com/office/drawing/2014/main" id="{DFA06FC9-8523-4AE3-8853-4D2DCE26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160395" y="2931160"/>
            <a:ext cx="922655" cy="1788795"/>
          </a:xfrm>
          <a:custGeom xmlns:a="http://schemas.openxmlformats.org/drawingml/2006/main">
            <a:gdLst>
              <a:gd name="connsiteX0" fmla="*/ 6 w 1453"/>
              <a:gd name="connsiteY0" fmla="*/ 2817 h 2817"/>
              <a:gd name="connsiteX1" fmla="*/ 0 w 1453"/>
              <a:gd name="connsiteY1" fmla="*/ 347 h 2817"/>
              <a:gd name="connsiteX2" fmla="*/ 310 w 1453"/>
              <a:gd name="connsiteY2" fmla="*/ 2 h 2817"/>
              <a:gd name="connsiteX3" fmla="*/ 1453 w 1453"/>
              <a:gd name="connsiteY3" fmla="*/ 0 h 2817"/>
            </a:gdLst>
            <a:rect l="l" t="t" r="r" b="b"/>
            <a:pathLst>
              <a:path w="1453" h="2817">
                <a:moveTo>
                  <a:pt x="6" y="2817"/>
                </a:moveTo>
                <a:lnTo>
                  <a:pt x="0" y="347"/>
                </a:lnTo>
                <a:cubicBezTo>
                  <a:pt x="0" y="156"/>
                  <a:pt x="138" y="2"/>
                  <a:pt x="310" y="2"/>
                </a:cubicBezTo>
                <a:lnTo>
                  <a:pt x="14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6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EFDFCD5-1799-4799-BEAF-F458643AADC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404000" y="2628000"/>
            <a:ext cx="2134800" cy="9216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algn="ctr">
              <a:buNone/>
              <a:defRPr sz="5400">
                <a:solidFill>
                  <a:schemeClr val="tx1">
                    <a:alpha val="80000"/>
                  </a:schemeClr>
                </a:solidFill>
              </a:defRPr>
            </a:lvl1pPr>
          </a:lstStyle>
          <a:p xmlns:a="http://schemas.openxmlformats.org/drawingml/2006/main">
            <a:r>
              <a:t>标题</a:t>
            </a:r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57A5251-DB6B-44EB-8C4E-3036C2644D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0BDCCD5-FB0F-4F56-9086-666865C4A0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FBA34EE-1ACB-43B9-B4DA-F1099374EC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074088FA-C660-41B8-BE35-D263D350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109085" y="4247515"/>
            <a:ext cx="144145" cy="360680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F09CE6E8-5AB9-4E87-BF13-0F3B4511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330065" y="4247515"/>
            <a:ext cx="139065" cy="360680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A3672805-19E5-44AD-9A12-48054807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92555" y="2370455"/>
            <a:ext cx="144145" cy="360680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9C157C4E-D920-4AD5-9367-C2E52445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76655" y="2370455"/>
            <a:ext cx="139065" cy="360680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1DB00845-3BE5-4D8F-93AA-B72A1A77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0" y="1924050"/>
            <a:ext cx="4290514" cy="1822450"/>
          </a:xfrm>
          <a:custGeom xmlns:a="http://schemas.openxmlformats.org/drawingml/2006/main">
            <a:gdLst>
              <a:gd name="connsiteX0" fmla="*/ 336550 w 4290514"/>
              <a:gd name="connsiteY0" fmla="*/ 1822450 h 1822450"/>
              <a:gd name="connsiteX1" fmla="*/ 635 w 4290514"/>
              <a:gd name="connsiteY1" fmla="*/ 1486535 h 1822450"/>
              <a:gd name="connsiteX2" fmla="*/ 0 w 4290514"/>
              <a:gd name="connsiteY2" fmla="*/ 0 h 1822450"/>
              <a:gd name="connsiteX3" fmla="*/ 4290514 w 4290514"/>
              <a:gd name="connsiteY3" fmla="*/ 619124 h 1822450"/>
              <a:gd name="connsiteX4" fmla="*/ 4290514 w 4290514"/>
              <a:gd name="connsiteY4" fmla="*/ 1819576 h 1822450"/>
              <a:gd name="connsiteX0-1" fmla="*/ 4290514 w 4381954"/>
              <a:gd name="connsiteY0-2" fmla="*/ 619124 h 1822450"/>
              <a:gd name="connsiteX1-3" fmla="*/ 4290514 w 4381954"/>
              <a:gd name="connsiteY1-4" fmla="*/ 1819576 h 1822450"/>
              <a:gd name="connsiteX2-5" fmla="*/ 336550 w 4381954"/>
              <a:gd name="connsiteY2-6" fmla="*/ 1822450 h 1822450"/>
              <a:gd name="connsiteX3-7" fmla="*/ 635 w 4381954"/>
              <a:gd name="connsiteY3-8" fmla="*/ 1486535 h 1822450"/>
              <a:gd name="connsiteX4-9" fmla="*/ 0 w 4381954"/>
              <a:gd name="connsiteY4-10" fmla="*/ 0 h 1822450"/>
              <a:gd name="connsiteX5" fmla="*/ 4381954 w 4381954"/>
              <a:gd name="connsiteY5" fmla="*/ 710564 h 1822450"/>
              <a:gd name="connsiteX0-11" fmla="*/ 4290514 w 4290514"/>
              <a:gd name="connsiteY0-12" fmla="*/ 619124 h 1822450"/>
              <a:gd name="connsiteX1-13" fmla="*/ 4290514 w 4290514"/>
              <a:gd name="connsiteY1-14" fmla="*/ 1819576 h 1822450"/>
              <a:gd name="connsiteX2-15" fmla="*/ 336550 w 4290514"/>
              <a:gd name="connsiteY2-16" fmla="*/ 1822450 h 1822450"/>
              <a:gd name="connsiteX3-17" fmla="*/ 635 w 4290514"/>
              <a:gd name="connsiteY3-18" fmla="*/ 1486535 h 1822450"/>
              <a:gd name="connsiteX4-19" fmla="*/ 0 w 4290514"/>
              <a:gd name="connsiteY4-20" fmla="*/ 0 h 1822450"/>
              <a:gd name="connsiteX0-21" fmla="*/ 4290514 w 4290514"/>
              <a:gd name="connsiteY0-22" fmla="*/ 1819576 h 1822450"/>
              <a:gd name="connsiteX1-23" fmla="*/ 336550 w 4290514"/>
              <a:gd name="connsiteY1-24" fmla="*/ 1822450 h 1822450"/>
              <a:gd name="connsiteX2-25" fmla="*/ 635 w 4290514"/>
              <a:gd name="connsiteY2-26" fmla="*/ 1486535 h 1822450"/>
              <a:gd name="connsiteX3-27" fmla="*/ 0 w 4290514"/>
              <a:gd name="connsiteY3-28" fmla="*/ 0 h 1822450"/>
            </a:gdLst>
            <a:rect l="l" t="t" r="r" b="b"/>
            <a:pathLst>
              <a:path w="4290514" h="1822450">
                <a:moveTo>
                  <a:pt x="4290514" y="1819576"/>
                </a:moveTo>
                <a:lnTo>
                  <a:pt x="336550" y="1822450"/>
                </a:lnTo>
                <a:cubicBezTo>
                  <a:pt x="151130" y="1822450"/>
                  <a:pt x="635" y="1671955"/>
                  <a:pt x="635" y="1486535"/>
                </a:cubicBezTo>
                <a:cubicBezTo>
                  <a:pt x="423" y="991023"/>
                  <a:pt x="212" y="495512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97481D7B-80FA-4BE3-A05E-A198ABE7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676" y="3125470"/>
            <a:ext cx="10855325" cy="1822450"/>
          </a:xfrm>
          <a:custGeom xmlns:a="http://schemas.openxmlformats.org/drawingml/2006/main">
            <a:gdLst>
              <a:gd name="connsiteX0" fmla="*/ 0 w 10855325"/>
              <a:gd name="connsiteY0" fmla="*/ 0 h 1822450"/>
              <a:gd name="connsiteX1" fmla="*/ 10855325 w 10855325"/>
              <a:gd name="connsiteY1" fmla="*/ 1566432 h 1822450"/>
              <a:gd name="connsiteX2" fmla="*/ 10855325 w 10855325"/>
              <a:gd name="connsiteY2" fmla="*/ 1814805 h 1822450"/>
              <a:gd name="connsiteX3" fmla="*/ 336550 w 10855325"/>
              <a:gd name="connsiteY3" fmla="*/ 1822450 h 1822450"/>
              <a:gd name="connsiteX4" fmla="*/ 635 w 10855325"/>
              <a:gd name="connsiteY4" fmla="*/ 1486535 h 1822450"/>
              <a:gd name="connsiteX0-1" fmla="*/ 10855325 w 10946765"/>
              <a:gd name="connsiteY0-2" fmla="*/ 1566432 h 1822450"/>
              <a:gd name="connsiteX1-3" fmla="*/ 10855325 w 10946765"/>
              <a:gd name="connsiteY1-4" fmla="*/ 1814805 h 1822450"/>
              <a:gd name="connsiteX2-5" fmla="*/ 336550 w 10946765"/>
              <a:gd name="connsiteY2-6" fmla="*/ 1822450 h 1822450"/>
              <a:gd name="connsiteX3-7" fmla="*/ 635 w 10946765"/>
              <a:gd name="connsiteY3-8" fmla="*/ 1486535 h 1822450"/>
              <a:gd name="connsiteX4-9" fmla="*/ 0 w 10946765"/>
              <a:gd name="connsiteY4-10" fmla="*/ 0 h 1822450"/>
              <a:gd name="connsiteX5" fmla="*/ 10946765 w 10946765"/>
              <a:gd name="connsiteY5" fmla="*/ 1657872 h 1822450"/>
              <a:gd name="connsiteX0-11" fmla="*/ 10855325 w 10855325"/>
              <a:gd name="connsiteY0-12" fmla="*/ 1566432 h 1822450"/>
              <a:gd name="connsiteX1-13" fmla="*/ 10855325 w 10855325"/>
              <a:gd name="connsiteY1-14" fmla="*/ 1814805 h 1822450"/>
              <a:gd name="connsiteX2-15" fmla="*/ 336550 w 10855325"/>
              <a:gd name="connsiteY2-16" fmla="*/ 1822450 h 1822450"/>
              <a:gd name="connsiteX3-17" fmla="*/ 635 w 10855325"/>
              <a:gd name="connsiteY3-18" fmla="*/ 1486535 h 1822450"/>
              <a:gd name="connsiteX4-19" fmla="*/ 0 w 10855325"/>
              <a:gd name="connsiteY4-20" fmla="*/ 0 h 1822450"/>
              <a:gd name="connsiteX0-21" fmla="*/ 10855325 w 10855325"/>
              <a:gd name="connsiteY0-22" fmla="*/ 1814805 h 1822450"/>
              <a:gd name="connsiteX1-23" fmla="*/ 336550 w 10855325"/>
              <a:gd name="connsiteY1-24" fmla="*/ 1822450 h 1822450"/>
              <a:gd name="connsiteX2-25" fmla="*/ 635 w 10855325"/>
              <a:gd name="connsiteY2-26" fmla="*/ 1486535 h 1822450"/>
              <a:gd name="connsiteX3-27" fmla="*/ 0 w 10855325"/>
              <a:gd name="connsiteY3-28" fmla="*/ 0 h 1822450"/>
            </a:gdLst>
            <a:rect l="l" t="t" r="r" b="b"/>
            <a:pathLst>
              <a:path w="10855325" h="1822450">
                <a:moveTo>
                  <a:pt x="10855325" y="1814805"/>
                </a:moveTo>
                <a:lnTo>
                  <a:pt x="336550" y="1822450"/>
                </a:lnTo>
                <a:cubicBezTo>
                  <a:pt x="151130" y="1822450"/>
                  <a:pt x="635" y="1671955"/>
                  <a:pt x="635" y="1486535"/>
                </a:cubicBezTo>
                <a:cubicBezTo>
                  <a:pt x="423" y="991023"/>
                  <a:pt x="212" y="495512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1D0F722-65D4-42D0-AD33-623F4090F2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6000" y="2412000"/>
            <a:ext cx="6004800" cy="19368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algn="l">
              <a:buNone/>
              <a:defRPr sz="5400">
                <a:solidFill>
                  <a:schemeClr val="tx1">
                    <a:alpha val="85000"/>
                  </a:schemeClr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8" name="节编号 3">
            <a:extLst xmlns:a="http://schemas.openxmlformats.org/drawingml/2006/main">
              <a:ext uri="{FF2B5EF4-FFF2-40B4-BE49-F238E27FC236}">
                <a16:creationId xmlns:a16="http://schemas.microsoft.com/office/drawing/2014/main" id="{B1EDD102-6D3F-4637-B59D-A7C150D8EF32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278000" y="2340000"/>
            <a:ext cx="3060000" cy="2361600"/>
          </a:xfrm>
        </p:spPr>
        <p:txBody>
          <a:bodyPr xmlns:a="http://schemas.openxmlformats.org/drawingml/2006/main" wrap="none" bIns="252000" anchor="ctr">
            <a:normAutofit/>
          </a:bodyPr>
          <a:lstStyle xmlns:a="http://schemas.openxmlformats.org/drawingml/2006/main">
            <a:lvl1pPr marL="0" indent="0" algn="ctr">
              <a:buNone/>
              <a:defRPr sz="10000" b="1">
                <a:solidFill>
                  <a:schemeClr val="tx1">
                    <a:alpha val="7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 lvl="0">
              <a:buNone/>
            </a:pPr>
            <a:r>
              <a:t>编号</a:t>
            </a:r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57E43D-1CF4-4BEF-BBAD-71EF148E04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098D0D0-F82C-42DC-A057-2F80FE254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6A14114-27AD-4D12-9654-6CD81B9B5B9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6975173-79EA-4366-A376-AA2B7B9932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804C3AB-7458-4851-9D34-63E52CC720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7D13596-D1AF-455E-8C37-40F688620C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5C5D298-293B-4A33-AD95-18671CEB4BB7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7D9F0A9-DD17-4FC9-B54F-8EB93531FEB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D328CFD9-1DFC-4947-916B-82E4FD39C64D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326F88D-E756-44A4-9AB7-FF15E86C642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4492B4EB-7459-4162-99A9-3697E782A9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0967BE89-A8D8-4F16-A02F-5BDB287924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1ACB597-481B-4841-9661-22DED33E42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A9751D6E-08C3-4CA4-92DA-A14BC43C7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5F1A880-099F-4E58-B271-3B49D62678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18CBC85A-DA0A-4819-AA1B-9BE600614E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E2ECC44B-FD79-4988-93DD-01020E682E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3F03DB8-750C-4E99-BB74-2260C6F26E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5DBB2DB2-0F5D-489B-AB24-B485B1495B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74158DDB-B2E1-4BB4-8457-DF4C96DF6D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BFCAFB4-98BC-4483-B89F-DE8C8FD6EB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060C7494-05A7-48BF-A4D4-AE096608E9B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3883EE2-7927-4BCE-A508-DD331A54E7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1700FC7F-4F7A-4562-ACE9-78E822D613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283F188-08D0-49A6-9411-B0156C5E9A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6D1BBF5-5407-4B8E-B58D-629897BF460D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584F790-8402-4350-9D03-49A882C65B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4A7552A-92D7-49AC-B4F0-20B7117E86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BB89DF3-770D-4FB1-92C3-A0C592BB22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CC9302D3-0C3C-4FAA-AA72-7890D8A39D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51DD27D0-D1B9-4E53-91F8-3809DC90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787400"/>
            <a:ext cx="11095355" cy="3505200"/>
          </a:xfrm>
          <a:custGeom xmlns:a="http://schemas.openxmlformats.org/drawingml/2006/main">
            <a:gdLst>
              <a:gd name="connsiteX0" fmla="*/ 10131107 w 11095355"/>
              <a:gd name="connsiteY0" fmla="*/ 0 h 3505200"/>
              <a:gd name="connsiteX1" fmla="*/ 11095355 w 11095355"/>
              <a:gd name="connsiteY1" fmla="*/ 835025 h 3505200"/>
              <a:gd name="connsiteX2" fmla="*/ 11095355 w 11095355"/>
              <a:gd name="connsiteY2" fmla="*/ 3505200 h 3505200"/>
              <a:gd name="connsiteX3" fmla="*/ 0 w 11095355"/>
              <a:gd name="connsiteY3" fmla="*/ 180612 h 3505200"/>
              <a:gd name="connsiteX4" fmla="*/ 0 w 11095355"/>
              <a:gd name="connsiteY4" fmla="*/ 36392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0BB51F04-BC61-4D11-BF10-6D610A33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96646" y="2565400"/>
            <a:ext cx="11095355" cy="3505200"/>
          </a:xfrm>
          <a:custGeom xmlns:a="http://schemas.openxmlformats.org/drawingml/2006/main">
            <a:gdLst>
              <a:gd name="connsiteX0" fmla="*/ 11095355 w 11095355"/>
              <a:gd name="connsiteY0" fmla="*/ 3505200 h 3505200"/>
              <a:gd name="connsiteX1" fmla="*/ 0 w 11095355"/>
              <a:gd name="connsiteY1" fmla="*/ 180612 h 3505200"/>
              <a:gd name="connsiteX2" fmla="*/ 0 w 11095355"/>
              <a:gd name="connsiteY2" fmla="*/ 36392 h 3505200"/>
              <a:gd name="connsiteX3" fmla="*/ 10131107 w 11095355"/>
              <a:gd name="connsiteY3" fmla="*/ 0 h 3505200"/>
              <a:gd name="connsiteX4" fmla="*/ 11095355 w 11095355"/>
              <a:gd name="connsiteY4" fmla="*/ 835025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8E3331C5-A79D-40BB-BF55-98F652A1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725150" y="4871720"/>
            <a:ext cx="295910" cy="68135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0CF787D5-742E-451A-A47E-F626AB66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178540" y="4871720"/>
            <a:ext cx="286385" cy="68135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4B34A496-F852-41C5-A0C2-FBB690EC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70305" y="1399540"/>
            <a:ext cx="295910" cy="68135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AF9CCAAC-5878-467C-A750-E91033A9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6440" y="1399540"/>
            <a:ext cx="286385" cy="68135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3B1B07E-CC04-4243-8A53-30E99F3A7D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144A46A-75C1-4245-B373-8887301C94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B563E8C-CB80-4311-B877-B100564D60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99005F9-AD5B-4BA4-B83B-E4BD9EA6E82B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2298065" y="2835910"/>
            <a:ext cx="7595870" cy="1540510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6000"/>
            </a:lvl1pPr>
          </a:lstStyle>
          <a:p xmlns:a="http://schemas.openxmlformats.org/drawingml/2006/main">
            <a:r>
              <a:t>单击编辑母版标题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4E8902F-639C-439E-BC37-0BC51AC4444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2707200" y="2026800"/>
            <a:ext cx="6775200" cy="4608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 b="1">
                <a:latin typeface="+mj-ea"/>
                <a:ea typeface="+mj-ea"/>
                <a:cs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DEAE640F-DC85-4304-9C39-10EFC78F0CA0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56000" y="4618800"/>
            <a:ext cx="2880000" cy="5040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000" b="1"/>
            </a:lvl1pPr>
          </a:lstStyle>
          <a:p xmlns:a="http://schemas.openxmlformats.org/drawingml/2006/main">
            <a:pPr lvl="0">
              <a:buNone/>
            </a:pPr>
            <a:r>
              <a:t>署名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cb364ce39b4f26" /><Relationship Type="http://schemas.openxmlformats.org/officeDocument/2006/relationships/slideLayout" Target="/ppt/slideLayouts/slideLayout1.xml" Id="R0a0337d3f3924b11" /><Relationship Type="http://schemas.openxmlformats.org/officeDocument/2006/relationships/slideLayout" Target="/ppt/slideLayouts/slideLayout2.xml" Id="Re71272d4995b44ee" /><Relationship Type="http://schemas.openxmlformats.org/officeDocument/2006/relationships/slideLayout" Target="/ppt/slideLayouts/slideLayout3.xml" Id="R242adc94c1224cc5" /><Relationship Type="http://schemas.openxmlformats.org/officeDocument/2006/relationships/slideLayout" Target="/ppt/slideLayouts/slideLayout4.xml" Id="Ra3975e09750643c5" /><Relationship Type="http://schemas.openxmlformats.org/officeDocument/2006/relationships/slideLayout" Target="/ppt/slideLayouts/slideLayout5.xml" Id="R45c40d96ae524012" /><Relationship Type="http://schemas.openxmlformats.org/officeDocument/2006/relationships/slideLayout" Target="/ppt/slideLayouts/slideLayout6.xml" Id="R57d852e6102a4561" /><Relationship Type="http://schemas.openxmlformats.org/officeDocument/2006/relationships/slideLayout" Target="/ppt/slideLayouts/slideLayout7.xml" Id="R61087bc79b7e4b58" /><Relationship Type="http://schemas.openxmlformats.org/officeDocument/2006/relationships/slideLayout" Target="/ppt/slideLayouts/slideLayout8.xml" Id="R63a598641f4a46ea" /><Relationship Type="http://schemas.openxmlformats.org/officeDocument/2006/relationships/slideLayout" Target="/ppt/slideLayouts/slideLayout9.xml" Id="R8cf7fe45356d4c1e" /><Relationship Type="http://schemas.openxmlformats.org/officeDocument/2006/relationships/slideLayout" Target="/ppt/slideLayouts/slideLayout10.xml" Id="R2247065b9c4c4424" /><Relationship Type="http://schemas.openxmlformats.org/officeDocument/2006/relationships/slideLayout" Target="/ppt/slideLayouts/slideLayout11.xml" Id="R15588eccdeed493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2d4a08263e541bb" /><Relationship Type="http://schemas.openxmlformats.org/officeDocument/2006/relationships/slideLayout" Target="/ppt/slideLayouts/slideLayout12.xml" Id="Rba50061926004ece" /><Relationship Type="http://schemas.openxmlformats.org/officeDocument/2006/relationships/slideLayout" Target="/ppt/slideLayouts/slideLayout13.xml" Id="R72e38aeba1704337" /><Relationship Type="http://schemas.openxmlformats.org/officeDocument/2006/relationships/slideLayout" Target="/ppt/slideLayouts/slideLayout14.xml" Id="R48d53e2f9f5b4647" /><Relationship Type="http://schemas.openxmlformats.org/officeDocument/2006/relationships/slideLayout" Target="/ppt/slideLayouts/slideLayout15.xml" Id="Rf7243a0f94174173" /><Relationship Type="http://schemas.openxmlformats.org/officeDocument/2006/relationships/slideLayout" Target="/ppt/slideLayouts/slideLayout16.xml" Id="R4bb92a21546b4986" /><Relationship Type="http://schemas.openxmlformats.org/officeDocument/2006/relationships/slideLayout" Target="/ppt/slideLayouts/slideLayout17.xml" Id="R404b41339db44ff5" /><Relationship Type="http://schemas.openxmlformats.org/officeDocument/2006/relationships/slideLayout" Target="/ppt/slideLayouts/slideLayout18.xml" Id="R0d39b7b9aaa24c4c" /><Relationship Type="http://schemas.openxmlformats.org/officeDocument/2006/relationships/slideLayout" Target="/ppt/slideLayouts/slideLayout19.xml" Id="Rde28be81cfd04b65" /><Relationship Type="http://schemas.openxmlformats.org/officeDocument/2006/relationships/slideLayout" Target="/ppt/slideLayouts/slideLayout20.xml" Id="Rcadfb41a4d31457e" /><Relationship Type="http://schemas.openxmlformats.org/officeDocument/2006/relationships/slideLayout" Target="/ppt/slideLayouts/slideLayout21.xml" Id="R06ebc9649d2744ef" /><Relationship Type="http://schemas.openxmlformats.org/officeDocument/2006/relationships/slideLayout" Target="/ppt/slideLayouts/slideLayout22.xml" Id="R52e0be84b84e40a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DC0921A9-0F9A-411A-B4A5-6E45C49E55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0AE7C2F-ABB4-4013-8396-EF1A1EC4A7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399D10-3839-4FD6-B187-1DC33FC245B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51692DF-084C-49CC-AE3A-DA180FBEAD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023AE05-57D8-410F-9F17-381090CE17D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0337d3f3924b11"/>
    <p:sldLayoutId xmlns:r="http://schemas.openxmlformats.org/officeDocument/2006/relationships" id="2147483650" r:id="Re71272d4995b44ee"/>
    <p:sldLayoutId xmlns:r="http://schemas.openxmlformats.org/officeDocument/2006/relationships" id="2147483651" r:id="R242adc94c1224cc5"/>
    <p:sldLayoutId xmlns:r="http://schemas.openxmlformats.org/officeDocument/2006/relationships" id="2147483652" r:id="Ra3975e09750643c5"/>
    <p:sldLayoutId xmlns:r="http://schemas.openxmlformats.org/officeDocument/2006/relationships" id="2147483653" r:id="R45c40d96ae524012"/>
    <p:sldLayoutId xmlns:r="http://schemas.openxmlformats.org/officeDocument/2006/relationships" id="2147483654" r:id="R57d852e6102a4561"/>
    <p:sldLayoutId xmlns:r="http://schemas.openxmlformats.org/officeDocument/2006/relationships" id="2147483655" r:id="R61087bc79b7e4b58"/>
    <p:sldLayoutId xmlns:r="http://schemas.openxmlformats.org/officeDocument/2006/relationships" id="2147483656" r:id="R63a598641f4a46ea"/>
    <p:sldLayoutId xmlns:r="http://schemas.openxmlformats.org/officeDocument/2006/relationships" id="2147483657" r:id="R8cf7fe45356d4c1e"/>
    <p:sldLayoutId xmlns:r="http://schemas.openxmlformats.org/officeDocument/2006/relationships" id="2147483658" r:id="R2247065b9c4c4424"/>
    <p:sldLayoutId xmlns:r="http://schemas.openxmlformats.org/officeDocument/2006/relationships" id="2147483659" r:id="R15588eccdeed493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FD950DD-9094-44E4-9B8D-D9E8963830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1BD0CB1-E47B-4260-B3B3-6A71D67E26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E09672B-7006-48F2-90A8-FB39ABC6A73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09FD5CB-5B60-4BE9-9077-44A1EEB2DA0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02FCF8-C6AE-4FD3-AAD5-9BD11F3A9B7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23606DA3-272A-4F8E-BEAF-9EDF8976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631170" y="498475"/>
            <a:ext cx="151765" cy="38036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15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4FCD0E39-6E6F-4600-83B9-20310031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864215" y="498475"/>
            <a:ext cx="147320" cy="38036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15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4" name="任意多边形: 形状 13">
            <a:extLst xmlns:a="http://schemas.openxmlformats.org/drawingml/2006/main">
              <a:ext uri="{FF2B5EF4-FFF2-40B4-BE49-F238E27FC236}">
                <a16:creationId xmlns:a16="http://schemas.microsoft.com/office/drawing/2014/main" id="{B389FA48-AEAF-4053-8B1E-DBA5F6CD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270490" y="134620"/>
            <a:ext cx="1921510" cy="742950"/>
          </a:xfrm>
          <a:custGeom xmlns:a="http://schemas.openxmlformats.org/drawingml/2006/main">
            <a:gdLst>
              <a:gd name="connsiteX0" fmla="*/ 1784350 w 1921510"/>
              <a:gd name="connsiteY0" fmla="*/ 0 h 742950"/>
              <a:gd name="connsiteX1" fmla="*/ 0 w 1921510"/>
              <a:gd name="connsiteY1" fmla="*/ 3191 h 742950"/>
              <a:gd name="connsiteX2" fmla="*/ 0 w 1921510"/>
              <a:gd name="connsiteY2" fmla="*/ 626041 h 742950"/>
              <a:gd name="connsiteX3" fmla="*/ 1918970 w 1921510"/>
              <a:gd name="connsiteY3" fmla="*/ 742950 h 742950"/>
              <a:gd name="connsiteX4" fmla="*/ 1921510 w 1921510"/>
              <a:gd name="connsiteY4" fmla="*/ 137160 h 742950"/>
              <a:gd name="connsiteX5" fmla="*/ 1784350 w 1921510"/>
              <a:gd name="connsiteY5" fmla="*/ 0 h 742950"/>
              <a:gd name="connsiteX0-1" fmla="*/ 0 w 1921510"/>
              <a:gd name="connsiteY0-2" fmla="*/ 626041 h 742950"/>
              <a:gd name="connsiteX1-3" fmla="*/ 1918970 w 1921510"/>
              <a:gd name="connsiteY1-4" fmla="*/ 742950 h 742950"/>
              <a:gd name="connsiteX2-5" fmla="*/ 1921510 w 1921510"/>
              <a:gd name="connsiteY2-6" fmla="*/ 137160 h 742950"/>
              <a:gd name="connsiteX3-7" fmla="*/ 1784350 w 1921510"/>
              <a:gd name="connsiteY3-8" fmla="*/ 0 h 742950"/>
              <a:gd name="connsiteX4-9" fmla="*/ 0 w 1921510"/>
              <a:gd name="connsiteY4-10" fmla="*/ 3191 h 742950"/>
              <a:gd name="connsiteX5-11" fmla="*/ 91440 w 1921510"/>
              <a:gd name="connsiteY5-12" fmla="*/ 717481 h 742950"/>
              <a:gd name="connsiteX0-13" fmla="*/ 0 w 1921510"/>
              <a:gd name="connsiteY0-14" fmla="*/ 626041 h 742950"/>
              <a:gd name="connsiteX1-15" fmla="*/ 1918970 w 1921510"/>
              <a:gd name="connsiteY1-16" fmla="*/ 742950 h 742950"/>
              <a:gd name="connsiteX2-17" fmla="*/ 1921510 w 1921510"/>
              <a:gd name="connsiteY2-18" fmla="*/ 137160 h 742950"/>
              <a:gd name="connsiteX3-19" fmla="*/ 1784350 w 1921510"/>
              <a:gd name="connsiteY3-20" fmla="*/ 0 h 742950"/>
              <a:gd name="connsiteX4-21" fmla="*/ 0 w 1921510"/>
              <a:gd name="connsiteY4-22" fmla="*/ 3191 h 742950"/>
              <a:gd name="connsiteX0-23" fmla="*/ 1918970 w 1921510"/>
              <a:gd name="connsiteY0-24" fmla="*/ 742950 h 742950"/>
              <a:gd name="connsiteX1-25" fmla="*/ 1921510 w 1921510"/>
              <a:gd name="connsiteY1-26" fmla="*/ 137160 h 742950"/>
              <a:gd name="connsiteX2-27" fmla="*/ 1784350 w 1921510"/>
              <a:gd name="connsiteY2-28" fmla="*/ 0 h 742950"/>
              <a:gd name="connsiteX3-29" fmla="*/ 0 w 1921510"/>
              <a:gd name="connsiteY3-30" fmla="*/ 3191 h 742950"/>
            </a:gdLst>
            <a:rect l="l" t="t" r="r" b="b"/>
            <a:pathLst>
              <a:path w="1921510" h="742950">
                <a:moveTo>
                  <a:pt x="1918970" y="742950"/>
                </a:moveTo>
                <a:cubicBezTo>
                  <a:pt x="1919817" y="541020"/>
                  <a:pt x="1920663" y="339090"/>
                  <a:pt x="1921510" y="137160"/>
                </a:cubicBezTo>
                <a:cubicBezTo>
                  <a:pt x="1921510" y="61595"/>
                  <a:pt x="1859915" y="0"/>
                  <a:pt x="1784350" y="0"/>
                </a:cubicBezTo>
                <a:lnTo>
                  <a:pt x="0" y="319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2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任意多边形 5">
            <a:extLst xmlns:a="http://schemas.openxmlformats.org/drawingml/2006/main">
              <a:ext uri="{FF2B5EF4-FFF2-40B4-BE49-F238E27FC236}">
                <a16:creationId xmlns:a16="http://schemas.microsoft.com/office/drawing/2014/main" id="{D67B84F5-4CCB-4AB4-A639-3D9F0F1F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4400" y="449580"/>
            <a:ext cx="10406380" cy="749935"/>
          </a:xfrm>
          <a:custGeom xmlns:a="http://schemas.openxmlformats.org/drawingml/2006/main">
            <a:gdLst>
              <a:gd name="connsiteX0" fmla="*/ 0 w 16388"/>
              <a:gd name="connsiteY0" fmla="*/ 5 h 1181"/>
              <a:gd name="connsiteX1" fmla="*/ 16168 w 16388"/>
              <a:gd name="connsiteY1" fmla="*/ 0 h 1181"/>
              <a:gd name="connsiteX2" fmla="*/ 16384 w 16388"/>
              <a:gd name="connsiteY2" fmla="*/ 216 h 1181"/>
              <a:gd name="connsiteX3" fmla="*/ 16388 w 16388"/>
              <a:gd name="connsiteY3" fmla="*/ 1181 h 1181"/>
            </a:gdLst>
            <a:rect l="l" t="t" r="r" b="b"/>
            <a:pathLst>
              <a:path w="16388" h="1181">
                <a:moveTo>
                  <a:pt x="0" y="5"/>
                </a:moveTo>
                <a:lnTo>
                  <a:pt x="16168" y="0"/>
                </a:lnTo>
                <a:cubicBezTo>
                  <a:pt x="16287" y="0"/>
                  <a:pt x="16384" y="97"/>
                  <a:pt x="16384" y="216"/>
                </a:cubicBezTo>
                <a:lnTo>
                  <a:pt x="16388" y="118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2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27A9FB71-ADF6-4CBD-A239-31087C53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ba50061926004ece"/>
    <p:sldLayoutId xmlns:r="http://schemas.openxmlformats.org/officeDocument/2006/relationships" id="2147483662" r:id="R72e38aeba1704337"/>
    <p:sldLayoutId xmlns:r="http://schemas.openxmlformats.org/officeDocument/2006/relationships" id="2147483663" r:id="R48d53e2f9f5b4647"/>
    <p:sldLayoutId xmlns:r="http://schemas.openxmlformats.org/officeDocument/2006/relationships" id="2147483664" r:id="Rf7243a0f94174173"/>
    <p:sldLayoutId xmlns:r="http://schemas.openxmlformats.org/officeDocument/2006/relationships" id="2147483665" r:id="R4bb92a21546b4986"/>
    <p:sldLayoutId xmlns:r="http://schemas.openxmlformats.org/officeDocument/2006/relationships" id="2147483666" r:id="R404b41339db44ff5"/>
    <p:sldLayoutId xmlns:r="http://schemas.openxmlformats.org/officeDocument/2006/relationships" id="2147483667" r:id="R0d39b7b9aaa24c4c"/>
    <p:sldLayoutId xmlns:r="http://schemas.openxmlformats.org/officeDocument/2006/relationships" id="2147483668" r:id="Rde28be81cfd04b65"/>
    <p:sldLayoutId xmlns:r="http://schemas.openxmlformats.org/officeDocument/2006/relationships" id="2147483669" r:id="Rcadfb41a4d31457e"/>
    <p:sldLayoutId xmlns:r="http://schemas.openxmlformats.org/officeDocument/2006/relationships" id="2147483670" r:id="R06ebc9649d2744ef"/>
    <p:sldLayoutId xmlns:r="http://schemas.openxmlformats.org/officeDocument/2006/relationships" id="2147483671" r:id="R52e0be84b84e40a9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38480" indent="-206375" algn="l" defTabSz="914400">
        <a:lnSpc>
          <a:spcPct val="130000"/>
        </a:lnSpc>
        <a:spcBef>
          <a:spcPts val="0"/>
        </a:spcBef>
        <a:buFont typeface="Arial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98830" indent="-161925" algn="l" defTabSz="914400">
        <a:lnSpc>
          <a:spcPct val="130000"/>
        </a:lnSpc>
        <a:spcBef>
          <a:spcPts val="0"/>
        </a:spcBef>
        <a:buFont typeface="Arial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30605" indent="-149225" algn="l" defTabSz="914400">
        <a:lnSpc>
          <a:spcPct val="130000"/>
        </a:lnSpc>
        <a:spcBef>
          <a:spcPts val="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235075" indent="-127000" algn="l" defTabSz="914400">
        <a:lnSpc>
          <a:spcPct val="130000"/>
        </a:lnSpc>
        <a:spcBef>
          <a:spcPts val="0"/>
        </a:spcBef>
        <a:buFont typeface="Arial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简约风线框职场办公">
  <a:themeElements>
    <a:clrScheme name="简约线条">
      <a:dk1>
        <a:srgbClr val="000000"/>
      </a:dk1>
      <a:lt1>
        <a:srgbClr val="FFFFFF"/>
      </a:lt1>
      <a:dk2>
        <a:srgbClr val="0A0A0A"/>
      </a:dk2>
      <a:lt2>
        <a:srgbClr val="F8F8F8"/>
      </a:lt2>
      <a:accent1>
        <a:srgbClr val="768CA4"/>
      </a:accent1>
      <a:accent2>
        <a:srgbClr val="7E809C"/>
      </a:accent2>
      <a:accent3>
        <a:srgbClr val="918199"/>
      </a:accent3>
      <a:accent4>
        <a:srgbClr val="9A9180"/>
      </a:accent4>
      <a:accent5>
        <a:srgbClr val="A68E74"/>
      </a:accent5>
      <a:accent6>
        <a:srgbClr val="A5A377"/>
      </a:accent6>
      <a:hlink>
        <a:srgbClr val="5F5F5F"/>
      </a:hlink>
      <a:folHlink>
        <a:srgbClr val="919191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简约线条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ea03fe61bbf41fb" /><Relationship Type="http://schemas.openxmlformats.org/officeDocument/2006/relationships/notesSlide" Target="/ppt/notesSlides/notesSlide1.xml" Id="R1b7429bc4fd546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445fcdb471f41e5" /><Relationship Type="http://schemas.openxmlformats.org/officeDocument/2006/relationships/notesSlide" Target="/ppt/notesSlides/notesSlide2.xml" Id="R8efa7f8255b44d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f4f29bb4f54642fb" /><Relationship Type="http://schemas.openxmlformats.org/officeDocument/2006/relationships/notesSlide" Target="/ppt/notesSlides/notesSlide3.xml" Id="R00bf13f90caf47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ad8ee313bfbb4871" /><Relationship Type="http://schemas.openxmlformats.org/officeDocument/2006/relationships/notesSlide" Target="/ppt/notesSlides/notesSlide4.xml" Id="R145b6aad458546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3a91047405b74a6c" /><Relationship Type="http://schemas.openxmlformats.org/officeDocument/2006/relationships/notesSlide" Target="/ppt/notesSlides/notesSlide5.xml" Id="R22de5190179e4b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089fa53b9ef649bd" /><Relationship Type="http://schemas.openxmlformats.org/officeDocument/2006/relationships/notesSlide" Target="/ppt/notesSlides/notesSlide6.xml" Id="R4150bc6300d24d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3144af3b9fa341dd" /><Relationship Type="http://schemas.openxmlformats.org/officeDocument/2006/relationships/notesSlide" Target="/ppt/notesSlides/notesSlide7.xml" Id="R10458db8122848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11d6c61294834054" /><Relationship Type="http://schemas.openxmlformats.org/officeDocument/2006/relationships/notesSlide" Target="/ppt/notesSlides/notesSlide8.xml" Id="R9096d0d0a3c24c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856ed6d508df4194" /><Relationship Type="http://schemas.openxmlformats.org/officeDocument/2006/relationships/notesSlide" Target="/ppt/notesSlides/notesSlide9.xml" Id="R5a5f84dde0c44b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98cf2b603f8447a5" /><Relationship Type="http://schemas.openxmlformats.org/officeDocument/2006/relationships/notesSlide" Target="/ppt/notesSlides/notesSlide10.xml" Id="R6102c17498d344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8a132d497bde4bf5" /><Relationship Type="http://schemas.openxmlformats.org/officeDocument/2006/relationships/notesSlide" Target="/ppt/notesSlides/notesSlide11.xml" Id="R0a7f4db0a75a4f1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310fedf08cdf401b" /><Relationship Type="http://schemas.openxmlformats.org/officeDocument/2006/relationships/notesSlide" Target="/ppt/notesSlides/notesSlide12.xml" Id="R2596ad094fac4c8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080d087268644ece" /><Relationship Type="http://schemas.openxmlformats.org/officeDocument/2006/relationships/notesSlide" Target="/ppt/notesSlides/notesSlide13.xml" Id="Rfb34d7d5b93d4e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be69de4485c64fcb" /><Relationship Type="http://schemas.openxmlformats.org/officeDocument/2006/relationships/notesSlide" Target="/ppt/notesSlides/notesSlide14.xml" Id="Rdaefd5762c8144a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77e4658393084ad4" /><Relationship Type="http://schemas.openxmlformats.org/officeDocument/2006/relationships/notesSlide" Target="/ppt/notesSlides/notesSlide15.xml" Id="R2c1690c1342d42f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c0129439d0454f6a" /><Relationship Type="http://schemas.openxmlformats.org/officeDocument/2006/relationships/chart" Target="/ppt/slides/charts/chart1.xml" Id="Rba5e3cf7dbf94542" /><Relationship Type="http://schemas.openxmlformats.org/officeDocument/2006/relationships/notesSlide" Target="/ppt/notesSlides/notesSlide16.xml" Id="R41817b384e8049d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9a524e1070c04e48" /><Relationship Type="http://schemas.openxmlformats.org/officeDocument/2006/relationships/chart" Target="/ppt/slides/charts/chart2.xml" Id="R07e78fc6202144e4" /><Relationship Type="http://schemas.openxmlformats.org/officeDocument/2006/relationships/notesSlide" Target="/ppt/notesSlides/notesSlide17.xml" Id="R136ff0224ee5459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c41c33e21f054027" /><Relationship Type="http://schemas.openxmlformats.org/officeDocument/2006/relationships/chart" Target="/ppt/slides/charts/chart3.xml" Id="R98c602a2eea142c1" /><Relationship Type="http://schemas.openxmlformats.org/officeDocument/2006/relationships/notesSlide" Target="/ppt/notesSlides/notesSlide18.xml" Id="R07871774b29a4ce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c2734d6ac4884a90" /><Relationship Type="http://schemas.openxmlformats.org/officeDocument/2006/relationships/chart" Target="/ppt/slides/charts/chart4.xml" Id="R64d2887d33944fce" /><Relationship Type="http://schemas.openxmlformats.org/officeDocument/2006/relationships/notesSlide" Target="/ppt/notesSlides/notesSlide19.xml" Id="R7e06f3dca0d9472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6857392491254a50" /><Relationship Type="http://schemas.openxmlformats.org/officeDocument/2006/relationships/notesSlide" Target="/ppt/notesSlides/notesSlide20.xml" Id="Re51a7cca01994e6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37c3ba52a5a8423c" /><Relationship Type="http://schemas.openxmlformats.org/officeDocument/2006/relationships/notesSlide" Target="/ppt/notesSlides/notesSlide21.xml" Id="R1c0e03b8b4c046b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69a1435de3a04225" /><Relationship Type="http://schemas.openxmlformats.org/officeDocument/2006/relationships/notesSlide" Target="/ppt/notesSlides/notesSlide22.xml" Id="Rd0d26c091b0f4f4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06296a3be4cb4927" /><Relationship Type="http://schemas.openxmlformats.org/officeDocument/2006/relationships/notesSlide" Target="/ppt/notesSlides/notesSlide23.xml" Id="Rf6348d563708443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22e7548c250f44b7" /><Relationship Type="http://schemas.openxmlformats.org/officeDocument/2006/relationships/notesSlide" Target="/ppt/notesSlides/notesSlide24.xml" Id="R62b25f7f79be4d3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77b0399510de4fad" /><Relationship Type="http://schemas.openxmlformats.org/officeDocument/2006/relationships/notesSlide" Target="/ppt/notesSlides/notesSlide25.xml" Id="Re898b820a2fd4f1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e21a37486ce14650" /><Relationship Type="http://schemas.openxmlformats.org/officeDocument/2006/relationships/notesSlide" Target="/ppt/notesSlides/notesSlide26.xml" Id="Rc6a2ee31f5534a4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b5de3a99f3264cfd" /><Relationship Type="http://schemas.openxmlformats.org/officeDocument/2006/relationships/notesSlide" Target="/ppt/notesSlides/notesSlide27.xml" Id="R166f51e91036444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2.xml" Id="R93d1fc37c4784133" /><Relationship Type="http://schemas.openxmlformats.org/officeDocument/2006/relationships/notesSlide" Target="/ppt/notesSlides/notesSlide28.xml" Id="R6d84cb89a5594c4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264108fdbc3347cf" /><Relationship Type="http://schemas.openxmlformats.org/officeDocument/2006/relationships/notesSlide" Target="/ppt/notesSlides/notesSlide29.xml" Id="R9c764942a7264c6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bd89df162a574956" /><Relationship Type="http://schemas.openxmlformats.org/officeDocument/2006/relationships/notesSlide" Target="/ppt/notesSlides/notesSlide30.xml" Id="R8abe24f735bc4bc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db363e2979cd4b3a" /><Relationship Type="http://schemas.openxmlformats.org/officeDocument/2006/relationships/notesSlide" Target="/ppt/notesSlides/notesSlide31.xml" Id="R637b57793ab348e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621f97aa8f2e44d4" /><Relationship Type="http://schemas.openxmlformats.org/officeDocument/2006/relationships/notesSlide" Target="/ppt/notesSlides/notesSlide32.xml" Id="Ra72c3c7ee05a450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8b4c1fa7d29542fb" /><Relationship Type="http://schemas.openxmlformats.org/officeDocument/2006/relationships/notesSlide" Target="/ppt/notesSlides/notesSlide33.xml" Id="Rf33d62256c984e2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数值</c:v>
          </c:tx>
          <c:spPr>
            <a:solidFill xmlns:a="http://schemas.openxmlformats.org/drawingml/2006/main">
              <a:srgbClr val="4874C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8CACF"/>
              </a:solidFill>
              <a:ln xmlns:a="http://schemas.openxmlformats.org/drawingml/2006/main" w="0">
                <a:solidFill>
                  <a:srgbClr val="C8CACF"/>
                </a:solidFill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A8B5C7"/>
              </a:solidFill>
              <a:ln xmlns:a="http://schemas.openxmlformats.org/drawingml/2006/main" w="0">
                <a:solidFill>
                  <a:srgbClr val="A8B5C7"/>
                </a:solidFill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92A5BE"/>
              </a:solidFill>
              <a:ln xmlns:a="http://schemas.openxmlformats.org/drawingml/2006/main" w="0">
                <a:solidFill>
                  <a:srgbClr val="92A5BE"/>
                </a:solidFill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778EA8"/>
              </a:solidFill>
              <a:ln xmlns:a="http://schemas.openxmlformats.org/drawingml/2006/main" w="0">
                <a:solidFill>
                  <a:srgbClr val="778EA8"/>
                </a:solidFill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rgbClr val="4874CB"/>
              </a:solidFill>
              <a:ln xmlns:a="http://schemas.openxmlformats.org/drawingml/2006/main" w="0">
                <a:solidFill>
                  <a:srgbClr val="4874CB"/>
                </a:solidFill>
              </a:ln>
            </c:spPr>
          </c:dPt>
          <c:cat>
            <c:strRef>
              <c:f>'Chart Data'!$A$2:$A$6</c:f>
              <c:strCache>
                <c:ptCount val="5"/>
                <c:pt idx="0">
                  <c:v>Random</c:v>
                </c:pt>
                <c:pt idx="1">
                  <c:v>RDS+</c:v>
                </c:pt>
                <c:pt idx="2">
                  <c:v>Influence</c:v>
                </c:pt>
                <c:pt idx="3">
                  <c:v>LESS</c:v>
                </c:pt>
                <c:pt idx="4">
                  <c:v>PCU-Select</c:v>
                </c:pt>
              </c:strCache>
            </c:str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32.29</c:v>
                </c:pt>
                <c:pt idx="1">
                  <c:v>34.44</c:v>
                </c:pt>
                <c:pt idx="2">
                  <c:v>34.68</c:v>
                </c:pt>
                <c:pt idx="3">
                  <c:v>35.14</c:v>
                </c:pt>
                <c:pt idx="4">
                  <c:v>35.18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373B48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8CAC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6EC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C8CAC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数值</c:v>
          </c:tx>
          <c:spPr>
            <a:solidFill xmlns:a="http://schemas.openxmlformats.org/drawingml/2006/main">
              <a:srgbClr val="4874CB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4874CB"/>
              </a:solidFill>
              <a:ln xmlns:a="http://schemas.openxmlformats.org/drawingml/2006/main" w="0">
                <a:solidFill>
                  <a:srgbClr val="4874CB"/>
                </a:solidFill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9198A5"/>
              </a:solidFill>
              <a:ln xmlns:a="http://schemas.openxmlformats.org/drawingml/2006/main" w="0">
                <a:solidFill>
                  <a:srgbClr val="9198A5"/>
                </a:solidFill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4874CB"/>
              </a:solidFill>
              <a:ln xmlns:a="http://schemas.openxmlformats.org/drawingml/2006/main" w="0">
                <a:solidFill>
                  <a:srgbClr val="4874CB"/>
                </a:solidFill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9198A5"/>
              </a:solidFill>
              <a:ln xmlns:a="http://schemas.openxmlformats.org/drawingml/2006/main" w="0">
                <a:solidFill>
                  <a:srgbClr val="9198A5"/>
                </a:solidFill>
              </a:ln>
            </c:spPr>
          </c:dPt>
          <c:cat>
            <c:strRef>
              <c:f>'Chart Data'!$A$2:$A$5</c:f>
              <c:strCache>
                <c:ptCount val="4"/>
                <c:pt idx="0">
                  <c:v>GSM8K</c:v>
                </c:pt>
                <c:pt idx="1">
                  <c:v>HumanEval</c:v>
                </c:pt>
                <c:pt idx="2">
                  <c:v>MMLU</c:v>
                </c:pt>
                <c:pt idx="3">
                  <c:v>TyDiQA</c:v>
                </c:pt>
              </c:strCache>
            </c:strRef>
          </c:cat>
          <c:val>
            <c:numRef>
              <c:f>'Chart Data'!$B$2:$B$5</c:f>
              <c:numCache>
                <c:formatCode>+0.00;-0.00;0.00</c:formatCode>
                <c:ptCount val="4"/>
                <c:pt idx="0">
                  <c:v>0.29</c:v>
                </c:pt>
                <c:pt idx="1">
                  <c:v>-0.04</c:v>
                </c:pt>
                <c:pt idx="2">
                  <c:v>0.67</c:v>
                </c:pt>
                <c:pt idx="3">
                  <c:v>-0.77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373B48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8CAC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6EC"/>
              </a:solidFill>
            </a:ln>
          </c:spPr>
        </c:majorGridlines>
        <c:numFmt formatCode="+0.00;-0.00;0.00"/>
        <c:majorTickMark val="none"/>
        <c:minorTickMark val="none"/>
        <c:spPr>
          <a:ln xmlns:a="http://schemas.openxmlformats.org/drawingml/2006/main" w="9525">
            <a:solidFill>
              <a:srgbClr val="C8CAC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  <c:majorUnit val="0.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数值</c:v>
          </c:tx>
          <c:spPr>
            <a:solidFill xmlns:a="http://schemas.openxmlformats.org/drawingml/2006/main">
              <a:srgbClr val="4874C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874CB"/>
              </a:solidFill>
              <a:ln xmlns:a="http://schemas.openxmlformats.org/drawingml/2006/main" w="0">
                <a:solidFill>
                  <a:srgbClr val="4874CB"/>
                </a:solidFill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778EA8"/>
              </a:solidFill>
              <a:ln xmlns:a="http://schemas.openxmlformats.org/drawingml/2006/main" w="0">
                <a:solidFill>
                  <a:srgbClr val="778EA8"/>
                </a:solidFill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778EA8"/>
              </a:solidFill>
              <a:ln xmlns:a="http://schemas.openxmlformats.org/drawingml/2006/main" w="0">
                <a:solidFill>
                  <a:srgbClr val="778EA8"/>
                </a:solidFill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778EA8"/>
              </a:solidFill>
              <a:ln xmlns:a="http://schemas.openxmlformats.org/drawingml/2006/main" w="0">
                <a:solidFill>
                  <a:srgbClr val="778EA8"/>
                </a:solidFill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rgbClr val="9198A5"/>
              </a:solidFill>
              <a:ln xmlns:a="http://schemas.openxmlformats.org/drawingml/2006/main" w="0">
                <a:solidFill>
                  <a:srgbClr val="9198A5"/>
                </a:solidFill>
              </a:ln>
            </c:spPr>
          </c:dPt>
          <c:dPt>
            <c:idx val="5"/>
            <c:invertIfNegative val="0"/>
            <c:spPr>
              <a:solidFill xmlns:a="http://schemas.openxmlformats.org/drawingml/2006/main">
                <a:srgbClr val="9198A5"/>
              </a:solidFill>
              <a:ln xmlns:a="http://schemas.openxmlformats.org/drawingml/2006/main" w="0">
                <a:solidFill>
                  <a:srgbClr val="9198A5"/>
                </a:solidFill>
              </a:ln>
            </c:spPr>
          </c:dPt>
          <c:cat>
            <c:strRef>
              <c:f>'Chart Data'!$A$2:$A$7</c:f>
              <c:strCache>
                <c:ptCount val="6"/>
                <c:pt idx="0">
                  <c:v>去除 PEFT 编码</c:v>
                </c:pt>
                <c:pt idx="1">
                  <c:v>全局 Top-k</c:v>
                </c:pt>
                <c:pt idx="2">
                  <c:v>仅用梯度代理标签</c:v>
                </c:pt>
                <c:pt idx="3">
                  <c:v>去除任务表征</c:v>
                </c:pt>
                <c:pt idx="4">
                  <c:v>仅家族编码</c:v>
                </c:pt>
                <c:pt idx="5">
                  <c:v>均匀聚类配额</c:v>
                </c:pt>
              </c:strCache>
            </c:strRef>
          </c:cat>
          <c:val>
            <c:numRef>
              <c:f>'Chart Data'!$B$2:$B$7</c:f>
              <c:numCache>
                <c:formatCode>0.00</c:formatCode>
                <c:ptCount val="6"/>
                <c:pt idx="0">
                  <c:v>1.37</c:v>
                </c:pt>
                <c:pt idx="1">
                  <c:v>1.08</c:v>
                </c:pt>
                <c:pt idx="2">
                  <c:v>0.85</c:v>
                </c:pt>
                <c:pt idx="3">
                  <c:v>0.82</c:v>
                </c:pt>
                <c:pt idx="4">
                  <c:v>0.68</c:v>
                </c:pt>
                <c:pt idx="5">
                  <c:v>0.51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373B48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6EC"/>
              </a:solidFill>
            </a:ln>
          </c:spPr>
        </c:majorGridlines>
        <c:numFmt formatCode="0.00"/>
        <c:majorTickMark val="none"/>
        <c:minorTickMark val="none"/>
        <c:tickLblPos val="low"/>
        <c:spPr>
          <a:ln xmlns:a="http://schemas.openxmlformats.org/drawingml/2006/main" w="9525">
            <a:solidFill>
              <a:srgbClr val="C8CAC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CAC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PCU-Select</c:v>
          </c:tx>
          <c:spPr>
            <a:solidFill xmlns:a="http://schemas.openxmlformats.org/drawingml/2006/main">
              <a:srgbClr val="4874CB"/>
            </a:solidFill>
            <a:ln xmlns:a="http://schemas.openxmlformats.org/drawingml/2006/main" w="28575">
              <a:solidFill>
                <a:srgbClr val="4874CB"/>
              </a:solidFill>
            </a:ln>
          </c:spPr>
          <c:marker>
            <c:symbol val="none"/>
          </c:marker>
          <c:cat>
            <c:numRef>
              <c:f>'Chart Data'!$A$2:$A$12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cat>
          <c:val>
            <c:numRef>
              <c:f>'Chart Data'!$B$2:$B$12</c:f>
              <c:numCache>
                <c:formatCode>0.0</c:formatCode>
                <c:ptCount val="11"/>
                <c:pt idx="0">
                  <c:v>144</c:v>
                </c:pt>
                <c:pt idx="1">
                  <c:v>145.51</c:v>
                </c:pt>
                <c:pt idx="2">
                  <c:v>147.02</c:v>
                </c:pt>
                <c:pt idx="3">
                  <c:v>148.53</c:v>
                </c:pt>
                <c:pt idx="4">
                  <c:v>150.04</c:v>
                </c:pt>
                <c:pt idx="5">
                  <c:v>151.55</c:v>
                </c:pt>
                <c:pt idx="6">
                  <c:v>153.06</c:v>
                </c:pt>
                <c:pt idx="7">
                  <c:v>154.57</c:v>
                </c:pt>
                <c:pt idx="8">
                  <c:v>156.08</c:v>
                </c:pt>
                <c:pt idx="9">
                  <c:v>157.59</c:v>
                </c:pt>
                <c:pt idx="10">
                  <c:v>159.1</c:v>
                </c:pt>
              </c:numCache>
            </c:numRef>
          </c:val>
        </c:ser>
        <c:ser>
          <c:idx val="1"/>
          <c:order val="1"/>
          <c:tx>
            <c:v>LESS</c:v>
          </c:tx>
          <c:spPr>
            <a:solidFill xmlns:a="http://schemas.openxmlformats.org/drawingml/2006/main">
              <a:srgbClr val="778EA8"/>
            </a:solidFill>
            <a:ln xmlns:a="http://schemas.openxmlformats.org/drawingml/2006/main" w="28575">
              <a:solidFill>
                <a:srgbClr val="778EA8"/>
              </a:solidFill>
            </a:ln>
          </c:spPr>
          <c:marker>
            <c:symbol val="none"/>
          </c:marker>
          <c:cat>
            <c:numRef>
              <c:f>'Chart Data'!$C$2:$C$12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cat>
          <c:val>
            <c:numRef>
              <c:f>'Chart Data'!$D$2:$D$12</c:f>
              <c:numCache>
                <c:formatCode>0.0</c:formatCode>
                <c:ptCount val="11"/>
                <c:pt idx="0">
                  <c:v>0</c:v>
                </c:pt>
                <c:pt idx="1">
                  <c:v>63.2</c:v>
                </c:pt>
                <c:pt idx="2">
                  <c:v>126.4</c:v>
                </c:pt>
                <c:pt idx="3">
                  <c:v>189.6</c:v>
                </c:pt>
                <c:pt idx="4">
                  <c:v>252.8</c:v>
                </c:pt>
                <c:pt idx="5">
                  <c:v>316</c:v>
                </c:pt>
                <c:pt idx="6">
                  <c:v>379.2</c:v>
                </c:pt>
                <c:pt idx="7">
                  <c:v>442.4</c:v>
                </c:pt>
                <c:pt idx="8">
                  <c:v>505.6</c:v>
                </c:pt>
                <c:pt idx="9">
                  <c:v>568.8</c:v>
                </c:pt>
                <c:pt idx="10">
                  <c:v>632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软雅黑"/>
                  <a:ea typeface="微软雅黑"/>
                  <a:cs typeface="微软雅黑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微软雅黑"/>
                    <a:ea typeface="微软雅黑"/>
                    <a:cs typeface="微软雅黑"/>
                  </a:rPr>
                  <a:t>PEFT 配置数 P（每配置 4 个任务）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软雅黑"/>
                  <a:ea typeface="微软雅黑"/>
                  <a:cs typeface="微软雅黑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CAC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7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6E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C8CAC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  <c:majorUnit val="200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52586B"/>
              </a:solidFill>
              <a:latin typeface="微软雅黑"/>
              <a:ea typeface="微软雅黑"/>
              <a:cs typeface="微软雅黑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3BCE8ECA-4314-43F8-B211-DD16D114EB7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5400"/>
              <a:t>面向大模型的数据与参数</a:t>
            </a:r>
            <a:endParaRPr sz="5400"/>
          </a:p>
          <a:p xmlns:a="http://schemas.openxmlformats.org/drawingml/2006/main">
            <a:r>
              <a:rPr sz="5400"/>
              <a:t>联合高效微调算法研究</a:t>
            </a:r>
            <a:endParaRPr sz="5400"/>
          </a:p>
        </p:txBody>
      </p:sp>
      <p:sp>
        <p:nvSpPr>
          <p:cNvPr id="10" name="署名">
            <a:extLst xmlns:a="http://schemas.openxmlformats.org/drawingml/2006/main">
              <a:ext uri="{FF2B5EF4-FFF2-40B4-BE49-F238E27FC236}">
                <a16:creationId xmlns:a16="http://schemas.microsoft.com/office/drawing/2014/main" id="{751786DE-F47A-42DC-BB81-581A41276C7A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汇报人: 林肯</a:t>
            </a:r>
            <a:r>
              <a:t>达</a:t>
            </a:r>
            <a:endParaRPr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D3310-2571-40ED-A47C-3A15E5F1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中期答辩</a:t>
            </a:r>
          </a:p>
        </p:txBody>
      </p:sp>
    </p:spTree>
    <p:extLst>
      <p:ext uri="{BB962C8B-B14F-4D97-AF65-F5344CB8AC3E}">
        <p14:creationId xmlns:p14="http://schemas.microsoft.com/office/powerpoint/2010/main" val="4129506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A7A9C408-5C8C-4BB7-A824-FD4A2421CC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目录</a:t>
            </a:r>
            <a:endParaRPr/>
          </a:p>
        </p:txBody>
      </p:sp>
      <p:sp>
        <p:nvSpPr>
          <p:cNvPr id="6" name="序号">
            <a:extLst xmlns:a="http://schemas.openxmlformats.org/drawingml/2006/main">
              <a:ext uri="{FF2B5EF4-FFF2-40B4-BE49-F238E27FC236}">
                <a16:creationId xmlns:a16="http://schemas.microsoft.com/office/drawing/2014/main" id="{4C15E199-863A-4580-A703-CEDA771F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550" y="1146536"/>
            <a:ext cx="648000" cy="648000"/>
          </a:xfrm>
          <a:prstGeom xmlns:a="http://schemas.openxmlformats.org/drawingml/2006/main" prst="roundRect">
            <a:avLst>
              <a:gd name="adj" fmla="val 10052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>
                <a:alpha val="60000"/>
              </a:schemeClr>
            </a:solidFill>
          </a:ln>
        </p:spPr>
        <p:txBody>
          <a:bodyPr xmlns:a="http://schemas.openxmlformats.org/drawingml/2006/main" wrap="none" lIns="36000" tIns="3600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01</a:t>
            </a:r>
            <a:endParaRPr sz="30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7" name="项标题">
            <a:extLst xmlns:a="http://schemas.openxmlformats.org/drawingml/2006/main">
              <a:ext uri="{FF2B5EF4-FFF2-40B4-BE49-F238E27FC236}">
                <a16:creationId xmlns:a16="http://schemas.microsoft.com/office/drawing/2014/main" id="{D796BC57-39FD-4258-B782-93A683BB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260" y="1218536"/>
            <a:ext cx="4094144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spc="300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研究背景与动机</a:t>
            </a:r>
            <a:endParaRPr sz="2400" b="1" spc="3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2" name="序号">
            <a:extLst xmlns:a="http://schemas.openxmlformats.org/drawingml/2006/main">
              <a:ext uri="{FF2B5EF4-FFF2-40B4-BE49-F238E27FC236}">
                <a16:creationId xmlns:a16="http://schemas.microsoft.com/office/drawing/2014/main" id="{08A159F0-CD72-491D-AA75-A10CA943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550" y="2331825"/>
            <a:ext cx="648000" cy="648000"/>
          </a:xfrm>
          <a:prstGeom xmlns:a="http://schemas.openxmlformats.org/drawingml/2006/main" prst="roundRect">
            <a:avLst>
              <a:gd name="adj" fmla="val 10052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>
                <a:alpha val="60000"/>
              </a:schemeClr>
            </a:solidFill>
          </a:ln>
        </p:spPr>
        <p:txBody>
          <a:bodyPr xmlns:a="http://schemas.openxmlformats.org/drawingml/2006/main" wrap="none" lIns="0" tIns="3600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02</a:t>
            </a:r>
            <a:endParaRPr sz="30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3" name="项标题">
            <a:extLst xmlns:a="http://schemas.openxmlformats.org/drawingml/2006/main">
              <a:ext uri="{FF2B5EF4-FFF2-40B4-BE49-F238E27FC236}">
                <a16:creationId xmlns:a16="http://schemas.microsoft.com/office/drawing/2014/main" id="{45587F57-09F6-47D9-B49F-E6E24FB4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260" y="2403825"/>
            <a:ext cx="4094144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spc="300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PCU-Select 方法</a:t>
            </a:r>
            <a:endParaRPr sz="2400" b="1" spc="3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5" name="序号">
            <a:extLst xmlns:a="http://schemas.openxmlformats.org/drawingml/2006/main">
              <a:ext uri="{FF2B5EF4-FFF2-40B4-BE49-F238E27FC236}">
                <a16:creationId xmlns:a16="http://schemas.microsoft.com/office/drawing/2014/main" id="{EDCB908E-877A-43BA-862C-E7A3E94E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550" y="3517115"/>
            <a:ext cx="648000" cy="648000"/>
          </a:xfrm>
          <a:prstGeom xmlns:a="http://schemas.openxmlformats.org/drawingml/2006/main" prst="roundRect">
            <a:avLst>
              <a:gd name="adj" fmla="val 10052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>
                <a:alpha val="60000"/>
              </a:schemeClr>
            </a:solidFill>
          </a:ln>
        </p:spPr>
        <p:txBody>
          <a:bodyPr xmlns:a="http://schemas.openxmlformats.org/drawingml/2006/main" wrap="none" lIns="0" tIns="3600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03</a:t>
            </a:r>
            <a:endParaRPr sz="30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6" name="项标题">
            <a:extLst xmlns:a="http://schemas.openxmlformats.org/drawingml/2006/main">
              <a:ext uri="{FF2B5EF4-FFF2-40B4-BE49-F238E27FC236}">
                <a16:creationId xmlns:a16="http://schemas.microsoft.com/office/drawing/2014/main" id="{5FE42F5C-7A7A-4C78-8624-F637E3CB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260" y="3589115"/>
            <a:ext cx="4094144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spc="300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实验结果与分析</a:t>
            </a:r>
            <a:endParaRPr sz="2400" b="1" spc="3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" name="序号">
            <a:extLst xmlns:a="http://schemas.openxmlformats.org/drawingml/2006/main">
              <a:ext uri="{FF2B5EF4-FFF2-40B4-BE49-F238E27FC236}">
                <a16:creationId xmlns:a16="http://schemas.microsoft.com/office/drawing/2014/main" id="{D903D8F3-6010-4734-8806-8B4C9032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550" y="4702784"/>
            <a:ext cx="648000" cy="648000"/>
          </a:xfrm>
          <a:prstGeom xmlns:a="http://schemas.openxmlformats.org/drawingml/2006/main" prst="roundRect">
            <a:avLst>
              <a:gd name="adj" fmla="val 10052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>
                <a:alpha val="60000"/>
              </a:schemeClr>
            </a:solidFill>
          </a:ln>
        </p:spPr>
        <p:txBody>
          <a:bodyPr xmlns:a="http://schemas.openxmlformats.org/drawingml/2006/main" wrap="none" lIns="0" tIns="3600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04</a:t>
            </a:r>
            <a:endParaRPr sz="30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" name="项标题">
            <a:extLst xmlns:a="http://schemas.openxmlformats.org/drawingml/2006/main">
              <a:ext uri="{FF2B5EF4-FFF2-40B4-BE49-F238E27FC236}">
                <a16:creationId xmlns:a16="http://schemas.microsoft.com/office/drawing/2014/main" id="{D4039337-686F-4743-8F04-304D56D6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260" y="4774784"/>
            <a:ext cx="4094144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spc="300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后续工作与计划</a:t>
            </a:r>
            <a:endParaRPr sz="2400" b="1" spc="3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1373CEC9-CE27-438C-8981-DE90EEC6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834" y="3705840"/>
            <a:ext cx="2252137" cy="320381"/>
          </a:xfrm>
          <a:custGeom xmlns:a="http://schemas.openxmlformats.org/drawingml/2006/main">
            <a:rect l="l" t="t" r="r" b="b"/>
            <a:pathLst>
              <a:path w="3547" h="505">
                <a:moveTo>
                  <a:pt x="259" y="0"/>
                </a:moveTo>
                <a:cubicBezTo>
                  <a:pt x="307" y="0"/>
                  <a:pt x="346" y="6"/>
                  <a:pt x="379" y="19"/>
                </a:cubicBezTo>
                <a:lnTo>
                  <a:pt x="379" y="119"/>
                </a:lnTo>
                <a:cubicBezTo>
                  <a:pt x="346" y="100"/>
                  <a:pt x="308" y="90"/>
                  <a:pt x="266" y="90"/>
                </a:cubicBezTo>
                <a:cubicBezTo>
                  <a:pt x="219" y="90"/>
                  <a:pt x="181" y="105"/>
                  <a:pt x="152" y="136"/>
                </a:cubicBezTo>
                <a:cubicBezTo>
                  <a:pt x="124" y="166"/>
                  <a:pt x="109" y="206"/>
                  <a:pt x="109" y="255"/>
                </a:cubicBezTo>
                <a:cubicBezTo>
                  <a:pt x="109" y="303"/>
                  <a:pt x="123" y="342"/>
                  <a:pt x="150" y="371"/>
                </a:cubicBezTo>
                <a:cubicBezTo>
                  <a:pt x="177" y="400"/>
                  <a:pt x="214" y="414"/>
                  <a:pt x="260" y="414"/>
                </a:cubicBezTo>
                <a:cubicBezTo>
                  <a:pt x="303" y="414"/>
                  <a:pt x="343" y="404"/>
                  <a:pt x="379" y="383"/>
                </a:cubicBezTo>
                <a:lnTo>
                  <a:pt x="379" y="478"/>
                </a:lnTo>
                <a:cubicBezTo>
                  <a:pt x="343" y="496"/>
                  <a:pt x="297" y="505"/>
                  <a:pt x="240" y="505"/>
                </a:cubicBezTo>
                <a:cubicBezTo>
                  <a:pt x="166" y="505"/>
                  <a:pt x="108" y="483"/>
                  <a:pt x="65" y="439"/>
                </a:cubicBezTo>
                <a:cubicBezTo>
                  <a:pt x="22" y="395"/>
                  <a:pt x="0" y="336"/>
                  <a:pt x="0" y="263"/>
                </a:cubicBezTo>
                <a:cubicBezTo>
                  <a:pt x="0" y="186"/>
                  <a:pt x="24" y="123"/>
                  <a:pt x="72" y="74"/>
                </a:cubicBezTo>
                <a:cubicBezTo>
                  <a:pt x="120" y="25"/>
                  <a:pt x="183" y="0"/>
                  <a:pt x="259" y="0"/>
                </a:cubicBezTo>
                <a:close/>
                <a:moveTo>
                  <a:pt x="3405" y="0"/>
                </a:moveTo>
                <a:cubicBezTo>
                  <a:pt x="3453" y="0"/>
                  <a:pt x="3493" y="6"/>
                  <a:pt x="3525" y="19"/>
                </a:cubicBezTo>
                <a:lnTo>
                  <a:pt x="3525" y="116"/>
                </a:lnTo>
                <a:cubicBezTo>
                  <a:pt x="3493" y="94"/>
                  <a:pt x="3454" y="83"/>
                  <a:pt x="3410" y="83"/>
                </a:cubicBezTo>
                <a:cubicBezTo>
                  <a:pt x="3385" y="83"/>
                  <a:pt x="3364" y="88"/>
                  <a:pt x="3349" y="97"/>
                </a:cubicBezTo>
                <a:cubicBezTo>
                  <a:pt x="3334" y="106"/>
                  <a:pt x="3326" y="119"/>
                  <a:pt x="3326" y="134"/>
                </a:cubicBezTo>
                <a:cubicBezTo>
                  <a:pt x="3326" y="147"/>
                  <a:pt x="3331" y="159"/>
                  <a:pt x="3342" y="169"/>
                </a:cubicBezTo>
                <a:cubicBezTo>
                  <a:pt x="3352" y="180"/>
                  <a:pt x="3378" y="194"/>
                  <a:pt x="3419" y="212"/>
                </a:cubicBezTo>
                <a:cubicBezTo>
                  <a:pt x="3468" y="233"/>
                  <a:pt x="3501" y="255"/>
                  <a:pt x="3519" y="278"/>
                </a:cubicBezTo>
                <a:cubicBezTo>
                  <a:pt x="3538" y="301"/>
                  <a:pt x="3547" y="329"/>
                  <a:pt x="3547" y="361"/>
                </a:cubicBezTo>
                <a:cubicBezTo>
                  <a:pt x="3547" y="407"/>
                  <a:pt x="3530" y="443"/>
                  <a:pt x="3497" y="468"/>
                </a:cubicBezTo>
                <a:cubicBezTo>
                  <a:pt x="3464" y="492"/>
                  <a:pt x="3417" y="505"/>
                  <a:pt x="3356" y="505"/>
                </a:cubicBezTo>
                <a:cubicBezTo>
                  <a:pt x="3300" y="505"/>
                  <a:pt x="3254" y="496"/>
                  <a:pt x="3218" y="477"/>
                </a:cubicBezTo>
                <a:lnTo>
                  <a:pt x="3218" y="373"/>
                </a:lnTo>
                <a:cubicBezTo>
                  <a:pt x="3257" y="406"/>
                  <a:pt x="3302" y="422"/>
                  <a:pt x="3352" y="422"/>
                </a:cubicBezTo>
                <a:cubicBezTo>
                  <a:pt x="3380" y="422"/>
                  <a:pt x="3402" y="417"/>
                  <a:pt x="3416" y="407"/>
                </a:cubicBezTo>
                <a:cubicBezTo>
                  <a:pt x="3430" y="398"/>
                  <a:pt x="3437" y="385"/>
                  <a:pt x="3437" y="370"/>
                </a:cubicBezTo>
                <a:cubicBezTo>
                  <a:pt x="3437" y="357"/>
                  <a:pt x="3432" y="344"/>
                  <a:pt x="3420" y="332"/>
                </a:cubicBezTo>
                <a:cubicBezTo>
                  <a:pt x="3409" y="321"/>
                  <a:pt x="3379" y="305"/>
                  <a:pt x="3331" y="284"/>
                </a:cubicBezTo>
                <a:cubicBezTo>
                  <a:pt x="3254" y="252"/>
                  <a:pt x="3216" y="205"/>
                  <a:pt x="3216" y="143"/>
                </a:cubicBezTo>
                <a:cubicBezTo>
                  <a:pt x="3216" y="98"/>
                  <a:pt x="3234" y="63"/>
                  <a:pt x="3268" y="38"/>
                </a:cubicBezTo>
                <a:cubicBezTo>
                  <a:pt x="3303" y="13"/>
                  <a:pt x="3348" y="0"/>
                  <a:pt x="3405" y="0"/>
                </a:cubicBezTo>
                <a:close/>
                <a:moveTo>
                  <a:pt x="976" y="8"/>
                </a:moveTo>
                <a:lnTo>
                  <a:pt x="1089" y="8"/>
                </a:lnTo>
                <a:lnTo>
                  <a:pt x="1288" y="315"/>
                </a:lnTo>
                <a:cubicBezTo>
                  <a:pt x="1301" y="335"/>
                  <a:pt x="1309" y="348"/>
                  <a:pt x="1312" y="354"/>
                </a:cubicBezTo>
                <a:lnTo>
                  <a:pt x="1314" y="354"/>
                </a:lnTo>
                <a:cubicBezTo>
                  <a:pt x="1312" y="342"/>
                  <a:pt x="1311" y="319"/>
                  <a:pt x="1311" y="286"/>
                </a:cubicBezTo>
                <a:lnTo>
                  <a:pt x="1311" y="8"/>
                </a:lnTo>
                <a:lnTo>
                  <a:pt x="1409" y="8"/>
                </a:lnTo>
                <a:lnTo>
                  <a:pt x="1409" y="496"/>
                </a:lnTo>
                <a:lnTo>
                  <a:pt x="1303" y="496"/>
                </a:lnTo>
                <a:lnTo>
                  <a:pt x="1096" y="180"/>
                </a:lnTo>
                <a:cubicBezTo>
                  <a:pt x="1085" y="164"/>
                  <a:pt x="1078" y="151"/>
                  <a:pt x="1073" y="141"/>
                </a:cubicBezTo>
                <a:lnTo>
                  <a:pt x="1071" y="141"/>
                </a:lnTo>
                <a:cubicBezTo>
                  <a:pt x="1073" y="158"/>
                  <a:pt x="1074" y="184"/>
                  <a:pt x="1074" y="219"/>
                </a:cubicBezTo>
                <a:lnTo>
                  <a:pt x="1074" y="496"/>
                </a:lnTo>
                <a:lnTo>
                  <a:pt x="976" y="496"/>
                </a:lnTo>
                <a:lnTo>
                  <a:pt x="976" y="8"/>
                </a:lnTo>
                <a:close/>
                <a:moveTo>
                  <a:pt x="1470" y="8"/>
                </a:moveTo>
                <a:lnTo>
                  <a:pt x="1852" y="8"/>
                </a:lnTo>
                <a:lnTo>
                  <a:pt x="1852" y="93"/>
                </a:lnTo>
                <a:lnTo>
                  <a:pt x="1713" y="93"/>
                </a:lnTo>
                <a:lnTo>
                  <a:pt x="1713" y="496"/>
                </a:lnTo>
                <a:lnTo>
                  <a:pt x="1609" y="496"/>
                </a:lnTo>
                <a:lnTo>
                  <a:pt x="1609" y="93"/>
                </a:lnTo>
                <a:lnTo>
                  <a:pt x="1470" y="93"/>
                </a:lnTo>
                <a:lnTo>
                  <a:pt x="1470" y="8"/>
                </a:lnTo>
                <a:close/>
                <a:moveTo>
                  <a:pt x="1921" y="8"/>
                </a:moveTo>
                <a:lnTo>
                  <a:pt x="2198" y="8"/>
                </a:lnTo>
                <a:lnTo>
                  <a:pt x="2198" y="93"/>
                </a:lnTo>
                <a:lnTo>
                  <a:pt x="2024" y="93"/>
                </a:lnTo>
                <a:lnTo>
                  <a:pt x="2024" y="208"/>
                </a:lnTo>
                <a:lnTo>
                  <a:pt x="2186" y="208"/>
                </a:lnTo>
                <a:lnTo>
                  <a:pt x="2186" y="293"/>
                </a:lnTo>
                <a:lnTo>
                  <a:pt x="2024" y="293"/>
                </a:lnTo>
                <a:lnTo>
                  <a:pt x="2024" y="411"/>
                </a:lnTo>
                <a:lnTo>
                  <a:pt x="2209" y="411"/>
                </a:lnTo>
                <a:lnTo>
                  <a:pt x="2209" y="496"/>
                </a:lnTo>
                <a:lnTo>
                  <a:pt x="1921" y="496"/>
                </a:lnTo>
                <a:lnTo>
                  <a:pt x="1921" y="8"/>
                </a:lnTo>
                <a:close/>
                <a:moveTo>
                  <a:pt x="2296" y="8"/>
                </a:moveTo>
                <a:lnTo>
                  <a:pt x="2409" y="8"/>
                </a:lnTo>
                <a:lnTo>
                  <a:pt x="2608" y="315"/>
                </a:lnTo>
                <a:cubicBezTo>
                  <a:pt x="2621" y="335"/>
                  <a:pt x="2629" y="348"/>
                  <a:pt x="2632" y="354"/>
                </a:cubicBezTo>
                <a:lnTo>
                  <a:pt x="2634" y="354"/>
                </a:lnTo>
                <a:cubicBezTo>
                  <a:pt x="2632" y="342"/>
                  <a:pt x="2631" y="319"/>
                  <a:pt x="2631" y="286"/>
                </a:cubicBezTo>
                <a:lnTo>
                  <a:pt x="2631" y="8"/>
                </a:lnTo>
                <a:lnTo>
                  <a:pt x="2729" y="8"/>
                </a:lnTo>
                <a:lnTo>
                  <a:pt x="2729" y="496"/>
                </a:lnTo>
                <a:lnTo>
                  <a:pt x="2623" y="496"/>
                </a:lnTo>
                <a:lnTo>
                  <a:pt x="2416" y="180"/>
                </a:lnTo>
                <a:cubicBezTo>
                  <a:pt x="2405" y="164"/>
                  <a:pt x="2398" y="151"/>
                  <a:pt x="2393" y="141"/>
                </a:cubicBezTo>
                <a:lnTo>
                  <a:pt x="2391" y="141"/>
                </a:lnTo>
                <a:cubicBezTo>
                  <a:pt x="2393" y="158"/>
                  <a:pt x="2394" y="184"/>
                  <a:pt x="2394" y="219"/>
                </a:cubicBezTo>
                <a:lnTo>
                  <a:pt x="2394" y="496"/>
                </a:lnTo>
                <a:lnTo>
                  <a:pt x="2296" y="496"/>
                </a:lnTo>
                <a:lnTo>
                  <a:pt x="2296" y="8"/>
                </a:lnTo>
                <a:close/>
                <a:moveTo>
                  <a:pt x="2790" y="8"/>
                </a:moveTo>
                <a:lnTo>
                  <a:pt x="3172" y="8"/>
                </a:lnTo>
                <a:lnTo>
                  <a:pt x="3172" y="93"/>
                </a:lnTo>
                <a:lnTo>
                  <a:pt x="3033" y="93"/>
                </a:lnTo>
                <a:lnTo>
                  <a:pt x="3033" y="496"/>
                </a:lnTo>
                <a:lnTo>
                  <a:pt x="2929" y="496"/>
                </a:lnTo>
                <a:lnTo>
                  <a:pt x="2929" y="93"/>
                </a:lnTo>
                <a:lnTo>
                  <a:pt x="2790" y="93"/>
                </a:lnTo>
                <a:lnTo>
                  <a:pt x="2790" y="8"/>
                </a:lnTo>
                <a:close/>
                <a:moveTo>
                  <a:pt x="661" y="90"/>
                </a:moveTo>
                <a:cubicBezTo>
                  <a:pt x="620" y="90"/>
                  <a:pt x="588" y="105"/>
                  <a:pt x="564" y="135"/>
                </a:cubicBezTo>
                <a:cubicBezTo>
                  <a:pt x="541" y="166"/>
                  <a:pt x="529" y="205"/>
                  <a:pt x="529" y="253"/>
                </a:cubicBezTo>
                <a:cubicBezTo>
                  <a:pt x="529" y="300"/>
                  <a:pt x="541" y="339"/>
                  <a:pt x="564" y="369"/>
                </a:cubicBezTo>
                <a:cubicBezTo>
                  <a:pt x="586" y="399"/>
                  <a:pt x="618" y="414"/>
                  <a:pt x="658" y="414"/>
                </a:cubicBezTo>
                <a:cubicBezTo>
                  <a:pt x="699" y="414"/>
                  <a:pt x="730" y="400"/>
                  <a:pt x="753" y="371"/>
                </a:cubicBezTo>
                <a:cubicBezTo>
                  <a:pt x="776" y="342"/>
                  <a:pt x="787" y="303"/>
                  <a:pt x="787" y="255"/>
                </a:cubicBezTo>
                <a:cubicBezTo>
                  <a:pt x="787" y="204"/>
                  <a:pt x="776" y="164"/>
                  <a:pt x="754" y="134"/>
                </a:cubicBezTo>
                <a:cubicBezTo>
                  <a:pt x="732" y="105"/>
                  <a:pt x="701" y="90"/>
                  <a:pt x="661" y="90"/>
                </a:cubicBezTo>
                <a:close/>
                <a:moveTo>
                  <a:pt x="664" y="0"/>
                </a:moveTo>
                <a:cubicBezTo>
                  <a:pt x="733" y="0"/>
                  <a:pt x="790" y="23"/>
                  <a:pt x="832" y="70"/>
                </a:cubicBezTo>
                <a:cubicBezTo>
                  <a:pt x="875" y="116"/>
                  <a:pt x="896" y="176"/>
                  <a:pt x="896" y="248"/>
                </a:cubicBezTo>
                <a:cubicBezTo>
                  <a:pt x="896" y="324"/>
                  <a:pt x="874" y="386"/>
                  <a:pt x="830" y="434"/>
                </a:cubicBezTo>
                <a:cubicBezTo>
                  <a:pt x="785" y="481"/>
                  <a:pt x="727" y="505"/>
                  <a:pt x="656" y="505"/>
                </a:cubicBezTo>
                <a:cubicBezTo>
                  <a:pt x="586" y="505"/>
                  <a:pt x="529" y="482"/>
                  <a:pt x="486" y="436"/>
                </a:cubicBezTo>
                <a:cubicBezTo>
                  <a:pt x="442" y="390"/>
                  <a:pt x="420" y="331"/>
                  <a:pt x="420" y="259"/>
                </a:cubicBezTo>
                <a:cubicBezTo>
                  <a:pt x="420" y="182"/>
                  <a:pt x="442" y="120"/>
                  <a:pt x="487" y="72"/>
                </a:cubicBezTo>
                <a:cubicBezTo>
                  <a:pt x="532" y="24"/>
                  <a:pt x="590" y="0"/>
                  <a:pt x="664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03379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270DE2E-F66F-4F9A-8DC1-B810B4B56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背景：一次选数要服务多种微调配置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B44491-9A3F-4C92-8C45-078744F3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数据高效微调减少样本，参数高效微调减少可训练参数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246B35-7444-4BDB-A026-5B158772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860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数据侧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B573DA-7E18-4F90-8783-1FCEF3C6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19350"/>
            <a:ext cx="4343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E2E4E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C92729-46A4-42AD-8988-D9E23207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19350"/>
            <a:ext cx="438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4874C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4CE69-F63B-485A-B4EF-D0EFA4D0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7660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300K 候选样本中选取 30K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E12C1-5C6D-42CF-815C-B2827E18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767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参数侧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55312D-080B-4ADD-9CFF-BA04D33D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0C22A2-D8B8-4AEE-A42D-94F790DD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9F8A71-EB67-4B24-A9FF-9D716AAE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9C179F-4D3E-4440-A08D-EDB9989D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5E4346-EC68-4D0B-9AEF-77D34A0E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C953AD-0FF4-443E-9AFB-FE1D4861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F01937-16CF-43D5-8249-66758FD3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E7D733-49E5-4CE1-A9F0-5BF50D00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44990E-9876-4081-824B-EF87DD48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DB61F7-7B21-49A4-8D1A-11C83790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020152-BED0-4B0F-A327-EBECE51B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F25EAC-5D28-47D4-8DAC-2B925397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23B900-2BD3-4CF7-B166-B0DEFABD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768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骨干大部分冻结，更新少量参数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784D1A-CAEE-4BF1-AF70-9004A9D8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24100"/>
            <a:ext cx="0" cy="309562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78EFDB-CF42-4DF6-9A0A-A7726B8A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574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真实使用场景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9108C6-E0E3-48DF-A0E0-E0575546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43250"/>
            <a:ext cx="35242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一个骨干</a:t>
            </a:r>
          </a:p>
          <a:p xmlns:a="http://schemas.openxmlformats.org/drawingml/2006/main">
            <a:pPr algn="l">
              <a:defRPr sz="24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多类任务</a:t>
            </a:r>
          </a:p>
          <a:p xmlns:a="http://schemas.openxmlformats.org/drawingml/2006/main">
            <a:pPr algn="l">
              <a:defRPr sz="24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多套 PEFT 配置</a:t>
            </a:r>
          </a:p>
          <a:p xmlns:a="http://schemas.openxmlformats.org/drawingml/2006/main">
            <a:pPr algn="l">
              <a:defRPr sz="24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多种数据预算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3507DA-F511-4B4F-A37B-7969C8C7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91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关键问题：配置变了，原来的数据选择还能直接复用吗？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F175FF-6034-4F76-8F1C-8315DC8A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300K 候选与 10% 预算来自本文实验设定；灰色表示未选数据或冻结参数，蓝色表示参与训练的部分。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503B0D-D66D-42AB-B0D0-E678485A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009218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270DE2E-F66F-4F9A-8DC1-B810B4B56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现有方法：目标针对性与重复计算之间的矛盾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90D4C-96FF-4686-A838-48F93675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241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任务通用排序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A75C4-B319-44DC-9FFD-878889C1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81325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质量、表示或代理模型评分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DCA81-7DCF-4800-9652-1FA4BDA6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90775"/>
            <a:ext cx="2381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633A0A-8E59-4269-9CD5-CCF12A06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40318"/>
            <a:ext cx="215265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同一任务排序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47634-3974-409C-A1AE-E089BCA3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600325"/>
            <a:ext cx="495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BE7206-CBE0-42F6-BC65-4F3C3EC6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90775"/>
            <a:ext cx="38004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B4E65-AFAF-4900-8587-6CFC2E90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40318"/>
            <a:ext cx="3571875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复用于多个 PEFT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CC200E-0880-4A7A-98C8-64F19EC9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09925"/>
            <a:ext cx="38004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缺少目标配置 p 的信息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7F09E3-D919-4847-A003-2569DC50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76650"/>
            <a:ext cx="107632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031682-A718-4CB4-B063-08143E4B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逐配置 LESS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E535BE-2E53-4818-850D-CBD007F4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053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读取目标 PEFT 的梯度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D73BFE-5E7C-4811-9D98-348E3CC1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14800"/>
            <a:ext cx="31527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05F38E-7163-4D43-AEEC-E94D5F78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64343"/>
            <a:ext cx="2924175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每个配置重建梯度库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03D085-19A8-4695-AC47-7EFB3464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324350"/>
            <a:ext cx="4476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EA12F9-F104-46EA-AAC9-E8F3DE5E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14800"/>
            <a:ext cx="31146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F73180-B4C3-4924-AF6C-7812C188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4343"/>
            <a:ext cx="2886075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各目标独立排序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6460C-45AE-4A3F-95AA-D932789A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33950"/>
            <a:ext cx="31146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新增配置带来重复建库成本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11638B-CF93-4218-B473-A90E1886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91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本文目标：保留目标条件，同时共享昂贵的选择计算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CC0A6A-287E-4B40-AF88-2946B425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LESS 指本文采用的逐 PEFT 建库实现；RDS+ 与 Influence 为论文实现的对照基线。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7CE93D-6C22-4095-9ED2-CCDFDCF7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009218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270DE2E-F66F-4F9A-8DC1-B810B4B56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动机：不同 PEFT 暴露不同的更新方向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09BD9-663E-49BE-B149-55B788DC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训练样本相同，可更新的位置、算子和容量仍然不同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69572A-F7A9-409D-A9CC-48620D9D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329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LoRA：低秩增量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B404A-B764-41E4-9D51-B661DAB8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333625"/>
            <a:ext cx="329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IA3：乘性缩放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9F2403-4C47-43A5-96FA-D855B545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333625"/>
            <a:ext cx="329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Adapter：瓶颈更新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E5D701-6BD3-486E-962F-B657F261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81350"/>
            <a:ext cx="1190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CFD5D4-1C5F-410C-9DFA-DE3943F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320415"/>
            <a:ext cx="96202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模块输入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0FC98B-EAD2-4C1C-8FB7-3C4511ED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37185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BD16FC-5D66-442E-9673-60065A1E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057525"/>
            <a:ext cx="13525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3EAF7"/>
          </a:solidFill>
          <a:ln xmlns:a="http://schemas.openxmlformats.org/drawingml/2006/main" w="12383">
            <a:solidFill>
              <a:srgbClr val="E3EAF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A3156D-F69F-4013-A6EC-EC2206E3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291840"/>
            <a:ext cx="1123950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W + BA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365300-4F22-4B52-ADAF-50486815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14825"/>
            <a:ext cx="3295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选定投影上的加性更新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由秩和目标模块限制容量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21D0A1-595F-4FCA-AC81-BACF75B4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95525"/>
            <a:ext cx="0" cy="307657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C7F276-B0FD-42A3-BC69-03E2C4E3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181350"/>
            <a:ext cx="1190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C13E1A-0191-4561-ADDB-105755DE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320415"/>
            <a:ext cx="96202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模块输入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D81CBB-376C-47A4-A1E3-A9E16207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7185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5F7981-EB30-47B5-92C1-9303DD52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057525"/>
            <a:ext cx="13525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3EAF7"/>
          </a:solidFill>
          <a:ln xmlns:a="http://schemas.openxmlformats.org/drawingml/2006/main" w="12383">
            <a:solidFill>
              <a:srgbClr val="E3EAF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FFE282-CAC3-4125-835A-21102967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291840"/>
            <a:ext cx="1123950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l ⊙ 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19127F-6C1D-45ED-B537-AA7D3B2C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314825"/>
            <a:ext cx="3295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对激活按通道缩放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更新形式不同于加性增量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005AE2-8E64-4BB5-A41E-575ADCD4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295525"/>
            <a:ext cx="0" cy="307657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11E32D-A726-46C9-A0D4-89298FFF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181350"/>
            <a:ext cx="1190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A53602-D0D0-4492-93ED-40123894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320415"/>
            <a:ext cx="96202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模块输入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C2F706-CDBC-41BD-8D57-23233462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7185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8B911D-2CF4-40BE-BFC3-88F9FA21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057525"/>
            <a:ext cx="13525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3EAF7"/>
          </a:solidFill>
          <a:ln xmlns:a="http://schemas.openxmlformats.org/drawingml/2006/main" w="12383">
            <a:solidFill>
              <a:srgbClr val="E3EAF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F12E72-E1DA-471E-8886-41C124BB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331845"/>
            <a:ext cx="1123950" cy="356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下投影 / 上投影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B5BD7B-A245-4792-8C50-C120FC97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14825"/>
            <a:ext cx="3295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通过额外瓶颈路径更新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作用于残差输出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85CD32-B5E0-439E-846A-8DCE5EFC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91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样本价值应相对于“目标任务 + 可训练子空间”来定义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F670F8-AE98-4C5D-A266-A05DA3B5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结构示意：不是原始参数梯度等价关系。本文通过共同模块输出坐标构建可复用的近似信号。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D5E9B5-50C8-4769-85FB-771A8C12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009218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270DE2E-F66F-4F9A-8DC1-B810B4B56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动机实验：直接复用子集会丢失配置针对性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0D08C-AB01-4085-B876-E66BC776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同一任务使用源配置 L-r8-qv 选出的子集，再迁移到其他 PEFT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44EA1B-7C77-431E-B369-0FD18D7A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47950"/>
            <a:ext cx="285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3EAF7"/>
          </a:solidFill>
          <a:ln xmlns:a="http://schemas.openxmlformats.org/drawingml/2006/main" w="12383">
            <a:solidFill>
              <a:srgbClr val="E3EAF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62C7A3-4D4D-4E74-B80E-8D437E62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881313"/>
            <a:ext cx="2628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源配置选出的子集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AFB388-9FB1-4144-94ED-6F94877E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52387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52DC6-7D08-4CF4-9429-621C76CE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00300"/>
            <a:ext cx="0" cy="13716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0A10D8-2262-4A1C-B1F1-B858ED59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00300"/>
            <a:ext cx="3333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129932-40ED-4654-8CE0-F355B1DF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09800"/>
            <a:ext cx="17621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DED15C-4518-4EF1-8589-C8EB3ACF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23148"/>
            <a:ext cx="1533525" cy="42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0E7356-AE79-410C-9005-9C8860B5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09900"/>
            <a:ext cx="3333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4E5988-446D-4927-AC2C-C16E3B7A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19400"/>
            <a:ext cx="17621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137A58-3693-4B1A-9492-4BB4AB47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32748"/>
            <a:ext cx="1533525" cy="42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IA3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B9DD21-4F70-4E14-9E80-A20C3EF3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619500"/>
            <a:ext cx="3333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2D66A4-CC93-4E15-B5F9-7DD2B4C2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29000"/>
            <a:ext cx="17621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A34810-DD68-40A9-A21C-7D1B47A6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542348"/>
            <a:ext cx="1533525" cy="42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其他 LoRA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C06007-C9AC-4E68-A399-B0B50737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76725"/>
            <a:ext cx="5829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省去重复建库，</a:t>
            </a:r>
          </a:p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但沿用了源配置的偏好</a:t>
            </a:r>
          </a:p>
        </p:txBody>
      </p:sp>
      <p:graphicFrame>
        <p:nvGraphicFramePr>
          <p:cNvPr id="45" name=""/>
          <p:cNvGraphicFramePr/>
          <p:nvPr/>
        </p:nvGraphicFramePr>
        <p:xfrm>
          <a:off xmlns:a="http://schemas.openxmlformats.org/drawingml/2006/main" x="7134225" y="2390775"/>
          <a:ext xmlns:a="http://schemas.openxmlformats.org/drawingml/2006/main" cx="4343400" cy="2914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90850"/>
                <a:gridCol w="1352550"/>
              </a:tblGrid>
              <a:tr h="728663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选择策略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宏平均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</a:tr>
              <a:tr h="728663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各配置各自运行 LESS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35.14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8663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跨配置复用源 LESS 子集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34.24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  <a:tr h="728663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任务表示基线 RDS+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34.44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A16AEE-8E41-4BE4-B437-9C8943B0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91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复用计算能力，并为每个目标重新生成子集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BD63B3-7F02-464A-9E35-B6D394CE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每个任务各有一个源子集，再跨 5 个目标 PEFT 复用；不是所有任务共用同一子集。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E017B2-357B-4664-B9EE-3BD5FF56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009218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270DE2E-F66F-4F9A-8DC1-B810B4B56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问题定义：预测样本在目标条件下的价值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5C5BEB-59B8-4F4C-B8F9-333D296D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5734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64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u(x, p, t)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18FA4-DDAC-42AE-9FC0-AFB1E05A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47875"/>
            <a:ext cx="48291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样本 x 在配置 p 下训练，</a:t>
            </a:r>
          </a:p>
          <a:p xmlns:a="http://schemas.openxmlformats.org/drawingml/2006/main">
            <a:pPr algn="l">
              <a:def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对任务 t 能带来多少帮助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9EC568-AADB-4FB6-8272-221F8555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90925"/>
            <a:ext cx="3286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7946CD-36D4-4B72-A3DE-61BAE1C2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05250"/>
            <a:ext cx="6572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405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5B4C54-7A73-4915-AAEB-934F5769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052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候选样本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4B81AC-6AA6-4303-850E-35EDD45D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3286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指令与回答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28DDF3-94D5-4C14-A020-433F1222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590925"/>
            <a:ext cx="3286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4D7618-EEEB-4B0B-BECE-8A0272F6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905250"/>
            <a:ext cx="6572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405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2603B3-FD10-4039-960F-3999EF99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9052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PEFT 配置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A8F543-A9A1-4351-9D6A-16AC54CE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572000"/>
            <a:ext cx="3286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位置、算子、容量、配方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FC4D1A-2001-4717-BD9B-36512DE5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590925"/>
            <a:ext cx="3286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5F828D-401C-4BDF-A9CB-BAAE51B6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905250"/>
            <a:ext cx="6572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405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18494E-B021-4CD5-B959-E914C035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9052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目标任务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803418-1545-4780-9AC7-369C46B2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572000"/>
            <a:ext cx="3286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32 条训练或开发样本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8CCA51-EBE6-427E-B3E1-C6E35779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91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在预算 B 内选出高效用子集，避免枚举并训练大量候选子集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976C21-7D08-499C-91F7-1C17BA53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测试集只定义最终评价目标，不参与任务表征、效用标签、评分器训练或选数。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C98CFD-ABA5-46FC-994E-525E416B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009218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270DE2E-F66F-4F9A-8DC1-B810B4B56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方法总览：共享监督信号，学习目标条件评分器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3787F-6403-4D6F-895F-5BCF3D31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335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离线准备：共享的前期投入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8E8B0C-D760-4A09-AC2A-FDD7E4E2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533525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在线选数：每个目标独立生成子集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65A4E-5209-42BD-916D-4936014A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55530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54C3DC-0524-48B5-A64E-8B086AF8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16505"/>
            <a:ext cx="5324475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候选样本 / 任务样本 / PEFT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0E1202-4D4A-41AE-86E7-D95616CD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81325"/>
            <a:ext cx="0" cy="46672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C57ECC-FB27-4120-88CF-EE66FB80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81325"/>
            <a:ext cx="0" cy="46672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292D7A-A771-4578-BD19-2DC3A2FC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295650"/>
            <a:ext cx="266700" cy="3143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6977F7-F426-482C-AEB8-DEF3713B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95650"/>
            <a:ext cx="266700" cy="3143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CA1E3F-3BCB-413B-93F4-61521A1D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48075"/>
            <a:ext cx="2571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FBED51-61B3-47DC-A900-F31588E3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90010"/>
            <a:ext cx="2343150" cy="42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共享位点与三类表征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5F5FAD-6955-41DB-9322-1EA03164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48075"/>
            <a:ext cx="2571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4BE545-0AA5-422C-B114-A0C89067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78580"/>
            <a:ext cx="234315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多保真效用标签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4783F7-8DC3-460A-881D-261166E1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429125"/>
            <a:ext cx="0" cy="37147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0015D6-6478-43C1-B0AD-F9121BBA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29125"/>
            <a:ext cx="0" cy="37147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FEFA08-0B05-4A87-B0B2-83C24850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800600"/>
            <a:ext cx="2905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68179B-F10B-4669-B04C-ACCF2CF4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800600"/>
            <a:ext cx="2667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38B2F6-B391-480B-9CB7-0C50CDB3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33975"/>
            <a:ext cx="48863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3EAF7"/>
          </a:solidFill>
          <a:ln xmlns:a="http://schemas.openxmlformats.org/drawingml/2006/main" w="12383">
            <a:solidFill>
              <a:srgbClr val="E3EAF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52301D-1C7B-486B-BD1E-360466AA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295900"/>
            <a:ext cx="46577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训练一个条件评分器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B01990-E54F-4559-8D38-7DFB2932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467350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4874C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55BB5E-8FDC-4581-96B1-C9BA2CC3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0" cy="13906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4874C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048137-24DE-4202-B957-2A221A96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62400"/>
            <a:ext cx="6096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32E7D0-9487-4120-B8EB-214FBFF2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600450"/>
            <a:ext cx="971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复用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00735A-0796-46C2-8745-D8599A4C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381250"/>
            <a:ext cx="38671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F7ED81-F703-4481-82AB-DC2D3E28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516505"/>
            <a:ext cx="363855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目标配置 p + 任务 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32CB12-300C-4094-9003-634D9D49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124200"/>
            <a:ext cx="238125" cy="381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836A4E-164B-4330-B21C-A47701C5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667125"/>
            <a:ext cx="386715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E3EAF7"/>
          </a:solidFill>
          <a:ln xmlns:a="http://schemas.openxmlformats.org/drawingml/2006/main" w="12383">
            <a:solidFill>
              <a:srgbClr val="E3EAF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65FB2F-15E8-4D81-82D7-998930F0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921443"/>
            <a:ext cx="363855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评分器 + 缓存样本特征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EFCE42-9B41-45DA-819C-80532C4D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667250"/>
            <a:ext cx="238125" cy="2952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221A1C-03BB-4821-8C7F-EDECE9E1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5133975"/>
            <a:ext cx="38671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2CEB37-D663-4CDC-8F74-FF690938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324475"/>
            <a:ext cx="3638550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保守评分 / 聚类配额 / 子集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522309-A6F6-4078-B099-DAD47289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已见与近支持目标在线使用缓存和前向评分；结构偏移较大的目标需校准或回退逐目标选择。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09AF5F-2C77-4A81-A321-331FCBA2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009218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270DE2E-F66F-4F9A-8DC1-B810B4B56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方法一：用 24 个共享位点替代异形参数坐标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D8D1C-1413-446E-BB24-83FD3FB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不同参数张量难以共用梯度库，模块输出提供共同的观察位置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D5177-8A91-4919-921B-883548DA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479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Attention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3751E-1454-453B-9FAE-ED6720E7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479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MLP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E8AB5A-6EDE-4384-940F-5532417E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479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残差输出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41ECA7-0855-47E0-96B8-5AE54627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57475"/>
            <a:ext cx="638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层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72544-3931-4082-B13F-4BE1513C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574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B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A6F046-EA43-455F-AC39-FD95C8FB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574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6D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7985B-A38B-4597-B9B8-5E99A47F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574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3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A2C1CF-3740-48EE-9B98-4CB6146D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62275"/>
            <a:ext cx="638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层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B77C4E-2511-47C8-89C7-B498770C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622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B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E9C258-B38C-47CD-8829-00063377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622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6D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DA9C79-B1FF-4E9B-BF93-6A07CF6A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622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3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DF3063-63E2-47E8-AA2A-6FEACCDA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67075"/>
            <a:ext cx="638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层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DE0DB2-23D5-4313-81F0-DC697BC9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670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B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001059-4205-4B17-9296-90A66FF3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670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6D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2AC39D-8425-4CA5-AB00-3256AE6C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670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3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CB3576-3B7E-4E2E-A2BD-3F8D7373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638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层 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A8C0EB-8431-455D-A26C-B4333659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718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B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E10DAE-737F-473E-881C-0ECFF3CE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718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6D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33C944-91E4-407E-BC09-4EEC6D03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718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3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F80D2A-5F7D-48DE-9915-3B064063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6675"/>
            <a:ext cx="638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层 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AC3BF4-D22C-4344-95AB-3D4B7CB6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766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B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A0E732-631B-4D8C-B67E-6DA82D05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766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6D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114EF5-0A66-46F8-A982-5B5148A7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766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3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3BBB7C-4DB5-42CA-A4FA-F105AB27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81475"/>
            <a:ext cx="638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层 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F097A3-8C4D-4737-8F9E-5E97FBD2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814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B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3D6388-71DB-4791-B3E3-3753D37B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814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6D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C6F577-DDC6-450F-8975-F707B160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814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3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85C773-4824-4C84-8BDC-B452AC95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86275"/>
            <a:ext cx="638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层 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D6EDC5-227E-4C87-835A-086D221D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862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B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028BFD-F19C-40D1-94D2-A24F2788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6D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426DC4-7AC6-4B4C-9757-66B46AB1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862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3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0BAE46-7D32-4763-9F2F-B0FA9597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638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层 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BDB10B-2B21-4AE9-8EB4-529A97F0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910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B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B05E4A-21EA-4664-BE68-6B0B38A2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910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6D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248B55-5B57-4EDB-A1C8-E3A3EE45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910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3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59A5A8-E453-499E-B2C2-549A1618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05425"/>
            <a:ext cx="4467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八个均匀采样层 × 三类模块输出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EF729B-DDF3-45C4-8363-4018FC29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352675"/>
            <a:ext cx="4886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配置映射到同一组位点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2EF9C2-FF5B-4C53-AFE9-DA58F58A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181350"/>
            <a:ext cx="4810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注意力 LoRA、IA3-attn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47EB38-8D02-49BC-9E0F-5EBE056B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581400"/>
            <a:ext cx="481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对应 Attention 输出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16FF926-B83E-485B-97C8-4CC0D8D9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171950"/>
            <a:ext cx="4810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MLP LoRA、IA3-FFN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987F1BD-8B81-4E02-B88E-510EFAE8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572000"/>
            <a:ext cx="481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对应 MLP 输出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F9DE37A-BEE8-43E7-AA32-11F0D1EC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219700"/>
            <a:ext cx="481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Adapter 对应残差输出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4ED53A1-DBCB-43C8-A21B-2CB5100D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位点梯度通过链式法则关联参数更新，但只提供结构近似；更新算子与容量仍由 PEFT 编码保留。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102409-F166-4480-B957-30BBE95C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0092183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270DE2E-F66F-4F9A-8DC1-B810B4B56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方法二：三类表征分别描述样本、任务与更新方式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189779-B1C5-4C37-9491-DF3FDBD8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47900"/>
            <a:ext cx="2009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样本 zₓ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9F123-DADC-4E5B-B7AF-0D9BB431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432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848 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BE1F2-429B-4F15-8292-8D577570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24790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2383">
            <a:solidFill>
              <a:srgbClr val="778EA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CD9C7-6942-4231-9590-9C2678D3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52675"/>
            <a:ext cx="430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语义 768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C6BF6B-5007-439E-87CD-FCFF8542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24790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869E"/>
          </a:solidFill>
          <a:ln xmlns:a="http://schemas.openxmlformats.org/drawingml/2006/main" w="12383">
            <a:solidFill>
              <a:srgbClr val="87869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91732-203E-4978-859F-1794CC84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52675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统计 16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0A792D-EB0F-4DD5-B7B1-E3D791A6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247900"/>
            <a:ext cx="2019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4874C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EC3D2-40FB-49F8-9BA3-FFCFAE56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5267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激活 64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0387A9-8E49-4364-8D45-24B30A47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905125"/>
            <a:ext cx="802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冻结语义编码器，补充长度、损失、熵和模块激活特征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E34192-DF6C-4D1C-8408-9025A7CD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2009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PEFT zₚ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7F5CD1-858A-40A6-8920-65D4CDB5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14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128 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A1C979-E421-4741-8BEC-7F86F700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61950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2383">
            <a:solidFill>
              <a:srgbClr val="778EA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1FA072-355E-4029-9B5F-C622D417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24275"/>
            <a:ext cx="430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位点 / 算子 96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D32C81-DFA2-4B9E-BA8E-8C3BE4C6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61950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869E"/>
          </a:solidFill>
          <a:ln xmlns:a="http://schemas.openxmlformats.org/drawingml/2006/main" w="12383">
            <a:solidFill>
              <a:srgbClr val="87869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59EEEC-F271-4977-A1DC-6D029B75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24275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容量 16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BE83AD-417E-4361-9392-A7CD5519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619500"/>
            <a:ext cx="2019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4874C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48918B-E45B-4DCC-9FEC-87A1DA5D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72427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配方 16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22F72B-6719-499E-95B8-B98C4E5D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276725"/>
            <a:ext cx="802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24 位点 × 4 通道，再描述 rank、瓶颈宽度及训练配方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62643B-F32F-4E84-A81E-BCA4CCEA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91100"/>
            <a:ext cx="2009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任务 zₜ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8913DF-AA3D-46E2-8100-3D43B3E1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864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848 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68D1A2-F6FD-4FBE-BC7B-60CD9991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991100"/>
            <a:ext cx="8020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2383">
            <a:solidFill>
              <a:srgbClr val="778EA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197804-7DC3-43AE-94FC-E81F9C9F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95875"/>
            <a:ext cx="784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32 条任务样本的表示均值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DF0627-DEA2-44FE-9474-AA338651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648325"/>
            <a:ext cx="802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用小型样本集表达目标需求；单独缓存的位点梯度仅用于构造标签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539E23-682D-4B9E-B427-9CB78F4A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分块宽度为版式示意，不按维度比例缩放。任务梯度为 24 × 256，位于 zₜ 之外。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085A3A-3456-43DD-B17A-760DF821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0092183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270DE2E-F66F-4F9A-8DC1-B810B4B56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方法三：用梯度对齐构造低成本监督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1D5D0-3A2C-4FCD-B4EB-FD649276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问题：样本的更新方向，是否与目标任务需要的方向一致？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5C928-5B0A-4458-B730-F812EB6E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28900"/>
            <a:ext cx="34385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FB280-DE1B-49CB-9E20-6250D354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825115"/>
            <a:ext cx="3209925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样本 x 的位点梯度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1E54C1-A181-43B0-91D9-5AAE4CF1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14825"/>
            <a:ext cx="34385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2B037F-8DEA-474A-A92C-B719A45F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11040"/>
            <a:ext cx="3209925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任务样本的平均梯度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07593B-2F0E-4F71-985D-D994379B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90850"/>
            <a:ext cx="48577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1774D3-25E6-4320-9ABE-B3785BA4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676775"/>
            <a:ext cx="48577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28EFC9-BF34-4B80-A861-F65FF3FE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990850"/>
            <a:ext cx="0" cy="168592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DA9343-5F62-470B-9B01-61BD77CA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95675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D13DA3-0085-4F47-A05B-98323A04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067050"/>
            <a:ext cx="29146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3EAF7"/>
          </a:solidFill>
          <a:ln xmlns:a="http://schemas.openxmlformats.org/drawingml/2006/main" w="12383">
            <a:solidFill>
              <a:srgbClr val="E3EAF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9D18E8-C6F6-402F-B81E-DA32F246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429953"/>
            <a:ext cx="2686050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逐位点计算余弦相似度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000568-2888-4B0B-9240-6941525F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3243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gₓ 与 gₜ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358A04-2550-4034-AB01-D7858DB7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495675"/>
            <a:ext cx="3714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2A5AAE-3E09-4DEA-BF56-DA60B0FD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95600"/>
            <a:ext cx="24384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目标 PEFT 决定</a:t>
            </a:r>
          </a:p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参与哪些位点</a:t>
            </a:r>
          </a:p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以及各位点权重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A98C3F-8A1A-46B2-AF61-357B7880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代理效用 = Σ（PEFT 位点权重 × 梯度余弦相似度）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8A33EB-DCE7-4CC2-8EC9-63F8109E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每个位点梯度随机投影至 256 维并归一化；在同一 (p,t) 桶内做秩归一化。共享信号可用于多个配置。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79D6A2-54AC-41B7-828D-40F8082A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0092183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270DE2E-F66F-4F9A-8DC1-B810B4B56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方法四：短更新标签校正代理排序误差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69DD3-E8B6-4A02-AD50-30ABC631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问题：真正进行少量更新后，任务样本集的损失是否下降？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02B56A-4482-4960-A42A-488FE3B0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71750"/>
            <a:ext cx="2876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17DAFA-8957-40E2-9A60-224EF423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802255"/>
            <a:ext cx="264795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基础模型 / 热身检查点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BC47C6-A44B-432F-9D30-28176265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857500"/>
            <a:ext cx="390525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92289D-5804-4BBC-9421-30396FA0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3257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19D7CA-6296-4036-9768-033626A7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13685"/>
            <a:ext cx="3028950" cy="42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目标样本 + 7 条匹配样本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F9B123-5253-4041-9CB8-D27120E3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57500"/>
            <a:ext cx="371475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135784-3D49-4967-AAE1-EC97C439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304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3EAF7"/>
          </a:solidFill>
          <a:ln xmlns:a="http://schemas.openxmlformats.org/drawingml/2006/main" w="12383">
            <a:solidFill>
              <a:srgbClr val="E3EAF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31F456-81B4-43D2-95C4-5C0124DB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802255"/>
            <a:ext cx="281940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执行 1 步 / 4 步 PEFT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8C340C-8FDF-4394-8D3E-A395CE3B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385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Δ = 更新前任务损失 − 更新后任务损失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17507D-F84B-4C00-9550-1ED12B78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91075"/>
            <a:ext cx="107632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1ED94A-5DC3-488C-AF9A-FB35F57B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911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10K 标签预算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FE15CA-E05C-4285-AE69-34971650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81600"/>
            <a:ext cx="2209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覆盖采样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093228-2884-41CC-B4C3-47ADD805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81600"/>
            <a:ext cx="2447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不确定性采样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F8C1FF-4AF2-45BE-AF36-3DAE13E2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181600"/>
            <a:ext cx="2419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边界误差采样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5BF438-66F7-41B5-AC58-2F27F118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19750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先覆盖配置与任务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75F7FF-2AA2-4EDF-9F61-9D5960AF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19750"/>
            <a:ext cx="2447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补充预测不稳定区域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29AE55-A9F5-4263-9C70-E885ABCD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61975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关注选择阈值附近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E31366-D969-4C3A-8C22-697D568A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在相同配置、任务、锚点和步数内比较相对秩；标签近似小批次短期作用，不等同于单样本长期因果贡献。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BD2EA8-0EE2-4998-8C85-F82EA105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0092183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270DE2E-F66F-4F9A-8DC1-B810B4B56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方法五：让配置与任务调节样本评分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0C8A24-15C5-4807-A243-7374351E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71725"/>
            <a:ext cx="24384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C7A6F4-1157-493E-8C91-187E8AC3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25078"/>
            <a:ext cx="2209800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样本表征 zₓ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14F32B-E08F-4E7D-8C7A-EBBC4D51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86225"/>
            <a:ext cx="24384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DE052-7D33-4A9C-B8AC-5E3AEDBF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324350"/>
            <a:ext cx="2209800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配置 zₚ + 任务 zₜ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4219A8-357D-442E-85FB-BBC17B61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590800"/>
            <a:ext cx="3619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FA3449-29C5-45C5-8C85-9D524AAF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71725"/>
            <a:ext cx="206692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916501-530D-481D-9EC5-F925F859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530793"/>
            <a:ext cx="1838325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样本编码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F1F372-71B8-4652-98C5-18DBA5A7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28975"/>
            <a:ext cx="257175" cy="6762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E209C3-3E56-4185-BEC3-A5D7A9D8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371975"/>
            <a:ext cx="3619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132D10-C21E-4E96-8FE8-77D00532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086225"/>
            <a:ext cx="206692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3EAF7"/>
          </a:solidFill>
          <a:ln xmlns:a="http://schemas.openxmlformats.org/drawingml/2006/main" w="12383">
            <a:solidFill>
              <a:srgbClr val="E3EAF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9CB73-E750-475C-8D18-13EDA023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307205"/>
            <a:ext cx="1838325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FiLM 调节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E53BD3-0685-452E-9C1F-99E557C8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71975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F483F1-DD9A-44AD-981D-78220243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86225"/>
            <a:ext cx="26860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8DC6EC-B5D7-4AD3-8124-AC1A30DA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07205"/>
            <a:ext cx="245745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融合与双线性交互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6FE64E-F824-4A74-888C-7A61320F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848225"/>
            <a:ext cx="0" cy="29527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FB2485-1011-4564-BA08-22989696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143500"/>
            <a:ext cx="60388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FA5759-0ADF-4DC3-8F65-2388FDDB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943475"/>
            <a:ext cx="190500" cy="20002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59DC69-C0CA-4FCC-9BD0-7A145D44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9112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配置与任务编码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356A82-47BC-438B-8F2C-8D8D0B4C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3719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1E3821-5A29-4D05-B9F4-2EFB62A5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095750"/>
            <a:ext cx="1619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μ：效用预测</a:t>
            </a:r>
          </a:p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σ：预测噪声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74ADCC-9C7A-46AF-80BB-DB474C19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481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阶段 A：学习代理排序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3674E7-CC95-4065-8263-C1BEDD73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4810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阶段 B：短更新校正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排序 + 回归 + 不确定性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E4BCFA-60C6-4C7B-8838-5602EA60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57850"/>
            <a:ext cx="52101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q = μ − 0.2σ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DBB48C-76CB-4573-B631-7A864774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80072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先理解样本，再用目标条件调整价值判断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13FA8F-B40D-4812-A5FE-96C1B63C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FiLM 用目标信息缩放、平移样本特征；双线性项刻画样本与配置的相容性。σ 用于排序惩罚，不是置信区间。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71FE46-77BA-4A8A-BB44-818A28C7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0092183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270DE2E-F66F-4F9A-8DC1-B810B4B56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方法六：把预算分给不同语义簇，再做簇内选择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EBD6DF-716C-4CE8-A985-4E6FE227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全局 Top-k 可能选中大量近似样本，聚类配额兼顾效用与覆盖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2C974-6F60-4489-B80A-45637BD5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66975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语义簇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59B08-5400-4D47-B504-9011CB11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241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按簇内得分从高到低排列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EB5C2F-1921-48E3-A947-A0460406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02DF95-2ED5-45B6-A48F-025B740F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C4239E-3F25-48E0-A226-6DD0A750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589EA-977D-4250-A1D4-C7477489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4A43B2-E29D-4A6F-81E8-47371D20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1C6670-3E3B-4D11-ADC1-ABD4E793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3F8996-4642-4A5E-A9AA-27029578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FAE3FA-8F3F-4FEF-BBC9-DCFB0910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008E6F-90DD-4535-B677-5AEE6CFB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292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分配 3 个名额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0CE26E-C3E1-4412-A17F-1D3CFF1A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66975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语义簇 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497FEA-882A-4A15-B2C3-015CF83C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241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按簇内得分从高到低排列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A13BE7-C6BF-42CF-814F-D0274778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3E519F-3D9F-4C63-9646-E460B65D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E12F16-B377-4704-B6A1-317F37A5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B87673-DEE4-4424-8B5F-2957717E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F3721A-33E8-4664-9D0F-BFD2C606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5ECFB8-31B0-43C1-A7A6-16A4DA30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7302A6-C98C-4C67-BBEC-D2D4B6D6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2303C4-2D65-42F5-87A0-FECA216B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AF8CE2-38A9-45C3-A6DE-2F534F2A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292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分配 4 个名额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D3B7CA-9325-44EA-9573-3991C4AF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66975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语义簇 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DA13B2-D5FF-4034-9765-C380D471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241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按簇内得分从高到低排列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835628-8FFE-46A1-8229-E9A1C849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EA59EA-80AB-488A-A51D-82428492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5803AC-038C-4B7B-9692-6AF621A7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BD8B33-47DC-4483-86A5-4A88D416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6FAC56-308D-4834-8E3E-A1FC0EE8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AC6258-2A1B-4FF6-804B-972F9B5E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A94C6D-6937-4A5B-A0C0-E52B9BC9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1858D4-EC85-4C6F-8AE9-E6618FBC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C6BAA4-0404-45F4-87F2-118A6FB4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292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分配 5 个名额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9A5DA2D-B8D6-452B-8DD3-F1D725BB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76900"/>
            <a:ext cx="6648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bₖ ∝ (簇价值)⁰·⁶ × (簇规模)⁰·⁴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E6B471-7C91-48DC-ADCD-3D4C6844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5791200"/>
            <a:ext cx="3181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总配额严格等于 B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AE70E3-C652-4678-B770-9700541C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图为 12 个名额的说明性示意。实际设定：300K 候选、547 簇、30K 子集；按簇内前 10% 平均分估计簇价值。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0D8FFB-0CDD-4D8D-9F04-FE226758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0092183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270DE2E-F66F-4F9A-8DC1-B810B4B56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实验设置：在同一骨干上比较多任务、多配置选数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DCE9E-4747-4D6F-BC3E-14CBA918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B73E9F-0DE3-49A8-9CBA-0D5FD45F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956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固定骨干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6B26D-5356-4CB7-A5B3-C4A9ED18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19475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Llama-2-7B</a:t>
            </a:r>
          </a:p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共用冻结基础检查点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3A4F8-9CAF-441E-A53D-6C6D0F5E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5740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0A645-70B1-40EC-809F-7CEEC430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目标任务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E60E89-A3D9-433E-AC24-FE48431E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19475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GSM8K / HumanEval</a:t>
            </a:r>
          </a:p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MMLU / TyDiQA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0831F-005B-4B50-98BB-9A48A778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05740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098DF8-8837-4AEB-973A-D84FFF53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8956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已见 PEFT 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17C3C1-ABF0-4BBB-BB68-551ED0A2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419475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LoRA 3 种配置</a:t>
            </a:r>
          </a:p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IA3 与 Adapter 各 1 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1B83CA-F0D1-4429-92FD-F7E5FDAB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0"/>
            <a:ext cx="107632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34F506-DE08-47C4-9F39-FC2B456F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149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300K 候选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CE9227-2459-4AE6-949D-0F5287F3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114925"/>
            <a:ext cx="3933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10% 预算 = 30K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8C12E9-9B5E-4DFB-BA99-C7DCBB83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114925"/>
            <a:ext cx="3009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32 条任务样本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3318FC-6C6D-4DC0-A34F-4D57CFF6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比较 Random、RDS+、Influence、LESS 和 PCU-Select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8191D8-5F73-4E51-A482-1C688578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稿件设定：固定选择种子，下游种子 0 / 1 / 2。按下游训练种子汇总结果。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E2CCE0-6D7A-4E9E-8A71-1131EF14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0092183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270DE2E-F66F-4F9A-8DC1-B810B4B56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总体结果：PCU-Select 的质量与逐配置 LESS 接近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4C073-3FD9-4955-BA38-45F9ED21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四任务、五配置宏平均，均使用 10% 的候选数据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14375" y="2419350"/>
          <a:ext xmlns:a="http://schemas.openxmlformats.org/drawingml/2006/main" cx="7848600" cy="3257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5e3cf7dbf94542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E060D-5801-4401-A021-78A1E853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33650"/>
            <a:ext cx="2428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46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35.18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BAC81B-12F7-4FC5-A80A-43AEDD13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81375"/>
            <a:ext cx="2428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PCU-Select 宏平均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11A72F-4A0A-4F5E-A08C-12796B26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62450"/>
            <a:ext cx="2428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相对 LESS  +0.04</a:t>
            </a:r>
          </a:p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相对 RDS+  +0.74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909E4D-6A12-4A17-B2CA-BFCBCA64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86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主要价值：保持目标针对性，为后续计算摊销创造空间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E29254-9B55-4A65-8556-CFB9ACE0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宏平均为任务原始百分制指标的等权均值，不是统一准确率；+0.04 不解释为显著领先。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698628-56CA-46D0-A235-1417285D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0092183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270DE2E-F66F-4F9A-8DC1-B810B4B56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任务分析：收益因任务而异，不应只看宏平均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8F4EB3-EB56-4491-A6E9-9507165B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PCU-Select 相对 LESS 的变化，零线表示两者持平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66750" y="2343150"/>
          <a:ext xmlns:a="http://schemas.openxmlformats.org/drawingml/2006/main" cx="6410325" cy="3171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e78fc6202144e4"/>
          </a:graphicData>
        </a:graphic>
      </p:graphicFrame>
      <p:graphicFrame>
        <p:nvGraphicFramePr>
          <p:cNvPr id="19" name=""/>
          <p:cNvGraphicFramePr/>
          <p:nvPr/>
        </p:nvGraphicFramePr>
        <p:xfrm>
          <a:off xmlns:a="http://schemas.openxmlformats.org/drawingml/2006/main" x="7620000" y="2419350"/>
          <a:ext xmlns:a="http://schemas.openxmlformats.org/drawingml/2006/main" cx="3857625" cy="30384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514475"/>
                <a:gridCol w="1162050"/>
                <a:gridCol w="1181100"/>
              </a:tblGrid>
              <a:tr h="60769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任务指标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LESS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PCU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</a:tr>
              <a:tr h="60769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EM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21.91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22.20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60769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Pass@1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17.10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17.06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  <a:tr h="60769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Accuracy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48.48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49.14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60769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F1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53.07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52.30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BB8706-C699-474A-BC17-6E4277E9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86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GSM8K、MMLU 较高，HumanEval 接近，TyDiQA 有下降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885B6C-7CF9-487D-8983-BCA4B626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每个任务先对 5 个 PEFT 求均值。差值依据未四舍五入值计算，单位为各任务原始指标点。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E0925-1933-46D1-9084-A94F8A66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0092183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270DE2E-F66F-4F9A-8DC1-B810B4B56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消融分析：配置条件与聚类配额都影响质量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5F736-3EE5-48D9-9926-2BC7866E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去除相应组件后，相对完整方法 19.72 的分数下降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14375" y="2333625"/>
          <a:ext xmlns:a="http://schemas.openxmlformats.org/drawingml/2006/main" cx="7743825" cy="3295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c602a2eea142c1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E9A36-BB89-4732-AA4E-A8FB4880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514600"/>
            <a:ext cx="2419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72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472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1.37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45B1EB-32CC-41BB-8D27-2652ADE2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371850"/>
            <a:ext cx="24193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去除 PEFT 编码</a:t>
            </a:r>
          </a:p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下降最大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9D267-5C36-4EE1-BEA1-1EC4A84B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476750"/>
            <a:ext cx="2419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3675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1.08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98355C-FCA9-409F-A333-1E1C2911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2197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改用全局 Top-k 的下降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EEAF6E-BD5D-4EA2-AF7B-4BB58BF9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GSM8K + HumanEval、两个代表配置、10% 预算，与总体主表的 35.18 口径不同。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69399E-5394-4548-A861-99C0A8E7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0092183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270DE2E-F66F-4F9A-8DC1-B810B4B56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成本分析：前期投入随服务配置数摊销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CAD86-B2DF-48A9-9697-AE52D4C7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累计选数成本 / GPU 小时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95325" y="2152650"/>
          <a:ext xmlns:a="http://schemas.openxmlformats.org/drawingml/2006/main" cx="7753350" cy="3362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d2887d33944fce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491C77-13E9-4C66-9DD8-0D3B6F14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295525"/>
            <a:ext cx="25908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PCU：144 + 1.51P</a:t>
            </a:r>
          </a:p>
          <a:p xmlns:a="http://schemas.openxmlformats.org/drawingml/2006/main">
            <a:pPr algn="l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LESS：63.2P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EABBAB-776E-47A6-AC55-EAEBA544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629025"/>
            <a:ext cx="259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约第 3 套配置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4A5DD-8287-4851-864E-E233D7E4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105275"/>
            <a:ext cx="259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跨过累计成本交点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3E5D5D-7726-4E9B-B587-E0B67499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810125"/>
            <a:ext cx="259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5 套配置时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7CD244-F9DC-4B74-ACF5-462ED138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238750"/>
            <a:ext cx="259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151.6 对 316.0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7C7E3E-E6FC-40A0-BFF4-D6783001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86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边际成本约 42 倍差异，五配置累计选数成本约 2.09 倍差异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09E889-598C-441F-B30D-D21E2371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PCU 含一次 144 GPU 小时前期投入，成本不含下游训练。边际比较是新增 PEFT × 4 任务。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35C0F7-3982-486D-9C8E-8769EB87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70092183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270DE2E-F66F-4F9A-8DC1-B810B4B56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适用边界：根据目标与训练支持集的距离使用评分器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ADF21-DA27-4DCD-BCC1-4AFC246B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当前研究限定同一骨干，不将结构差异视为统一的零样本场景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CEC2A7-4DBA-4E6B-8732-CA9D1951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03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L0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7B4902-6267-4B5C-BDE0-4EAA0A5F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76500"/>
            <a:ext cx="388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已见与近支持目标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58A4C8-7091-4764-BDA6-154F1F8E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95550"/>
            <a:ext cx="47910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直接使用已训练评分器与缓存表征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00F7F0-8B42-43CA-9449-BA974B94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38500"/>
            <a:ext cx="91916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29ABDF-FC36-4656-A6C5-B3BC8E2E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95675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L1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323961-9A71-4C58-9B98-9EAC190E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71875"/>
            <a:ext cx="388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家族内较大配置变化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1A6453-C1BB-4AB7-9518-3B819375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90925"/>
            <a:ext cx="47910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检查标签兼容性，必要时少量校准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11484B-437D-47BB-96FF-4E3D2CC6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33875"/>
            <a:ext cx="91916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140982-F440-4B1C-A18F-4054776E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910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L2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C5E031-B01E-452C-A33C-55E8A469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67250"/>
            <a:ext cx="388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未见更新结构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F5B874-DD5D-471A-8E8F-67F48EA5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86300"/>
            <a:ext cx="47910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兼容时校准，否则回退逐目标选择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482110-82A4-4DF7-9ACC-6F8A136C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Prefix、P-Tuning 等结构不直接承诺零样本通用支持。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A71398-7B67-4245-8AFD-09C39BE0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0092183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270DE2E-F66F-4F9A-8DC1-B810B4B56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工作一进展：形成条件选数方法与可复用实现基础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12DE5C-9A32-4422-9F6C-AAFBE67D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62175"/>
            <a:ext cx="1190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3675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A0E84-9A56-48FB-A49F-92D2A81E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28850"/>
            <a:ext cx="295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问题建模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29108A-E82E-4277-BBCA-7360E798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190750"/>
            <a:ext cx="57912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将数据价值建模为样本、配置与任务的条件效用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770D9A-8128-4245-BB19-BC5C8AA1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67050"/>
            <a:ext cx="924877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9675D-AEE6-4A4B-BF05-C6A528AF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43275"/>
            <a:ext cx="1190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3675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5E7768-9672-424B-B36A-E8362A2C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09950"/>
            <a:ext cx="295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方法设计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F8E8C-9704-474C-BD83-CB69A0D3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371850"/>
            <a:ext cx="57912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共享位点、多保真标签、条件评分与聚类配额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537C4-65CE-40CE-8C6C-F1B763BC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248150"/>
            <a:ext cx="924877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9513F8-5056-47F0-9EA0-D7848A2A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190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3675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7666F3-C6FD-4278-AD62-6F4F2152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591050"/>
            <a:ext cx="295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论文与实现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1D24DF-57C5-4EC8-932E-2EC494B8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552950"/>
            <a:ext cx="57912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形成论文稿件，具备特征缓存、PEFT 注册与训练评测脚本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8DCF0C-37DC-4F2F-9CE3-A7F2074B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05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下一步：原始日志核验、独立重复、分项计时与未见配置复验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5E1924-2B25-4671-80A5-7CE13FD2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0092183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270DE2E-F66F-4F9A-8DC1-B810B4B56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后续工作：让算法支撑可重复的多配置实验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90039-5805-4420-A87E-8F0BC019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10763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基于 PCU-Select 的多配置数据选择与微调实验管理系统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1DF941-17A4-4168-A716-2EDED6C7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38385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已有算法能力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8F3D8-6214-49E5-ACEC-DBB9329E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76625"/>
            <a:ext cx="4276725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样本与任务表征缓存</a:t>
            </a:r>
          </a:p>
          <a:p xmlns:a="http://schemas.openxmlformats.org/drawingml/2006/main">
            <a:pPr algn="l">
              <a:defRPr sz="23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条件评分与聚类配额</a:t>
            </a:r>
          </a:p>
          <a:p xmlns:a="http://schemas.openxmlformats.org/drawingml/2006/main">
            <a:pPr algn="l">
              <a:defRPr sz="23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PEFT 注册、训练评测脚本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C00DFC-B47A-4AD0-93B2-28437550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914775"/>
            <a:ext cx="742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D0CB60-CB7E-471D-9B8C-BEC84014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714625"/>
            <a:ext cx="4781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系统增加的能力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9D7080-557C-4C3C-92BD-776A05DE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476625"/>
            <a:ext cx="47815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识别产物依赖，避免错误复用</a:t>
            </a:r>
          </a:p>
          <a:p xmlns:a="http://schemas.openxmlformats.org/drawingml/2006/main">
            <a:pPr algn="l">
              <a:defRPr sz="22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合并公共计算，批量执行</a:t>
            </a:r>
          </a:p>
          <a:p xmlns:a="http://schemas.openxmlformats.org/drawingml/2006/main">
            <a:pPr algn="l">
              <a:defRPr sz="22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隔离结果，中断后按阶段恢复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68B394-F398-40B6-8908-105745C2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86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首版采用单工作节点、任务队列、元数据索引与本地产物库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CF2660-DB00-413F-A967-FE0C44E2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提供简洁控制台，完成登记数据与任务、提交实验矩阵、查看复用计划、执行与报告导出。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318FE8-839C-4C29-ACCF-E721245C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70092183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270DE2E-F66F-4F9A-8DC1-B810B4B56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两项工程机制：正确复用产物，可靠执行实验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503E5-35D7-4C51-97DB-9E212FC4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5095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分层缓存与增量复用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95F167-0D69-41C8-9143-BB50FD3C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00250"/>
            <a:ext cx="4867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公共计算去重与阶段恢复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C4766-4437-440D-B969-3895286A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924050"/>
            <a:ext cx="0" cy="39243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110E07-2FAF-4CE1-8405-FAD19409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76550"/>
            <a:ext cx="2190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B2F0FC-D263-4195-8B6C-A1B49AAF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46095"/>
            <a:ext cx="1962150" cy="437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内容与版本依赖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EA2058-EFD8-4C6E-8370-BB6768B6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05150"/>
            <a:ext cx="342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FB4FE9-0E7B-4ECA-A845-1AA18242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876550"/>
            <a:ext cx="21526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EF1AB1-B5EE-4BDE-9CB2-8704675D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057525"/>
            <a:ext cx="1924050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受影响节点重算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F4B9C5-F8FA-4BA5-A0F2-A689ED35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62400"/>
            <a:ext cx="50958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仅改预算：复用评分、聚类</a:t>
            </a:r>
          </a:p>
          <a:p xmlns:a="http://schemas.openxmlformats.org/drawingml/2006/main">
            <a:pPr algn="l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仅改训练种子：复用子集</a:t>
            </a:r>
          </a:p>
          <a:p xmlns:a="http://schemas.openxmlformats.org/drawingml/2006/main">
            <a:pPr algn="l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追加样本：补算特征与评分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1F7EA0-8EC4-4144-8165-8E9BE1D8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76550"/>
            <a:ext cx="20478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CB9F98-DA63-496D-8897-A45F3C19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51810"/>
            <a:ext cx="1819275" cy="42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相同输入节点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37E52D-F272-41D4-8CAD-73B235C6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05150"/>
            <a:ext cx="342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34E7B2-4EE7-436A-8816-F40CDD82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876550"/>
            <a:ext cx="21526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2F383B-86ED-4A50-B85E-A583A55C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40380"/>
            <a:ext cx="192405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只执行一次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A23ABC-9C4D-40D0-A421-871A48E1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62400"/>
            <a:ext cx="48672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临时写入、校验与原子提交</a:t>
            </a:r>
          </a:p>
          <a:p xmlns:a="http://schemas.openxmlformats.org/drawingml/2006/main">
            <a:pPr algn="l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完成标记和请求独立目录</a:t>
            </a:r>
          </a:p>
          <a:p xmlns:a="http://schemas.openxmlformats.org/drawingml/2006/main">
            <a:pPr algn="l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中断后仅重跑失败阶段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6697AA-D6B5-4CC7-B46A-4ED6BD17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追加样本仍需重算完整池聚类与配额。首版固定评分器版本，候选顺序纳入依赖，恢复到阶段边界。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D55591-976E-44B9-9BA7-F248D71E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70092183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270DE2E-F66F-4F9A-8DC1-B810B4B56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执行示例：24 次训练共享哪些前置计算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A338C1-A646-415F-B3BD-E28485CD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2 种 PEFT × 2 个任务 × 3 个预算 × 2 个训练种子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425785-2E06-43AF-878A-EF0638C8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38450"/>
            <a:ext cx="24193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72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3BFD79-4F3A-4D4C-B48C-D0A6020E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38625"/>
            <a:ext cx="24193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2DDAC-335E-4B37-92AB-51849296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14850"/>
            <a:ext cx="241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目标评分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6F8068-0469-40E2-A5EE-7F6A7F81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143500"/>
            <a:ext cx="25146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 配置 × 2 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D90F6E-BD66-4BBD-A2E0-4DDF35DD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38450"/>
            <a:ext cx="24193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72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C088FF-90F0-45DE-A7DC-C78F933F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38625"/>
            <a:ext cx="24193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81C1C1-CA44-4E2E-9A75-533CE024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514850"/>
            <a:ext cx="241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完整池聚类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66FB1B-E229-4390-831D-61002265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43500"/>
            <a:ext cx="25146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同一语义候选池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CC6A90-FA6A-469E-9ED4-5C302D2A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38450"/>
            <a:ext cx="24193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72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BC4D65-57AE-4DF7-9F19-765ED6DA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238625"/>
            <a:ext cx="24193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8ACA78-6295-4404-B6F4-9F7A3A6F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14850"/>
            <a:ext cx="241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独立子集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1788DF-5848-4F33-A849-62C041A1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143500"/>
            <a:ext cx="25146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4 个目标 × 3 预算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A36150-6EB1-4F3F-878B-76469C48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38450"/>
            <a:ext cx="24193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72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D82C1A-7453-4C5E-A242-622D55DD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38625"/>
            <a:ext cx="24193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7A5046-F494-4E82-B786-D529533F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14850"/>
            <a:ext cx="241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训练实验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7E810B-467D-45F6-9712-76B8164B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43500"/>
            <a:ext cx="25146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12 子集 × 2 种子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6F64AB-A5D1-4365-BB55-2F143C31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固定特征、评分器、聚类配置与选择种子。各任务与配置仍使用自己的子集；执行次数不等于端到端加速倍数。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AB3409-2C2F-4325-9C66-B89D31EB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70092183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270DE2E-F66F-4F9A-8DC1-B810B4B56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验证计划：比较三组流程，分别测量两项机制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9A79EE-0EEA-4AD0-87EE-9EC5AAF8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已有批量脚本 / 加入依赖缓存 / 完整系统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714375" y="2324100"/>
          <a:ext xmlns:a="http://schemas.openxmlformats.org/drawingml/2006/main" cx="10763250" cy="30765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71750"/>
                <a:gridCol w="4219575"/>
                <a:gridCol w="3971925"/>
              </a:tblGrid>
              <a:tr h="5524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怎样测试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记录什么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</a:tr>
              <a:tr h="14001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缓存与增量复用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改变预算或训练种子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追加 1% / 5% / 10% 样本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 ID 改内容、改变顺序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重算样本与节点数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评分和子集一致性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时间与存储开销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11239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去重与阶段恢复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冷启动执行 24 组矩阵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评分、写子集、训练阶段中断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节点执行次数、恢复时间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额外重算量、结果隔离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F93131-7F8C-4F11-A6D2-06B360BD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86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先与完整重算核对正确性，再报告选数和端到端耗时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28C35-C4E9-44F0-84EE-14D227AB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已有脚本已含特征缓存，作为实际基线。冷启动去重与热缓存增量复用分开统计，不预设收益倍数。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32681-5A8D-45DE-B8CA-AFD0824D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700921834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270DE2E-F66F-4F9A-8DC1-B810B4B56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后续安排：中期后 8 周分阶段推进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4C862-0360-4577-9BD2-BE8E0252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3837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EF0CC-19E0-4ED7-AC1C-C714710D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3837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0F523-1F7E-4073-8361-1AEC3AC4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B08758-297F-49D4-8C0B-D8D97AE1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3837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4A3234-BA74-47FD-BF58-9BA0F994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3837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7AE2DE-3631-4E8F-99D2-76E27F3F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3837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B42D24-57D0-45C6-A024-7CAB50E4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23837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2355C2-8BDB-4782-9811-6D03490C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3837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418884-427D-4A15-9A57-336D65AC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周次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22783C-D568-4A55-BC60-516FAF5E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24175"/>
            <a:ext cx="405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依赖规范与接口拆分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9A56DC-A781-436E-848D-90260E16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098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5D147F-73FF-4394-805B-C665C63B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098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4C7A3F-905F-40B9-B035-19E8F9D0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98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B41633-F18B-4567-AE04-7A01BA8F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098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D6CDAD-D846-451E-A2BA-9FB2C28C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098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33CD85-059A-4B00-B5CD-DD66F484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098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CB81F2-D2A8-42A6-BB8E-6A47DFD4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098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6EF27C-0D7B-4DE6-9157-158C22DD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098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81A264-FB6F-47BA-A117-BC13CE53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09875"/>
            <a:ext cx="1543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3207AF-177A-4052-BECF-36B4A4F2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48075"/>
            <a:ext cx="405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缓存与增量复用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1CB442-2D78-4D45-A088-E5F7469B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337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366021-8B5C-4AF8-B86C-DD6DF85C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337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56D13E-CBD1-4551-9134-A12F396C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337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9FAB47-9699-4989-A23C-DDB6EB09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337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6247E4-A220-4EAD-B1BB-F392E658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337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ECB57D-2789-46D3-9903-09AD6397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337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8AD29C-87B6-421C-9F95-506BF31E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5337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C848BB-CFAE-4E3A-8883-255F5508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5337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5DC3AC-97B5-4B76-B82D-B2184672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33775"/>
            <a:ext cx="1543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1F4616-C345-4C37-A90E-FA80B88B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71975"/>
            <a:ext cx="405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去重、恢复与控制台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4A8923-AFE3-4B53-9805-4AE03BFF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576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8B9535-C231-481F-B667-64830DBC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2576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698A6C-BBB2-4CF4-B07A-1935BFD0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576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1BC1A6-6AF1-4F8F-BDCF-74FB9C21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576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8E67C8-20D0-4649-9AC1-FF0BFF18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576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828788-70D3-43C1-B743-758D61CB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576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DEAD66-5F78-422A-BA5E-6E419633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2576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2AF28B3-6B05-4785-A9E5-B32915EB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576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0EF15A-520E-4EA1-BA72-2CC11939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57675"/>
            <a:ext cx="1543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961D5F9-F275-44BD-A0B8-1DCE2C47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405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对照验证与论文整合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7ACF422-71D0-42D8-9BA0-FD591072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815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8DCDBB-7A8C-4306-A79F-9602BB77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9815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257E693-4A11-45FD-9827-11B64BC6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815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B9129B8-23D0-4345-8697-86E66CD1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815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ECCC45-4443-4CA4-A031-D9736D39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815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E87454D-114F-4462-9402-E84500D2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815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E5C03C2-78D2-4C2F-9889-D528C115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9815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3D28364-7D90-4BA0-8D74-62F6BD07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815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85A60D8-2A93-4943-A17A-AF49CD64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981575"/>
            <a:ext cx="1543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3A44425-E919-4815-9F5D-847385F5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76925"/>
            <a:ext cx="295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并行推进工作一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E9C140F-7A0E-46A6-817F-CDDF7841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876925"/>
            <a:ext cx="742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整理实验记录、配置协议与分项计时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5D64E42-9D70-4181-A20A-139EBF2D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第 2 周交付最小流程，第 4 周验证复用边界，第 6 周演示 24 组矩阵，第 8 周交付系统与验证报告。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41B0729-0FE6-4DDC-BBC7-7648002F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700921834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270DE2E-F66F-4F9A-8DC1-B810B4B56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总结：条件选数方法与实验系统形成衔接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B3A90-AAFC-46A8-9E56-02238533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26384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工作一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AE65F2-AC1A-49B1-A2E9-BAA093D9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57400"/>
            <a:ext cx="7667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PCU-Select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E48E-ECC0-4442-8872-4449AF8E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76676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通过共享表征与条件评分，为不同目标生成各自的数据子集</a:t>
            </a:r>
          </a:p>
          <a:p xmlns:a="http://schemas.openxmlformats.org/drawingml/2006/main">
            <a:pPr algn="l">
              <a:defRPr sz="22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稿件分析重点是质量保持，以及跨配置服务的成本摊销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B0A231-22DF-46C9-9C1F-C6FD4B3E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48150"/>
            <a:ext cx="107632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F300F0-1B4D-4DC8-9688-54A28EC9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0100"/>
            <a:ext cx="26384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工作二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577FBF-794B-4302-9E6D-857C2189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10100"/>
            <a:ext cx="7667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多配置实验管理系统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AE5FAE-4248-4960-95AE-7E1D9046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448300"/>
            <a:ext cx="7667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复用工作一的算法模块，验证缓存、去重与阶段恢复</a:t>
            </a:r>
          </a:p>
          <a:p xmlns:a="http://schemas.openxmlformats.org/drawingml/2006/main">
            <a:pPr algn="l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交付可运行系统、对照报告及可追溯实验材料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DA1979-1F1B-4B9B-9922-EC24211B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700921834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73205584-894D-43E1-BA09-4D02E5E938F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>
            <a:normAutofit fontScale="84236"/>
          </a:bodyPr>
          <a:lstStyle xmlns:a="http://schemas.openxmlformats.org/drawingml/2006/main"/>
          <a:p xmlns:a="http://schemas.openxmlformats.org/drawingml/2006/main">
            <a:r>
              <a:t>感谢各位老师</a:t>
            </a:r>
            <a:endParaRPr/>
          </a:p>
          <a:p xmlns:a="http://schemas.openxmlformats.org/drawingml/2006/main">
            <a:r>
              <a:t>请批评指正</a:t>
            </a:r>
            <a:endParaRPr/>
          </a:p>
        </p:txBody>
      </p:sp>
      <p:sp>
        <p:nvSpPr>
          <p:cNvPr id="10" name="署名">
            <a:extLst xmlns:a="http://schemas.openxmlformats.org/drawingml/2006/main">
              <a:ext uri="{FF2B5EF4-FFF2-40B4-BE49-F238E27FC236}">
                <a16:creationId xmlns:a16="http://schemas.microsoft.com/office/drawing/2014/main" id="{5CDD58D1-A9DC-44FF-B563-904227F7B3B6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汇报人: 林肯</a:t>
            </a:r>
            <a:r>
              <a:t>达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4779887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270DE2E-F66F-4F9A-8DC1-B810B4B56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备用：四任务均值在五个 PEFT 上的比较</a:t>
            </a:r>
            <a:endParaRPr/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14375" y="2028825"/>
          <a:ext xmlns:a="http://schemas.openxmlformats.org/drawingml/2006/main" cx="10763250" cy="3371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14550"/>
                <a:gridCol w="1485900"/>
                <a:gridCol w="1485900"/>
                <a:gridCol w="1485900"/>
                <a:gridCol w="1485900"/>
                <a:gridCol w="1485900"/>
                <a:gridCol w="1219200"/>
              </a:tblGrid>
              <a:tr h="7524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Adapter</a:t>
                      </a:r>
                    </a:p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b64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IA3</a:t>
                      </a:r>
                    </a:p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attn+mlp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LoRA</a:t>
                      </a:r>
                    </a:p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r16-qkvo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LoRA</a:t>
                      </a:r>
                    </a:p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r8-mlp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LoRA</a:t>
                      </a:r>
                    </a:p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r8-qv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平均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</a:tr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Random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32.79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31.74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33.11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31.97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31.82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32.29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RDS+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35.27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33.54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35.00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34.46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33.91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34.44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Influence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35.08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33.84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35.24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34.69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34.53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34.68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LESS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35.52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34.44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35.80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35.13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34.80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35.14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PCU-Select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35.61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34.60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35.93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34.56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35.18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35.18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5889AB-C6AA-4C23-B977-90450E32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86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宏平均接近不代表每套配置、每项任务都更优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6B5C9-DECB-49C6-AA81-54F102FC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四项任务原始百分制指标等权平均。仅展示均值。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2986BE-5D19-4E28-A711-F45F1B59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700921834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270DE2E-F66F-4F9A-8DC1-B810B4B56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备用：前期成本、在线成本与校准成本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0DF3A-FF65-40C0-AEEB-45412398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478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前期共 144 GPU 小时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714375" y="2305050"/>
          <a:ext xmlns:a="http://schemas.openxmlformats.org/drawingml/2006/main" cx="4743450" cy="2838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05150"/>
                <a:gridCol w="1638300"/>
              </a:tblGrid>
              <a:tr h="5676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离线项目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GPU 小时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</a:tr>
              <a:tr h="5676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样本特征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48.0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676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梯度代理标签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  <a:tr h="5676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短更新标签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84.0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676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评分器训练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7.2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31061-94AC-4235-BC91-F1D43F29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47825"/>
            <a:ext cx="537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在线成本取决于新增目标的类型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105525" y="2609850"/>
          <a:ext xmlns:a="http://schemas.openxmlformats.org/drawingml/2006/main" cx="5372100" cy="2533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1257300"/>
                <a:gridCol w="1257300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PCU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LESS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</a:tr>
              <a:tr h="9810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已有 PEFT 新增 1 任务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0.3775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9810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新增 PEFT × 4 任务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1.51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63.20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8FA814-4E7A-4925-B0EC-FB60A2B1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578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Cal-500 额外成本：每个 (p,t) +1.05，四任务合计 +4.20 GPU 小时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0EDDDD-5F2B-4CEF-BD19-82ECBC5D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成本不含下游训练。在线 0.3775 包含聚类口径，分项残差仍需核对；边际 42 倍不适用于只新增任务。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94049-0EDA-44D7-B200-B5DF7707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700921834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270DE2E-F66F-4F9A-8DC1-B810B4B56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备用：输入变化对应的复用与重算范围</a:t>
            </a:r>
            <a:endParaRPr/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14375" y="1819275"/>
          <a:ext xmlns:a="http://schemas.openxmlformats.org/drawingml/2006/main" cx="10763250" cy="3810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71825"/>
                <a:gridCol w="3705225"/>
                <a:gridCol w="3886200"/>
              </a:tblGrid>
              <a:tr h="5524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输入变化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允许复用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需要重算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</a:tr>
              <a:tr h="6286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只改变选数预算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特征、任务表示、评分、聚类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配额与各自子集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只改变下游训练种子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选择种子保持不变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选择结果及其上游产物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训练与评测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  <a:tr h="10096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追加候选样本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评分条件保持不变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旧样本的兼容特征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旧样本逐样本评分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新增样本特征、评分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完整池聚类、配额与子集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内容、版本或顺序变化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依赖检查后仍兼容的产物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受影响节点及其下游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C51D9-7892-4594-9EA7-D18013DA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内容摘要、模型与评分器版本、预处理、候选顺序、随机种子和产物校验值纳入清单。同名样本不能绕过内容检查。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78C04F-9997-4B90-B25C-EF5A8FA6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700921834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270DE2E-F66F-4F9A-8DC1-B810B4B56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备用：实验数据口径与复现要求</a:t>
            </a:r>
            <a:endParaRPr/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14375" y="1962150"/>
          <a:ext xmlns:a="http://schemas.openxmlformats.org/drawingml/2006/main" cx="10763250" cy="34004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19350"/>
                <a:gridCol w="4000500"/>
                <a:gridCol w="4343400"/>
              </a:tblGrid>
              <a:tr h="5524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检查项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当前记录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下一步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</a:tr>
              <a:tr h="95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主表与独立重复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按训练种子汇总实验结果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整理训练日志与独立重复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按任务与配置汇总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动机分析与成本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PEFT 配置相关性实验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成本采用稿件汇总口径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整理配置迁移结果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逐阶段记录计时与硬件条件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  <a:tr h="95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结构外配置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LN-Tuning 校准实验结果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结构差异需兼容性检查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整理独立实验记录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明确校准、回退范围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B55755-4AC2-4138-B3DD-0793CCF4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86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实验记录关联数据版本、配置、训练种子与计时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F07905-2473-484C-94F6-7044A0C4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核对来源：competition_numbers.py、revise_motivation_figure.py、competition_revision_notes.md。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3338E-AB14-4790-B1D4-2CE93F3C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700921834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270DE2E-F66F-4F9A-8DC1-B810B4B56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备用：代理标签、保守评分与预算分配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E3F39-7AA8-4B5C-AD45-1DB13291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76450"/>
            <a:ext cx="228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代理标签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86759B-A7FE-4F18-99AD-40999F4F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76450"/>
            <a:ext cx="823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u_lo(x,p,t) = Σ_ω w̃_p(ω) · cos(g_x(ω), g_t(ω))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FD91B-017E-4635-850A-330401AC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05100"/>
            <a:ext cx="8239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位点权重由激活掩码与容量缩放共同决定，再做归一化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C87AA-179E-4A72-AE9E-025F7DCF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00400"/>
            <a:ext cx="107632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8B6C1D-8F01-4B08-A668-9C70752E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29000"/>
            <a:ext cx="228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保守评分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37EE8E-2189-4EE5-9583-3491535B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29000"/>
            <a:ext cx="823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q(x,p,t) = μ(x,p,t) − 0.2 σ(x,p,t)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81AF0E-CDCA-4E32-A19C-A950F693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57650"/>
            <a:ext cx="8239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以效用预测为主，惩罚预测噪声带来的过度乐观排序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AE5EF7-1D0F-46F8-95E4-BA0F2A22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52950"/>
            <a:ext cx="107632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C0207F-5747-4BAD-AED8-F1B9358A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81550"/>
            <a:ext cx="228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预算分配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B658CC-66A8-4BA8-86B9-A400FEC6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81550"/>
            <a:ext cx="823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bₖ ∝ (vₖ⁺)⁰·⁶ × |Cₖ|⁰·⁴ ， Σₖ bₖ = 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E08A32-325B-408E-BADB-AC3FE15C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410200"/>
            <a:ext cx="8239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vₖ 取簇内前 10% 平均分，确定性余数分配保证预算一致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06877A-4CD1-40FB-A964-0A0CD1A3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高保真标签使用更新前后任务损失之差，在相同配置、任务、锚点和步数内归一化。σ 不是置信区间。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C4A79-4FD9-4186-8E0C-B4B8B584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700921834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2026-09-11T08:43:10.3470000Z</dcterms:created>
  <dcterms:modified xsi:type="dcterms:W3CDTF">2026-09-11T08:43:10.3470000Z</dcterms:modified>
</coreProperties>
</file>