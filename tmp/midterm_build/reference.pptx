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5"/>
  </p:notesMasterIdLst>
  <p:sldIdLst>
    <p:sldId id="256" r:id="rId4"/>
    <p:sldId id="257" r:id="rId6"/>
    <p:sldId id="259" r:id="rId7"/>
    <p:sldId id="260" r:id="rId8"/>
    <p:sldId id="319" r:id="rId9"/>
    <p:sldId id="312" r:id="rId10"/>
    <p:sldId id="263" r:id="rId11"/>
    <p:sldId id="305" r:id="rId12"/>
    <p:sldId id="318" r:id="rId13"/>
    <p:sldId id="264" r:id="rId14"/>
    <p:sldId id="267" r:id="rId15"/>
    <p:sldId id="272" r:id="rId16"/>
    <p:sldId id="268" r:id="rId17"/>
    <p:sldId id="321" r:id="rId18"/>
    <p:sldId id="314" r:id="rId19"/>
    <p:sldId id="315" r:id="rId20"/>
    <p:sldId id="320" r:id="rId21"/>
    <p:sldId id="275" r:id="rId22"/>
    <p:sldId id="299" r:id="rId23"/>
    <p:sldId id="295" r:id="rId24"/>
  </p:sldIdLst>
  <p:sldSz cx="12192000" cy="6858000"/>
  <p:notesSz cx="6858000" cy="9144000"/>
  <p:custDataLst>
    <p:tags r:id="rId2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PS" initials="W" lastIdx="1" clrIdx="0"/>
  <p:cmAuthor id="2" name="作者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0F0F1"/>
    <a:srgbClr val="00B0F0"/>
    <a:srgbClr val="DFF2E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9" Type="http://schemas.openxmlformats.org/officeDocument/2006/relationships/tags" Target="tags/tag182.xml"/><Relationship Id="rId28" Type="http://schemas.openxmlformats.org/officeDocument/2006/relationships/commentAuthors" Target="commentAuthors.xml"/><Relationship Id="rId27" Type="http://schemas.openxmlformats.org/officeDocument/2006/relationships/tableStyles" Target="tableStyles.xml"/><Relationship Id="rId26" Type="http://schemas.openxmlformats.org/officeDocument/2006/relationships/viewProps" Target="viewProps.xml"/><Relationship Id="rId25" Type="http://schemas.openxmlformats.org/officeDocument/2006/relationships/presProps" Target="presProps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A5F825-9C29-43CC-BB96-80A60E9689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6" Type="http://schemas.openxmlformats.org/officeDocument/2006/relationships/tags" Target="../tags/tag17.xml"/><Relationship Id="rId5" Type="http://schemas.openxmlformats.org/officeDocument/2006/relationships/tags" Target="../tags/tag16.xml"/><Relationship Id="rId4" Type="http://schemas.openxmlformats.org/officeDocument/2006/relationships/tags" Target="../tags/tag15.xml"/><Relationship Id="rId3" Type="http://schemas.openxmlformats.org/officeDocument/2006/relationships/tags" Target="../tags/tag14.xml"/><Relationship Id="rId2" Type="http://schemas.openxmlformats.org/officeDocument/2006/relationships/tags" Target="../tags/tag13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9" Type="http://schemas.openxmlformats.org/officeDocument/2006/relationships/tags" Target="../tags/tag25.xml"/><Relationship Id="rId8" Type="http://schemas.openxmlformats.org/officeDocument/2006/relationships/tags" Target="../tags/tag24.xml"/><Relationship Id="rId7" Type="http://schemas.openxmlformats.org/officeDocument/2006/relationships/tags" Target="../tags/tag23.xml"/><Relationship Id="rId6" Type="http://schemas.openxmlformats.org/officeDocument/2006/relationships/tags" Target="../tags/tag22.xml"/><Relationship Id="rId5" Type="http://schemas.openxmlformats.org/officeDocument/2006/relationships/tags" Target="../tags/tag21.xml"/><Relationship Id="rId4" Type="http://schemas.openxmlformats.org/officeDocument/2006/relationships/tags" Target="../tags/tag20.xml"/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1" Type="http://schemas.openxmlformats.org/officeDocument/2006/relationships/tags" Target="../tags/tag27.xml"/><Relationship Id="rId10" Type="http://schemas.openxmlformats.org/officeDocument/2006/relationships/tags" Target="../tags/tag26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9" Type="http://schemas.openxmlformats.org/officeDocument/2006/relationships/tags" Target="../tags/tag35.xml"/><Relationship Id="rId8" Type="http://schemas.openxmlformats.org/officeDocument/2006/relationships/tags" Target="../tags/tag34.xml"/><Relationship Id="rId7" Type="http://schemas.openxmlformats.org/officeDocument/2006/relationships/tags" Target="../tags/tag33.xml"/><Relationship Id="rId6" Type="http://schemas.openxmlformats.org/officeDocument/2006/relationships/tags" Target="../tags/tag32.xml"/><Relationship Id="rId5" Type="http://schemas.openxmlformats.org/officeDocument/2006/relationships/tags" Target="../tags/tag31.xml"/><Relationship Id="rId4" Type="http://schemas.openxmlformats.org/officeDocument/2006/relationships/tags" Target="../tags/tag30.xml"/><Relationship Id="rId3" Type="http://schemas.openxmlformats.org/officeDocument/2006/relationships/tags" Target="../tags/tag29.xml"/><Relationship Id="rId2" Type="http://schemas.openxmlformats.org/officeDocument/2006/relationships/tags" Target="../tags/tag28.xml"/><Relationship Id="rId12" Type="http://schemas.openxmlformats.org/officeDocument/2006/relationships/tags" Target="../tags/tag38.xml"/><Relationship Id="rId11" Type="http://schemas.openxmlformats.org/officeDocument/2006/relationships/tags" Target="../tags/tag37.xml"/><Relationship Id="rId10" Type="http://schemas.openxmlformats.org/officeDocument/2006/relationships/tags" Target="../tags/tag36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7" Type="http://schemas.openxmlformats.org/officeDocument/2006/relationships/tags" Target="../tags/tag44.xml"/><Relationship Id="rId6" Type="http://schemas.openxmlformats.org/officeDocument/2006/relationships/tags" Target="../tags/tag43.xml"/><Relationship Id="rId5" Type="http://schemas.openxmlformats.org/officeDocument/2006/relationships/tags" Target="../tags/tag42.xml"/><Relationship Id="rId4" Type="http://schemas.openxmlformats.org/officeDocument/2006/relationships/tags" Target="../tags/tag41.xml"/><Relationship Id="rId3" Type="http://schemas.openxmlformats.org/officeDocument/2006/relationships/tags" Target="../tags/tag40.xml"/><Relationship Id="rId2" Type="http://schemas.openxmlformats.org/officeDocument/2006/relationships/tags" Target="../tags/tag39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tags" Target="../tags/tag52.xml"/><Relationship Id="rId8" Type="http://schemas.openxmlformats.org/officeDocument/2006/relationships/tags" Target="../tags/tag51.xml"/><Relationship Id="rId7" Type="http://schemas.openxmlformats.org/officeDocument/2006/relationships/tags" Target="../tags/tag50.xml"/><Relationship Id="rId6" Type="http://schemas.openxmlformats.org/officeDocument/2006/relationships/tags" Target="../tags/tag49.xml"/><Relationship Id="rId5" Type="http://schemas.openxmlformats.org/officeDocument/2006/relationships/tags" Target="../tags/tag48.xml"/><Relationship Id="rId4" Type="http://schemas.openxmlformats.org/officeDocument/2006/relationships/tags" Target="../tags/tag47.xml"/><Relationship Id="rId3" Type="http://schemas.openxmlformats.org/officeDocument/2006/relationships/tags" Target="../tags/tag46.xml"/><Relationship Id="rId2" Type="http://schemas.openxmlformats.org/officeDocument/2006/relationships/tags" Target="../tags/tag45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5" Type="http://schemas.openxmlformats.org/officeDocument/2006/relationships/tags" Target="../tags/tag56.xml"/><Relationship Id="rId4" Type="http://schemas.openxmlformats.org/officeDocument/2006/relationships/tags" Target="../tags/tag55.xml"/><Relationship Id="rId3" Type="http://schemas.openxmlformats.org/officeDocument/2006/relationships/tags" Target="../tags/tag54.xml"/><Relationship Id="rId2" Type="http://schemas.openxmlformats.org/officeDocument/2006/relationships/tags" Target="../tags/tag53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4" Type="http://schemas.openxmlformats.org/officeDocument/2006/relationships/tags" Target="../tags/tag59.xml"/><Relationship Id="rId3" Type="http://schemas.openxmlformats.org/officeDocument/2006/relationships/tags" Target="../tags/tag58.xml"/><Relationship Id="rId2" Type="http://schemas.openxmlformats.org/officeDocument/2006/relationships/tags" Target="../tags/tag57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5" Type="http://schemas.openxmlformats.org/officeDocument/2006/relationships/tags" Target="../tags/tag63.xml"/><Relationship Id="rId4" Type="http://schemas.openxmlformats.org/officeDocument/2006/relationships/tags" Target="../tags/tag62.xml"/><Relationship Id="rId3" Type="http://schemas.openxmlformats.org/officeDocument/2006/relationships/tags" Target="../tags/tag61.xml"/><Relationship Id="rId2" Type="http://schemas.openxmlformats.org/officeDocument/2006/relationships/tags" Target="../tags/tag60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6" Type="http://schemas.openxmlformats.org/officeDocument/2006/relationships/tags" Target="../tags/tag68.xml"/><Relationship Id="rId5" Type="http://schemas.openxmlformats.org/officeDocument/2006/relationships/tags" Target="../tags/tag67.xml"/><Relationship Id="rId4" Type="http://schemas.openxmlformats.org/officeDocument/2006/relationships/tags" Target="../tags/tag66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9" Type="http://schemas.openxmlformats.org/officeDocument/2006/relationships/tags" Target="../tags/tag76.xml"/><Relationship Id="rId8" Type="http://schemas.openxmlformats.org/officeDocument/2006/relationships/tags" Target="../tags/tag75.xml"/><Relationship Id="rId7" Type="http://schemas.openxmlformats.org/officeDocument/2006/relationships/tags" Target="../tags/tag74.xml"/><Relationship Id="rId6" Type="http://schemas.openxmlformats.org/officeDocument/2006/relationships/tags" Target="../tags/tag73.xml"/><Relationship Id="rId5" Type="http://schemas.openxmlformats.org/officeDocument/2006/relationships/tags" Target="../tags/tag72.xml"/><Relationship Id="rId4" Type="http://schemas.openxmlformats.org/officeDocument/2006/relationships/tags" Target="../tags/tag71.xml"/><Relationship Id="rId3" Type="http://schemas.openxmlformats.org/officeDocument/2006/relationships/tags" Target="../tags/tag70.xml"/><Relationship Id="rId2" Type="http://schemas.openxmlformats.org/officeDocument/2006/relationships/tags" Target="../tags/tag69.xml"/><Relationship Id="rId13" Type="http://schemas.openxmlformats.org/officeDocument/2006/relationships/tags" Target="../tags/tag80.xml"/><Relationship Id="rId12" Type="http://schemas.openxmlformats.org/officeDocument/2006/relationships/tags" Target="../tags/tag79.xml"/><Relationship Id="rId11" Type="http://schemas.openxmlformats.org/officeDocument/2006/relationships/tags" Target="../tags/tag78.xml"/><Relationship Id="rId10" Type="http://schemas.openxmlformats.org/officeDocument/2006/relationships/tags" Target="../tags/tag77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任意多边形: 形状 18"/>
          <p:cNvSpPr/>
          <p:nvPr userDrawn="1">
            <p:custDataLst>
              <p:tags r:id="rId2"/>
            </p:custDataLst>
          </p:nvPr>
        </p:nvSpPr>
        <p:spPr>
          <a:xfrm>
            <a:off x="1" y="787400"/>
            <a:ext cx="11095355" cy="3505200"/>
          </a:xfrm>
          <a:custGeom>
            <a:avLst/>
            <a:gdLst>
              <a:gd name="connsiteX0" fmla="*/ 10131107 w 11095355"/>
              <a:gd name="connsiteY0" fmla="*/ 0 h 3505200"/>
              <a:gd name="connsiteX1" fmla="*/ 11095355 w 11095355"/>
              <a:gd name="connsiteY1" fmla="*/ 835025 h 3505200"/>
              <a:gd name="connsiteX2" fmla="*/ 11095355 w 11095355"/>
              <a:gd name="connsiteY2" fmla="*/ 3505200 h 3505200"/>
              <a:gd name="connsiteX3" fmla="*/ 0 w 11095355"/>
              <a:gd name="connsiteY3" fmla="*/ 180612 h 3505200"/>
              <a:gd name="connsiteX4" fmla="*/ 0 w 11095355"/>
              <a:gd name="connsiteY4" fmla="*/ 36392 h 3505200"/>
              <a:gd name="connsiteX0-1" fmla="*/ 0 w 11095355"/>
              <a:gd name="connsiteY0-2" fmla="*/ 180612 h 3505200"/>
              <a:gd name="connsiteX1-3" fmla="*/ 0 w 11095355"/>
              <a:gd name="connsiteY1-4" fmla="*/ 36392 h 3505200"/>
              <a:gd name="connsiteX2-5" fmla="*/ 10131107 w 11095355"/>
              <a:gd name="connsiteY2-6" fmla="*/ 0 h 3505200"/>
              <a:gd name="connsiteX3-7" fmla="*/ 11095355 w 11095355"/>
              <a:gd name="connsiteY3-8" fmla="*/ 835025 h 3505200"/>
              <a:gd name="connsiteX4-9" fmla="*/ 11095355 w 11095355"/>
              <a:gd name="connsiteY4-10" fmla="*/ 3505200 h 3505200"/>
              <a:gd name="connsiteX5" fmla="*/ 91440 w 11095355"/>
              <a:gd name="connsiteY5" fmla="*/ 272052 h 3505200"/>
              <a:gd name="connsiteX0-11" fmla="*/ 0 w 11095355"/>
              <a:gd name="connsiteY0-12" fmla="*/ 180612 h 3505200"/>
              <a:gd name="connsiteX1-13" fmla="*/ 0 w 11095355"/>
              <a:gd name="connsiteY1-14" fmla="*/ 36392 h 3505200"/>
              <a:gd name="connsiteX2-15" fmla="*/ 10131107 w 11095355"/>
              <a:gd name="connsiteY2-16" fmla="*/ 0 h 3505200"/>
              <a:gd name="connsiteX3-17" fmla="*/ 11095355 w 11095355"/>
              <a:gd name="connsiteY3-18" fmla="*/ 835025 h 3505200"/>
              <a:gd name="connsiteX4-19" fmla="*/ 11095355 w 11095355"/>
              <a:gd name="connsiteY4-20" fmla="*/ 3505200 h 3505200"/>
              <a:gd name="connsiteX0-21" fmla="*/ 0 w 11095355"/>
              <a:gd name="connsiteY0-22" fmla="*/ 36392 h 3505200"/>
              <a:gd name="connsiteX1-23" fmla="*/ 10131107 w 11095355"/>
              <a:gd name="connsiteY1-24" fmla="*/ 0 h 3505200"/>
              <a:gd name="connsiteX2-25" fmla="*/ 11095355 w 11095355"/>
              <a:gd name="connsiteY2-26" fmla="*/ 835025 h 3505200"/>
              <a:gd name="connsiteX3-27" fmla="*/ 11095355 w 11095355"/>
              <a:gd name="connsiteY3-28" fmla="*/ 3505200 h 35052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11095355" h="3505200">
                <a:moveTo>
                  <a:pt x="0" y="36392"/>
                </a:moveTo>
                <a:lnTo>
                  <a:pt x="10131107" y="0"/>
                </a:lnTo>
                <a:cubicBezTo>
                  <a:pt x="10663460" y="0"/>
                  <a:pt x="11095355" y="374015"/>
                  <a:pt x="11095355" y="835025"/>
                </a:cubicBezTo>
                <a:lnTo>
                  <a:pt x="11095355" y="3505200"/>
                </a:lnTo>
              </a:path>
            </a:pathLst>
          </a:custGeom>
          <a:noFill/>
          <a:ln w="31750">
            <a:solidFill>
              <a:schemeClr val="accent1">
                <a:alpha val="7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2" name="任意多边形: 形状 21"/>
          <p:cNvSpPr/>
          <p:nvPr userDrawn="1">
            <p:custDataLst>
              <p:tags r:id="rId3"/>
            </p:custDataLst>
          </p:nvPr>
        </p:nvSpPr>
        <p:spPr>
          <a:xfrm flipH="1" flipV="1">
            <a:off x="1096646" y="2565400"/>
            <a:ext cx="11095355" cy="3505200"/>
          </a:xfrm>
          <a:custGeom>
            <a:avLst/>
            <a:gdLst>
              <a:gd name="connsiteX0" fmla="*/ 11095355 w 11095355"/>
              <a:gd name="connsiteY0" fmla="*/ 3505200 h 3505200"/>
              <a:gd name="connsiteX1" fmla="*/ 0 w 11095355"/>
              <a:gd name="connsiteY1" fmla="*/ 180612 h 3505200"/>
              <a:gd name="connsiteX2" fmla="*/ 0 w 11095355"/>
              <a:gd name="connsiteY2" fmla="*/ 36392 h 3505200"/>
              <a:gd name="connsiteX3" fmla="*/ 10131107 w 11095355"/>
              <a:gd name="connsiteY3" fmla="*/ 0 h 3505200"/>
              <a:gd name="connsiteX4" fmla="*/ 11095355 w 11095355"/>
              <a:gd name="connsiteY4" fmla="*/ 835025 h 3505200"/>
              <a:gd name="connsiteX0-1" fmla="*/ 0 w 11095355"/>
              <a:gd name="connsiteY0-2" fmla="*/ 180612 h 3505200"/>
              <a:gd name="connsiteX1-3" fmla="*/ 0 w 11095355"/>
              <a:gd name="connsiteY1-4" fmla="*/ 36392 h 3505200"/>
              <a:gd name="connsiteX2-5" fmla="*/ 10131107 w 11095355"/>
              <a:gd name="connsiteY2-6" fmla="*/ 0 h 3505200"/>
              <a:gd name="connsiteX3-7" fmla="*/ 11095355 w 11095355"/>
              <a:gd name="connsiteY3-8" fmla="*/ 835025 h 3505200"/>
              <a:gd name="connsiteX4-9" fmla="*/ 11095355 w 11095355"/>
              <a:gd name="connsiteY4-10" fmla="*/ 3505200 h 3505200"/>
              <a:gd name="connsiteX5" fmla="*/ 91440 w 11095355"/>
              <a:gd name="connsiteY5" fmla="*/ 272052 h 3505200"/>
              <a:gd name="connsiteX0-11" fmla="*/ 0 w 11095355"/>
              <a:gd name="connsiteY0-12" fmla="*/ 180612 h 3505200"/>
              <a:gd name="connsiteX1-13" fmla="*/ 0 w 11095355"/>
              <a:gd name="connsiteY1-14" fmla="*/ 36392 h 3505200"/>
              <a:gd name="connsiteX2-15" fmla="*/ 10131107 w 11095355"/>
              <a:gd name="connsiteY2-16" fmla="*/ 0 h 3505200"/>
              <a:gd name="connsiteX3-17" fmla="*/ 11095355 w 11095355"/>
              <a:gd name="connsiteY3-18" fmla="*/ 835025 h 3505200"/>
              <a:gd name="connsiteX4-19" fmla="*/ 11095355 w 11095355"/>
              <a:gd name="connsiteY4-20" fmla="*/ 3505200 h 3505200"/>
              <a:gd name="connsiteX0-21" fmla="*/ 0 w 11095355"/>
              <a:gd name="connsiteY0-22" fmla="*/ 36392 h 3505200"/>
              <a:gd name="connsiteX1-23" fmla="*/ 10131107 w 11095355"/>
              <a:gd name="connsiteY1-24" fmla="*/ 0 h 3505200"/>
              <a:gd name="connsiteX2-25" fmla="*/ 11095355 w 11095355"/>
              <a:gd name="connsiteY2-26" fmla="*/ 835025 h 3505200"/>
              <a:gd name="connsiteX3-27" fmla="*/ 11095355 w 11095355"/>
              <a:gd name="connsiteY3-28" fmla="*/ 3505200 h 35052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11095355" h="3505200">
                <a:moveTo>
                  <a:pt x="0" y="36392"/>
                </a:moveTo>
                <a:lnTo>
                  <a:pt x="10131107" y="0"/>
                </a:lnTo>
                <a:cubicBezTo>
                  <a:pt x="10663460" y="0"/>
                  <a:pt x="11095355" y="374015"/>
                  <a:pt x="11095355" y="835025"/>
                </a:cubicBezTo>
                <a:lnTo>
                  <a:pt x="11095355" y="3505200"/>
                </a:lnTo>
              </a:path>
            </a:pathLst>
          </a:custGeom>
          <a:noFill/>
          <a:ln w="31750">
            <a:solidFill>
              <a:schemeClr val="accent1">
                <a:alpha val="7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 userDrawn="1">
            <p:custDataLst>
              <p:tags r:id="rId4"/>
            </p:custDataLst>
          </p:nvPr>
        </p:nvSpPr>
        <p:spPr>
          <a:xfrm flipH="1" flipV="1">
            <a:off x="10725150" y="4871720"/>
            <a:ext cx="295910" cy="68135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66" h="1073">
                <a:moveTo>
                  <a:pt x="420" y="0"/>
                </a:moveTo>
                <a:lnTo>
                  <a:pt x="420" y="202"/>
                </a:lnTo>
                <a:cubicBezTo>
                  <a:pt x="264" y="275"/>
                  <a:pt x="197" y="399"/>
                  <a:pt x="218" y="575"/>
                </a:cubicBezTo>
                <a:lnTo>
                  <a:pt x="466" y="575"/>
                </a:lnTo>
                <a:lnTo>
                  <a:pt x="466" y="1073"/>
                </a:lnTo>
                <a:lnTo>
                  <a:pt x="0" y="1073"/>
                </a:lnTo>
                <a:lnTo>
                  <a:pt x="0" y="529"/>
                </a:lnTo>
                <a:cubicBezTo>
                  <a:pt x="21" y="280"/>
                  <a:pt x="161" y="104"/>
                  <a:pt x="420" y="0"/>
                </a:cubicBezTo>
                <a:close/>
              </a:path>
            </a:pathLst>
          </a:custGeom>
          <a:solidFill>
            <a:schemeClr val="accent1"/>
          </a:solidFill>
          <a:effectLst/>
        </p:spPr>
        <p:txBody>
          <a:bodyPr wrap="square" rtlCol="0">
            <a:noAutofit/>
          </a:bodyPr>
          <a:lstStyle/>
          <a:p>
            <a:endParaRPr lang="en-US" altLang="zh-CN" sz="19900">
              <a:solidFill>
                <a:schemeClr val="bg1"/>
              </a:solidFill>
              <a:latin typeface="方正姚体" panose="02010601030101010101" charset="-122"/>
              <a:ea typeface="方正姚体" panose="02010601030101010101" charset="-122"/>
            </a:endParaRPr>
          </a:p>
        </p:txBody>
      </p:sp>
      <p:sp>
        <p:nvSpPr>
          <p:cNvPr id="12" name="文本框 11"/>
          <p:cNvSpPr txBox="1"/>
          <p:nvPr userDrawn="1">
            <p:custDataLst>
              <p:tags r:id="rId5"/>
            </p:custDataLst>
          </p:nvPr>
        </p:nvSpPr>
        <p:spPr>
          <a:xfrm flipH="1" flipV="1">
            <a:off x="11178540" y="4871720"/>
            <a:ext cx="286385" cy="68135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51" h="1073">
                <a:moveTo>
                  <a:pt x="420" y="0"/>
                </a:moveTo>
                <a:lnTo>
                  <a:pt x="420" y="202"/>
                </a:lnTo>
                <a:cubicBezTo>
                  <a:pt x="264" y="316"/>
                  <a:pt x="192" y="440"/>
                  <a:pt x="202" y="575"/>
                </a:cubicBezTo>
                <a:lnTo>
                  <a:pt x="451" y="575"/>
                </a:lnTo>
                <a:lnTo>
                  <a:pt x="451" y="1073"/>
                </a:lnTo>
                <a:lnTo>
                  <a:pt x="0" y="1073"/>
                </a:lnTo>
                <a:lnTo>
                  <a:pt x="0" y="544"/>
                </a:lnTo>
                <a:cubicBezTo>
                  <a:pt x="10" y="306"/>
                  <a:pt x="150" y="124"/>
                  <a:pt x="420" y="0"/>
                </a:cubicBezTo>
                <a:close/>
              </a:path>
            </a:pathLst>
          </a:custGeom>
          <a:solidFill>
            <a:schemeClr val="accent1"/>
          </a:solidFill>
          <a:effectLst/>
        </p:spPr>
        <p:txBody>
          <a:bodyPr wrap="square" rtlCol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sz="19900">
              <a:solidFill>
                <a:schemeClr val="bg1"/>
              </a:solidFill>
              <a:latin typeface="方正姚体" panose="02010601030101010101" charset="-122"/>
              <a:ea typeface="方正姚体" panose="02010601030101010101" charset="-122"/>
            </a:endParaRPr>
          </a:p>
        </p:txBody>
      </p:sp>
      <p:sp>
        <p:nvSpPr>
          <p:cNvPr id="15" name="文本框 14"/>
          <p:cNvSpPr txBox="1"/>
          <p:nvPr userDrawn="1">
            <p:custDataLst>
              <p:tags r:id="rId6"/>
            </p:custDataLst>
          </p:nvPr>
        </p:nvSpPr>
        <p:spPr>
          <a:xfrm flipV="1">
            <a:off x="1170305" y="1399540"/>
            <a:ext cx="295910" cy="68135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66" h="1073">
                <a:moveTo>
                  <a:pt x="420" y="0"/>
                </a:moveTo>
                <a:lnTo>
                  <a:pt x="420" y="202"/>
                </a:lnTo>
                <a:cubicBezTo>
                  <a:pt x="264" y="275"/>
                  <a:pt x="197" y="399"/>
                  <a:pt x="218" y="575"/>
                </a:cubicBezTo>
                <a:lnTo>
                  <a:pt x="466" y="575"/>
                </a:lnTo>
                <a:lnTo>
                  <a:pt x="466" y="1073"/>
                </a:lnTo>
                <a:lnTo>
                  <a:pt x="0" y="1073"/>
                </a:lnTo>
                <a:lnTo>
                  <a:pt x="0" y="529"/>
                </a:lnTo>
                <a:cubicBezTo>
                  <a:pt x="21" y="280"/>
                  <a:pt x="161" y="104"/>
                  <a:pt x="420" y="0"/>
                </a:cubicBezTo>
                <a:close/>
              </a:path>
            </a:pathLst>
          </a:custGeom>
          <a:solidFill>
            <a:schemeClr val="accent1"/>
          </a:solidFill>
          <a:effectLst/>
        </p:spPr>
        <p:txBody>
          <a:bodyPr wrap="square" rtlCol="0">
            <a:noAutofit/>
          </a:bodyPr>
          <a:lstStyle/>
          <a:p>
            <a:endParaRPr lang="en-US" altLang="zh-CN" sz="19900">
              <a:solidFill>
                <a:schemeClr val="bg1">
                  <a:alpha val="65000"/>
                </a:schemeClr>
              </a:solidFill>
              <a:latin typeface="方正姚体" panose="02010601030101010101" charset="-122"/>
              <a:ea typeface="方正姚体" panose="02010601030101010101" charset="-122"/>
            </a:endParaRPr>
          </a:p>
        </p:txBody>
      </p:sp>
      <p:sp>
        <p:nvSpPr>
          <p:cNvPr id="16" name="文本框 15"/>
          <p:cNvSpPr txBox="1"/>
          <p:nvPr userDrawn="1">
            <p:custDataLst>
              <p:tags r:id="rId7"/>
            </p:custDataLst>
          </p:nvPr>
        </p:nvSpPr>
        <p:spPr>
          <a:xfrm flipV="1">
            <a:off x="726440" y="1399540"/>
            <a:ext cx="286385" cy="68135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51" h="1073">
                <a:moveTo>
                  <a:pt x="420" y="0"/>
                </a:moveTo>
                <a:lnTo>
                  <a:pt x="420" y="202"/>
                </a:lnTo>
                <a:cubicBezTo>
                  <a:pt x="264" y="316"/>
                  <a:pt x="192" y="440"/>
                  <a:pt x="202" y="575"/>
                </a:cubicBezTo>
                <a:lnTo>
                  <a:pt x="451" y="575"/>
                </a:lnTo>
                <a:lnTo>
                  <a:pt x="451" y="1073"/>
                </a:lnTo>
                <a:lnTo>
                  <a:pt x="0" y="1073"/>
                </a:lnTo>
                <a:lnTo>
                  <a:pt x="0" y="544"/>
                </a:lnTo>
                <a:cubicBezTo>
                  <a:pt x="10" y="306"/>
                  <a:pt x="150" y="124"/>
                  <a:pt x="420" y="0"/>
                </a:cubicBezTo>
                <a:close/>
              </a:path>
            </a:pathLst>
          </a:custGeom>
          <a:solidFill>
            <a:schemeClr val="accent1"/>
          </a:solidFill>
          <a:effectLst/>
        </p:spPr>
        <p:txBody>
          <a:bodyPr wrap="square" rtlCol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sz="19900">
              <a:solidFill>
                <a:schemeClr val="bg1">
                  <a:alpha val="65000"/>
                </a:schemeClr>
              </a:solidFill>
              <a:latin typeface="方正姚体" panose="02010601030101010101" charset="-122"/>
              <a:ea typeface="方正姚体" panose="02010601030101010101" charset="-122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11"/>
            </p:custDataLst>
          </p:nvPr>
        </p:nvSpPr>
        <p:spPr>
          <a:xfrm>
            <a:off x="1506220" y="2680335"/>
            <a:ext cx="9180195" cy="1697990"/>
          </a:xfrm>
        </p:spPr>
        <p:txBody>
          <a:bodyPr wrap="square" anchor="t" anchorCtr="0">
            <a:normAutofit/>
          </a:bodyPr>
          <a:lstStyle>
            <a:lvl1pPr algn="ctr">
              <a:lnSpc>
                <a:spcPct val="100000"/>
              </a:lnSpc>
              <a:defRPr sz="6000"/>
            </a:lvl1pPr>
          </a:lstStyle>
          <a:p>
            <a:r>
              <a:rPr lang="zh-CN" altLang="en-US" dirty="0"/>
              <a:t>单击编辑母版标题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12"/>
            </p:custDataLst>
          </p:nvPr>
        </p:nvSpPr>
        <p:spPr>
          <a:xfrm>
            <a:off x="2470800" y="1926000"/>
            <a:ext cx="7250400" cy="460800"/>
          </a:xfrm>
        </p:spPr>
        <p:txBody>
          <a:bodyPr wrap="square"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2400" b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13"/>
            </p:custDataLst>
          </p:nvPr>
        </p:nvSpPr>
        <p:spPr>
          <a:xfrm>
            <a:off x="3936000" y="4680000"/>
            <a:ext cx="4320000" cy="504000"/>
          </a:xfrm>
        </p:spPr>
        <p:txBody>
          <a:bodyPr wrap="square"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b="1"/>
            </a:lvl1pPr>
          </a:lstStyle>
          <a:p>
            <a:pPr lvl="0"/>
            <a:r>
              <a:rPr lang="zh-CN" altLang="en-US" dirty="0"/>
              <a:t>署名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3" name="任意多边形 55"/>
          <p:cNvSpPr/>
          <p:nvPr userDrawn="1">
            <p:custDataLst>
              <p:tags r:id="rId5"/>
            </p:custDataLst>
          </p:nvPr>
        </p:nvSpPr>
        <p:spPr>
          <a:xfrm>
            <a:off x="808355" y="2261235"/>
            <a:ext cx="923290" cy="1787525"/>
          </a:xfrm>
          <a:custGeom>
            <a:avLst/>
            <a:gdLst>
              <a:gd name="connsiteX0" fmla="*/ 6 w 1454"/>
              <a:gd name="connsiteY0" fmla="*/ 2815 h 2815"/>
              <a:gd name="connsiteX1" fmla="*/ 0 w 1454"/>
              <a:gd name="connsiteY1" fmla="*/ 345 h 2815"/>
              <a:gd name="connsiteX2" fmla="*/ 310 w 1454"/>
              <a:gd name="connsiteY2" fmla="*/ 0 h 2815"/>
              <a:gd name="connsiteX3" fmla="*/ 1454 w 1454"/>
              <a:gd name="connsiteY3" fmla="*/ 9 h 28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54" h="2815">
                <a:moveTo>
                  <a:pt x="6" y="2815"/>
                </a:moveTo>
                <a:lnTo>
                  <a:pt x="0" y="345"/>
                </a:lnTo>
                <a:cubicBezTo>
                  <a:pt x="0" y="154"/>
                  <a:pt x="138" y="0"/>
                  <a:pt x="310" y="0"/>
                </a:cubicBezTo>
                <a:lnTo>
                  <a:pt x="1454" y="9"/>
                </a:lnTo>
              </a:path>
            </a:pathLst>
          </a:custGeom>
          <a:noFill/>
          <a:ln w="19050">
            <a:solidFill>
              <a:schemeClr val="accent1">
                <a:alpha val="6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 userDrawn="1">
            <p:custDataLst>
              <p:tags r:id="rId6"/>
            </p:custDataLst>
          </p:nvPr>
        </p:nvSpPr>
        <p:spPr>
          <a:xfrm flipH="1" flipV="1">
            <a:off x="3881120" y="2251710"/>
            <a:ext cx="158750" cy="39687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66" h="1073">
                <a:moveTo>
                  <a:pt x="420" y="0"/>
                </a:moveTo>
                <a:lnTo>
                  <a:pt x="420" y="202"/>
                </a:lnTo>
                <a:cubicBezTo>
                  <a:pt x="264" y="275"/>
                  <a:pt x="197" y="399"/>
                  <a:pt x="218" y="575"/>
                </a:cubicBezTo>
                <a:lnTo>
                  <a:pt x="466" y="575"/>
                </a:lnTo>
                <a:lnTo>
                  <a:pt x="466" y="1073"/>
                </a:lnTo>
                <a:lnTo>
                  <a:pt x="0" y="1073"/>
                </a:lnTo>
                <a:lnTo>
                  <a:pt x="0" y="529"/>
                </a:lnTo>
                <a:cubicBezTo>
                  <a:pt x="21" y="280"/>
                  <a:pt x="161" y="104"/>
                  <a:pt x="420" y="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effectLst/>
        </p:spPr>
        <p:txBody>
          <a:bodyPr wrap="square" rtlCol="0">
            <a:noAutofit/>
          </a:bodyPr>
          <a:lstStyle/>
          <a:p>
            <a:endParaRPr lang="en-US" altLang="zh-CN" sz="19900">
              <a:solidFill>
                <a:schemeClr val="bg1">
                  <a:alpha val="65000"/>
                </a:schemeClr>
              </a:solidFill>
              <a:latin typeface="方正姚体" panose="02010601030101010101" charset="-122"/>
              <a:ea typeface="方正姚体" panose="02010601030101010101" charset="-122"/>
            </a:endParaRPr>
          </a:p>
        </p:txBody>
      </p:sp>
      <p:sp>
        <p:nvSpPr>
          <p:cNvPr id="6" name="文本框 5"/>
          <p:cNvSpPr txBox="1"/>
          <p:nvPr userDrawn="1">
            <p:custDataLst>
              <p:tags r:id="rId7"/>
            </p:custDataLst>
          </p:nvPr>
        </p:nvSpPr>
        <p:spPr>
          <a:xfrm flipH="1" flipV="1">
            <a:off x="4123690" y="2251710"/>
            <a:ext cx="153670" cy="39687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51" h="1073">
                <a:moveTo>
                  <a:pt x="420" y="0"/>
                </a:moveTo>
                <a:lnTo>
                  <a:pt x="420" y="202"/>
                </a:lnTo>
                <a:cubicBezTo>
                  <a:pt x="264" y="316"/>
                  <a:pt x="192" y="440"/>
                  <a:pt x="202" y="575"/>
                </a:cubicBezTo>
                <a:lnTo>
                  <a:pt x="451" y="575"/>
                </a:lnTo>
                <a:lnTo>
                  <a:pt x="451" y="1073"/>
                </a:lnTo>
                <a:lnTo>
                  <a:pt x="0" y="1073"/>
                </a:lnTo>
                <a:lnTo>
                  <a:pt x="0" y="544"/>
                </a:lnTo>
                <a:cubicBezTo>
                  <a:pt x="10" y="306"/>
                  <a:pt x="150" y="124"/>
                  <a:pt x="420" y="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effectLst/>
        </p:spPr>
        <p:txBody>
          <a:bodyPr wrap="square" rtlCol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sz="19900">
              <a:solidFill>
                <a:schemeClr val="bg1">
                  <a:alpha val="65000"/>
                </a:schemeClr>
              </a:solidFill>
              <a:latin typeface="方正姚体" panose="02010601030101010101" charset="-122"/>
              <a:ea typeface="方正姚体" panose="02010601030101010101" charset="-122"/>
            </a:endParaRPr>
          </a:p>
        </p:txBody>
      </p:sp>
      <p:sp>
        <p:nvSpPr>
          <p:cNvPr id="11" name="文本框 10"/>
          <p:cNvSpPr txBox="1"/>
          <p:nvPr userDrawn="1">
            <p:custDataLst>
              <p:tags r:id="rId8"/>
            </p:custDataLst>
          </p:nvPr>
        </p:nvSpPr>
        <p:spPr>
          <a:xfrm flipV="1">
            <a:off x="878205" y="4321810"/>
            <a:ext cx="158750" cy="39687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66" h="1073">
                <a:moveTo>
                  <a:pt x="420" y="0"/>
                </a:moveTo>
                <a:lnTo>
                  <a:pt x="420" y="202"/>
                </a:lnTo>
                <a:cubicBezTo>
                  <a:pt x="264" y="275"/>
                  <a:pt x="197" y="399"/>
                  <a:pt x="218" y="575"/>
                </a:cubicBezTo>
                <a:lnTo>
                  <a:pt x="466" y="575"/>
                </a:lnTo>
                <a:lnTo>
                  <a:pt x="466" y="1073"/>
                </a:lnTo>
                <a:lnTo>
                  <a:pt x="0" y="1073"/>
                </a:lnTo>
                <a:lnTo>
                  <a:pt x="0" y="529"/>
                </a:lnTo>
                <a:cubicBezTo>
                  <a:pt x="21" y="280"/>
                  <a:pt x="161" y="104"/>
                  <a:pt x="420" y="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effectLst/>
        </p:spPr>
        <p:txBody>
          <a:bodyPr wrap="square" rtlCol="0">
            <a:noAutofit/>
          </a:bodyPr>
          <a:lstStyle/>
          <a:p>
            <a:endParaRPr lang="en-US" altLang="zh-CN" sz="19900">
              <a:solidFill>
                <a:schemeClr val="bg1"/>
              </a:solidFill>
              <a:latin typeface="方正姚体" panose="02010601030101010101" charset="-122"/>
              <a:ea typeface="方正姚体" panose="02010601030101010101" charset="-122"/>
            </a:endParaRPr>
          </a:p>
        </p:txBody>
      </p:sp>
      <p:sp>
        <p:nvSpPr>
          <p:cNvPr id="12" name="文本框 11"/>
          <p:cNvSpPr txBox="1"/>
          <p:nvPr userDrawn="1">
            <p:custDataLst>
              <p:tags r:id="rId9"/>
            </p:custDataLst>
          </p:nvPr>
        </p:nvSpPr>
        <p:spPr>
          <a:xfrm flipV="1">
            <a:off x="640715" y="4321810"/>
            <a:ext cx="153670" cy="39687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51" h="1073">
                <a:moveTo>
                  <a:pt x="420" y="0"/>
                </a:moveTo>
                <a:lnTo>
                  <a:pt x="420" y="202"/>
                </a:lnTo>
                <a:cubicBezTo>
                  <a:pt x="264" y="316"/>
                  <a:pt x="192" y="440"/>
                  <a:pt x="202" y="575"/>
                </a:cubicBezTo>
                <a:lnTo>
                  <a:pt x="451" y="575"/>
                </a:lnTo>
                <a:lnTo>
                  <a:pt x="451" y="1073"/>
                </a:lnTo>
                <a:lnTo>
                  <a:pt x="0" y="1073"/>
                </a:lnTo>
                <a:lnTo>
                  <a:pt x="0" y="544"/>
                </a:lnTo>
                <a:cubicBezTo>
                  <a:pt x="10" y="306"/>
                  <a:pt x="150" y="124"/>
                  <a:pt x="420" y="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effectLst/>
        </p:spPr>
        <p:txBody>
          <a:bodyPr wrap="square" rtlCol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sz="19900">
              <a:solidFill>
                <a:schemeClr val="bg1"/>
              </a:solidFill>
              <a:latin typeface="方正姚体" panose="02010601030101010101" charset="-122"/>
              <a:ea typeface="方正姚体" panose="02010601030101010101" charset="-122"/>
            </a:endParaRPr>
          </a:p>
        </p:txBody>
      </p:sp>
      <p:sp>
        <p:nvSpPr>
          <p:cNvPr id="13" name="任意多边形 1"/>
          <p:cNvSpPr/>
          <p:nvPr userDrawn="1">
            <p:custDataLst>
              <p:tags r:id="rId10"/>
            </p:custDataLst>
          </p:nvPr>
        </p:nvSpPr>
        <p:spPr>
          <a:xfrm flipH="1" flipV="1">
            <a:off x="3160395" y="2931160"/>
            <a:ext cx="922655" cy="1788795"/>
          </a:xfrm>
          <a:custGeom>
            <a:avLst/>
            <a:gdLst>
              <a:gd name="connsiteX0" fmla="*/ 6 w 1453"/>
              <a:gd name="connsiteY0" fmla="*/ 2817 h 2817"/>
              <a:gd name="connsiteX1" fmla="*/ 0 w 1453"/>
              <a:gd name="connsiteY1" fmla="*/ 347 h 2817"/>
              <a:gd name="connsiteX2" fmla="*/ 310 w 1453"/>
              <a:gd name="connsiteY2" fmla="*/ 2 h 2817"/>
              <a:gd name="connsiteX3" fmla="*/ 1453 w 1453"/>
              <a:gd name="connsiteY3" fmla="*/ 0 h 28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53" h="2817">
                <a:moveTo>
                  <a:pt x="6" y="2817"/>
                </a:moveTo>
                <a:lnTo>
                  <a:pt x="0" y="347"/>
                </a:lnTo>
                <a:cubicBezTo>
                  <a:pt x="0" y="156"/>
                  <a:pt x="138" y="2"/>
                  <a:pt x="310" y="2"/>
                </a:cubicBezTo>
                <a:lnTo>
                  <a:pt x="1453" y="0"/>
                </a:lnTo>
              </a:path>
            </a:pathLst>
          </a:custGeom>
          <a:noFill/>
          <a:ln w="19050">
            <a:solidFill>
              <a:schemeClr val="accent1">
                <a:alpha val="6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1"/>
            </p:custDataLst>
          </p:nvPr>
        </p:nvSpPr>
        <p:spPr>
          <a:xfrm>
            <a:off x="1404000" y="2628000"/>
            <a:ext cx="2134800" cy="921600"/>
          </a:xfrm>
        </p:spPr>
        <p:txBody>
          <a:bodyPr wrap="square" anchor="ctr">
            <a:normAutofit/>
          </a:bodyPr>
          <a:lstStyle>
            <a:lvl1pPr algn="ctr">
              <a:defRPr sz="540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r>
              <a:rPr lang="zh-CN" altLang="en-US" dirty="0"/>
              <a:t>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4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5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6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9" name="文本框 8"/>
          <p:cNvSpPr txBox="1"/>
          <p:nvPr userDrawn="1">
            <p:custDataLst>
              <p:tags r:id="rId5"/>
            </p:custDataLst>
          </p:nvPr>
        </p:nvSpPr>
        <p:spPr>
          <a:xfrm flipH="1" flipV="1">
            <a:off x="4109085" y="4247515"/>
            <a:ext cx="144145" cy="36068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66" h="1073">
                <a:moveTo>
                  <a:pt x="420" y="0"/>
                </a:moveTo>
                <a:lnTo>
                  <a:pt x="420" y="202"/>
                </a:lnTo>
                <a:cubicBezTo>
                  <a:pt x="264" y="275"/>
                  <a:pt x="197" y="399"/>
                  <a:pt x="218" y="575"/>
                </a:cubicBezTo>
                <a:lnTo>
                  <a:pt x="466" y="575"/>
                </a:lnTo>
                <a:lnTo>
                  <a:pt x="466" y="1073"/>
                </a:lnTo>
                <a:lnTo>
                  <a:pt x="0" y="1073"/>
                </a:lnTo>
                <a:lnTo>
                  <a:pt x="0" y="529"/>
                </a:lnTo>
                <a:cubicBezTo>
                  <a:pt x="21" y="280"/>
                  <a:pt x="161" y="104"/>
                  <a:pt x="420" y="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effectLst/>
        </p:spPr>
        <p:txBody>
          <a:bodyPr wrap="square" rtlCol="0">
            <a:noAutofit/>
          </a:bodyPr>
          <a:lstStyle/>
          <a:p>
            <a:endParaRPr lang="en-US" altLang="zh-CN" sz="19900">
              <a:solidFill>
                <a:schemeClr val="bg1"/>
              </a:solidFill>
              <a:latin typeface="方正姚体" panose="02010601030101010101" charset="-122"/>
              <a:ea typeface="方正姚体" panose="02010601030101010101" charset="-122"/>
            </a:endParaRPr>
          </a:p>
        </p:txBody>
      </p:sp>
      <p:sp>
        <p:nvSpPr>
          <p:cNvPr id="10" name="文本框 9"/>
          <p:cNvSpPr txBox="1"/>
          <p:nvPr userDrawn="1">
            <p:custDataLst>
              <p:tags r:id="rId6"/>
            </p:custDataLst>
          </p:nvPr>
        </p:nvSpPr>
        <p:spPr>
          <a:xfrm flipH="1" flipV="1">
            <a:off x="4330065" y="4247515"/>
            <a:ext cx="139065" cy="36068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51" h="1073">
                <a:moveTo>
                  <a:pt x="420" y="0"/>
                </a:moveTo>
                <a:lnTo>
                  <a:pt x="420" y="202"/>
                </a:lnTo>
                <a:cubicBezTo>
                  <a:pt x="264" y="316"/>
                  <a:pt x="192" y="440"/>
                  <a:pt x="202" y="575"/>
                </a:cubicBezTo>
                <a:lnTo>
                  <a:pt x="451" y="575"/>
                </a:lnTo>
                <a:lnTo>
                  <a:pt x="451" y="1073"/>
                </a:lnTo>
                <a:lnTo>
                  <a:pt x="0" y="1073"/>
                </a:lnTo>
                <a:lnTo>
                  <a:pt x="0" y="544"/>
                </a:lnTo>
                <a:cubicBezTo>
                  <a:pt x="10" y="306"/>
                  <a:pt x="150" y="124"/>
                  <a:pt x="420" y="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effectLst/>
        </p:spPr>
        <p:txBody>
          <a:bodyPr wrap="square" rtlCol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sz="19900">
              <a:solidFill>
                <a:schemeClr val="bg1"/>
              </a:solidFill>
              <a:latin typeface="方正姚体" panose="02010601030101010101" charset="-122"/>
              <a:ea typeface="方正姚体" panose="02010601030101010101" charset="-122"/>
            </a:endParaRPr>
          </a:p>
        </p:txBody>
      </p:sp>
      <p:sp>
        <p:nvSpPr>
          <p:cNvPr id="12" name="文本框 11"/>
          <p:cNvSpPr txBox="1"/>
          <p:nvPr userDrawn="1">
            <p:custDataLst>
              <p:tags r:id="rId7"/>
            </p:custDataLst>
          </p:nvPr>
        </p:nvSpPr>
        <p:spPr>
          <a:xfrm flipV="1">
            <a:off x="1392555" y="2370455"/>
            <a:ext cx="144145" cy="36068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66" h="1073">
                <a:moveTo>
                  <a:pt x="420" y="0"/>
                </a:moveTo>
                <a:lnTo>
                  <a:pt x="420" y="202"/>
                </a:lnTo>
                <a:cubicBezTo>
                  <a:pt x="264" y="275"/>
                  <a:pt x="197" y="399"/>
                  <a:pt x="218" y="575"/>
                </a:cubicBezTo>
                <a:lnTo>
                  <a:pt x="466" y="575"/>
                </a:lnTo>
                <a:lnTo>
                  <a:pt x="466" y="1073"/>
                </a:lnTo>
                <a:lnTo>
                  <a:pt x="0" y="1073"/>
                </a:lnTo>
                <a:lnTo>
                  <a:pt x="0" y="529"/>
                </a:lnTo>
                <a:cubicBezTo>
                  <a:pt x="21" y="280"/>
                  <a:pt x="161" y="104"/>
                  <a:pt x="420" y="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effectLst/>
        </p:spPr>
        <p:txBody>
          <a:bodyPr wrap="square" rtlCol="0">
            <a:noAutofit/>
          </a:bodyPr>
          <a:lstStyle/>
          <a:p>
            <a:endParaRPr lang="en-US" altLang="zh-CN" sz="19900">
              <a:solidFill>
                <a:schemeClr val="bg1">
                  <a:alpha val="65000"/>
                </a:schemeClr>
              </a:solidFill>
              <a:latin typeface="方正姚体" panose="02010601030101010101" charset="-122"/>
              <a:ea typeface="方正姚体" panose="02010601030101010101" charset="-122"/>
            </a:endParaRPr>
          </a:p>
        </p:txBody>
      </p:sp>
      <p:sp>
        <p:nvSpPr>
          <p:cNvPr id="13" name="文本框 12"/>
          <p:cNvSpPr txBox="1"/>
          <p:nvPr userDrawn="1">
            <p:custDataLst>
              <p:tags r:id="rId8"/>
            </p:custDataLst>
          </p:nvPr>
        </p:nvSpPr>
        <p:spPr>
          <a:xfrm flipV="1">
            <a:off x="1176655" y="2370455"/>
            <a:ext cx="139065" cy="36068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51" h="1073">
                <a:moveTo>
                  <a:pt x="420" y="0"/>
                </a:moveTo>
                <a:lnTo>
                  <a:pt x="420" y="202"/>
                </a:lnTo>
                <a:cubicBezTo>
                  <a:pt x="264" y="316"/>
                  <a:pt x="192" y="440"/>
                  <a:pt x="202" y="575"/>
                </a:cubicBezTo>
                <a:lnTo>
                  <a:pt x="451" y="575"/>
                </a:lnTo>
                <a:lnTo>
                  <a:pt x="451" y="1073"/>
                </a:lnTo>
                <a:lnTo>
                  <a:pt x="0" y="1073"/>
                </a:lnTo>
                <a:lnTo>
                  <a:pt x="0" y="544"/>
                </a:lnTo>
                <a:cubicBezTo>
                  <a:pt x="10" y="306"/>
                  <a:pt x="150" y="124"/>
                  <a:pt x="420" y="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effectLst/>
        </p:spPr>
        <p:txBody>
          <a:bodyPr wrap="square" rtlCol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sz="19900">
              <a:solidFill>
                <a:schemeClr val="bg1">
                  <a:alpha val="65000"/>
                </a:schemeClr>
              </a:solidFill>
              <a:latin typeface="方正姚体" panose="02010601030101010101" charset="-122"/>
              <a:ea typeface="方正姚体" panose="02010601030101010101" charset="-122"/>
            </a:endParaRPr>
          </a:p>
        </p:txBody>
      </p:sp>
      <p:sp>
        <p:nvSpPr>
          <p:cNvPr id="17" name="任意多边形: 形状 16"/>
          <p:cNvSpPr/>
          <p:nvPr userDrawn="1">
            <p:custDataLst>
              <p:tags r:id="rId9"/>
            </p:custDataLst>
          </p:nvPr>
        </p:nvSpPr>
        <p:spPr>
          <a:xfrm flipH="1" flipV="1">
            <a:off x="0" y="1924050"/>
            <a:ext cx="4290514" cy="1822450"/>
          </a:xfrm>
          <a:custGeom>
            <a:avLst/>
            <a:gdLst>
              <a:gd name="connsiteX0" fmla="*/ 336550 w 4290514"/>
              <a:gd name="connsiteY0" fmla="*/ 1822450 h 1822450"/>
              <a:gd name="connsiteX1" fmla="*/ 635 w 4290514"/>
              <a:gd name="connsiteY1" fmla="*/ 1486535 h 1822450"/>
              <a:gd name="connsiteX2" fmla="*/ 0 w 4290514"/>
              <a:gd name="connsiteY2" fmla="*/ 0 h 1822450"/>
              <a:gd name="connsiteX3" fmla="*/ 4290514 w 4290514"/>
              <a:gd name="connsiteY3" fmla="*/ 619124 h 1822450"/>
              <a:gd name="connsiteX4" fmla="*/ 4290514 w 4290514"/>
              <a:gd name="connsiteY4" fmla="*/ 1819576 h 1822450"/>
              <a:gd name="connsiteX0-1" fmla="*/ 4290514 w 4381954"/>
              <a:gd name="connsiteY0-2" fmla="*/ 619124 h 1822450"/>
              <a:gd name="connsiteX1-3" fmla="*/ 4290514 w 4381954"/>
              <a:gd name="connsiteY1-4" fmla="*/ 1819576 h 1822450"/>
              <a:gd name="connsiteX2-5" fmla="*/ 336550 w 4381954"/>
              <a:gd name="connsiteY2-6" fmla="*/ 1822450 h 1822450"/>
              <a:gd name="connsiteX3-7" fmla="*/ 635 w 4381954"/>
              <a:gd name="connsiteY3-8" fmla="*/ 1486535 h 1822450"/>
              <a:gd name="connsiteX4-9" fmla="*/ 0 w 4381954"/>
              <a:gd name="connsiteY4-10" fmla="*/ 0 h 1822450"/>
              <a:gd name="connsiteX5" fmla="*/ 4381954 w 4381954"/>
              <a:gd name="connsiteY5" fmla="*/ 710564 h 1822450"/>
              <a:gd name="connsiteX0-11" fmla="*/ 4290514 w 4290514"/>
              <a:gd name="connsiteY0-12" fmla="*/ 619124 h 1822450"/>
              <a:gd name="connsiteX1-13" fmla="*/ 4290514 w 4290514"/>
              <a:gd name="connsiteY1-14" fmla="*/ 1819576 h 1822450"/>
              <a:gd name="connsiteX2-15" fmla="*/ 336550 w 4290514"/>
              <a:gd name="connsiteY2-16" fmla="*/ 1822450 h 1822450"/>
              <a:gd name="connsiteX3-17" fmla="*/ 635 w 4290514"/>
              <a:gd name="connsiteY3-18" fmla="*/ 1486535 h 1822450"/>
              <a:gd name="connsiteX4-19" fmla="*/ 0 w 4290514"/>
              <a:gd name="connsiteY4-20" fmla="*/ 0 h 1822450"/>
              <a:gd name="connsiteX0-21" fmla="*/ 4290514 w 4290514"/>
              <a:gd name="connsiteY0-22" fmla="*/ 1819576 h 1822450"/>
              <a:gd name="connsiteX1-23" fmla="*/ 336550 w 4290514"/>
              <a:gd name="connsiteY1-24" fmla="*/ 1822450 h 1822450"/>
              <a:gd name="connsiteX2-25" fmla="*/ 635 w 4290514"/>
              <a:gd name="connsiteY2-26" fmla="*/ 1486535 h 1822450"/>
              <a:gd name="connsiteX3-27" fmla="*/ 0 w 4290514"/>
              <a:gd name="connsiteY3-28" fmla="*/ 0 h 182245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4290514" h="1822450">
                <a:moveTo>
                  <a:pt x="4290514" y="1819576"/>
                </a:moveTo>
                <a:lnTo>
                  <a:pt x="336550" y="1822450"/>
                </a:lnTo>
                <a:cubicBezTo>
                  <a:pt x="151130" y="1822450"/>
                  <a:pt x="635" y="1671955"/>
                  <a:pt x="635" y="1486535"/>
                </a:cubicBezTo>
                <a:cubicBezTo>
                  <a:pt x="423" y="991023"/>
                  <a:pt x="212" y="495512"/>
                  <a:pt x="0" y="0"/>
                </a:cubicBezTo>
              </a:path>
            </a:pathLst>
          </a:custGeom>
          <a:noFill/>
          <a:ln w="19050">
            <a:solidFill>
              <a:schemeClr val="accent1">
                <a:alpha val="7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altLang="zh-CN"/>
          </a:p>
        </p:txBody>
      </p:sp>
      <p:sp>
        <p:nvSpPr>
          <p:cNvPr id="19" name="任意多边形: 形状 18"/>
          <p:cNvSpPr/>
          <p:nvPr userDrawn="1">
            <p:custDataLst>
              <p:tags r:id="rId10"/>
            </p:custDataLst>
          </p:nvPr>
        </p:nvSpPr>
        <p:spPr>
          <a:xfrm>
            <a:off x="1336676" y="3125470"/>
            <a:ext cx="10855325" cy="1822450"/>
          </a:xfrm>
          <a:custGeom>
            <a:avLst/>
            <a:gdLst>
              <a:gd name="connsiteX0" fmla="*/ 0 w 10855325"/>
              <a:gd name="connsiteY0" fmla="*/ 0 h 1822450"/>
              <a:gd name="connsiteX1" fmla="*/ 10855325 w 10855325"/>
              <a:gd name="connsiteY1" fmla="*/ 1566432 h 1822450"/>
              <a:gd name="connsiteX2" fmla="*/ 10855325 w 10855325"/>
              <a:gd name="connsiteY2" fmla="*/ 1814805 h 1822450"/>
              <a:gd name="connsiteX3" fmla="*/ 336550 w 10855325"/>
              <a:gd name="connsiteY3" fmla="*/ 1822450 h 1822450"/>
              <a:gd name="connsiteX4" fmla="*/ 635 w 10855325"/>
              <a:gd name="connsiteY4" fmla="*/ 1486535 h 1822450"/>
              <a:gd name="connsiteX0-1" fmla="*/ 10855325 w 10946765"/>
              <a:gd name="connsiteY0-2" fmla="*/ 1566432 h 1822450"/>
              <a:gd name="connsiteX1-3" fmla="*/ 10855325 w 10946765"/>
              <a:gd name="connsiteY1-4" fmla="*/ 1814805 h 1822450"/>
              <a:gd name="connsiteX2-5" fmla="*/ 336550 w 10946765"/>
              <a:gd name="connsiteY2-6" fmla="*/ 1822450 h 1822450"/>
              <a:gd name="connsiteX3-7" fmla="*/ 635 w 10946765"/>
              <a:gd name="connsiteY3-8" fmla="*/ 1486535 h 1822450"/>
              <a:gd name="connsiteX4-9" fmla="*/ 0 w 10946765"/>
              <a:gd name="connsiteY4-10" fmla="*/ 0 h 1822450"/>
              <a:gd name="connsiteX5" fmla="*/ 10946765 w 10946765"/>
              <a:gd name="connsiteY5" fmla="*/ 1657872 h 1822450"/>
              <a:gd name="connsiteX0-11" fmla="*/ 10855325 w 10855325"/>
              <a:gd name="connsiteY0-12" fmla="*/ 1566432 h 1822450"/>
              <a:gd name="connsiteX1-13" fmla="*/ 10855325 w 10855325"/>
              <a:gd name="connsiteY1-14" fmla="*/ 1814805 h 1822450"/>
              <a:gd name="connsiteX2-15" fmla="*/ 336550 w 10855325"/>
              <a:gd name="connsiteY2-16" fmla="*/ 1822450 h 1822450"/>
              <a:gd name="connsiteX3-17" fmla="*/ 635 w 10855325"/>
              <a:gd name="connsiteY3-18" fmla="*/ 1486535 h 1822450"/>
              <a:gd name="connsiteX4-19" fmla="*/ 0 w 10855325"/>
              <a:gd name="connsiteY4-20" fmla="*/ 0 h 1822450"/>
              <a:gd name="connsiteX0-21" fmla="*/ 10855325 w 10855325"/>
              <a:gd name="connsiteY0-22" fmla="*/ 1814805 h 1822450"/>
              <a:gd name="connsiteX1-23" fmla="*/ 336550 w 10855325"/>
              <a:gd name="connsiteY1-24" fmla="*/ 1822450 h 1822450"/>
              <a:gd name="connsiteX2-25" fmla="*/ 635 w 10855325"/>
              <a:gd name="connsiteY2-26" fmla="*/ 1486535 h 1822450"/>
              <a:gd name="connsiteX3-27" fmla="*/ 0 w 10855325"/>
              <a:gd name="connsiteY3-28" fmla="*/ 0 h 182245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10855325" h="1822450">
                <a:moveTo>
                  <a:pt x="10855325" y="1814805"/>
                </a:moveTo>
                <a:lnTo>
                  <a:pt x="336550" y="1822450"/>
                </a:lnTo>
                <a:cubicBezTo>
                  <a:pt x="151130" y="1822450"/>
                  <a:pt x="635" y="1671955"/>
                  <a:pt x="635" y="1486535"/>
                </a:cubicBezTo>
                <a:cubicBezTo>
                  <a:pt x="423" y="991023"/>
                  <a:pt x="212" y="495512"/>
                  <a:pt x="0" y="0"/>
                </a:cubicBezTo>
              </a:path>
            </a:pathLst>
          </a:custGeom>
          <a:noFill/>
          <a:ln w="19050">
            <a:solidFill>
              <a:schemeClr val="accent1">
                <a:alpha val="7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11"/>
            </p:custDataLst>
          </p:nvPr>
        </p:nvSpPr>
        <p:spPr>
          <a:xfrm>
            <a:off x="5616000" y="2412000"/>
            <a:ext cx="6004800" cy="1936800"/>
          </a:xfrm>
        </p:spPr>
        <p:txBody>
          <a:bodyPr wrap="square" anchor="ctr">
            <a:normAutofit/>
          </a:bodyPr>
          <a:lstStyle>
            <a:lvl1pPr algn="l">
              <a:defRPr sz="5400">
                <a:solidFill>
                  <a:schemeClr val="tx1">
                    <a:alpha val="85000"/>
                  </a:schemeClr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8" name="节编号 3"/>
          <p:cNvSpPr>
            <a:spLocks noGrp="1"/>
          </p:cNvSpPr>
          <p:nvPr>
            <p:ph type="body" sz="quarter" idx="13" hasCustomPrompt="1"/>
            <p:custDataLst>
              <p:tags r:id="rId12"/>
            </p:custDataLst>
          </p:nvPr>
        </p:nvSpPr>
        <p:spPr>
          <a:xfrm>
            <a:off x="1278000" y="2340000"/>
            <a:ext cx="3060000" cy="2361600"/>
          </a:xfrm>
        </p:spPr>
        <p:txBody>
          <a:bodyPr wrap="none" bIns="252000" anchor="ctr">
            <a:normAutofit/>
          </a:bodyPr>
          <a:lstStyle>
            <a:lvl1pPr marL="0" indent="0" algn="ctr">
              <a:buNone/>
              <a:defRPr sz="10000" b="1">
                <a:solidFill>
                  <a:schemeClr val="tx1">
                    <a:alpha val="70000"/>
                  </a:schemeClr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编号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>
              <a:defRPr lang="zh-CN" altLang="en-US" dirty="0"/>
            </a:lvl1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95960" y="1301750"/>
            <a:ext cx="5323840" cy="4875850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172200" y="1301750"/>
            <a:ext cx="5323840" cy="4875850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9596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9596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4"/>
            </p:custDataLst>
          </p:nvPr>
        </p:nvSpPr>
        <p:spPr>
          <a:xfrm>
            <a:off x="617220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17220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0" name="标题 9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1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95960" y="360045"/>
            <a:ext cx="10801985" cy="5817870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95960" y="1301750"/>
            <a:ext cx="10799088" cy="405553"/>
          </a:xfrm>
        </p:spPr>
        <p:txBody>
          <a:bodyPr wrap="square" anchor="t">
            <a:norm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4" name="标题 3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任意多边形: 形状 28"/>
          <p:cNvSpPr/>
          <p:nvPr userDrawn="1">
            <p:custDataLst>
              <p:tags r:id="rId2"/>
            </p:custDataLst>
          </p:nvPr>
        </p:nvSpPr>
        <p:spPr>
          <a:xfrm>
            <a:off x="1" y="787400"/>
            <a:ext cx="11095355" cy="3505200"/>
          </a:xfrm>
          <a:custGeom>
            <a:avLst/>
            <a:gdLst>
              <a:gd name="connsiteX0" fmla="*/ 10131107 w 11095355"/>
              <a:gd name="connsiteY0" fmla="*/ 0 h 3505200"/>
              <a:gd name="connsiteX1" fmla="*/ 11095355 w 11095355"/>
              <a:gd name="connsiteY1" fmla="*/ 835025 h 3505200"/>
              <a:gd name="connsiteX2" fmla="*/ 11095355 w 11095355"/>
              <a:gd name="connsiteY2" fmla="*/ 3505200 h 3505200"/>
              <a:gd name="connsiteX3" fmla="*/ 0 w 11095355"/>
              <a:gd name="connsiteY3" fmla="*/ 180612 h 3505200"/>
              <a:gd name="connsiteX4" fmla="*/ 0 w 11095355"/>
              <a:gd name="connsiteY4" fmla="*/ 36392 h 3505200"/>
              <a:gd name="connsiteX0-1" fmla="*/ 0 w 11095355"/>
              <a:gd name="connsiteY0-2" fmla="*/ 180612 h 3505200"/>
              <a:gd name="connsiteX1-3" fmla="*/ 0 w 11095355"/>
              <a:gd name="connsiteY1-4" fmla="*/ 36392 h 3505200"/>
              <a:gd name="connsiteX2-5" fmla="*/ 10131107 w 11095355"/>
              <a:gd name="connsiteY2-6" fmla="*/ 0 h 3505200"/>
              <a:gd name="connsiteX3-7" fmla="*/ 11095355 w 11095355"/>
              <a:gd name="connsiteY3-8" fmla="*/ 835025 h 3505200"/>
              <a:gd name="connsiteX4-9" fmla="*/ 11095355 w 11095355"/>
              <a:gd name="connsiteY4-10" fmla="*/ 3505200 h 3505200"/>
              <a:gd name="connsiteX5" fmla="*/ 91440 w 11095355"/>
              <a:gd name="connsiteY5" fmla="*/ 272052 h 3505200"/>
              <a:gd name="connsiteX0-11" fmla="*/ 0 w 11095355"/>
              <a:gd name="connsiteY0-12" fmla="*/ 180612 h 3505200"/>
              <a:gd name="connsiteX1-13" fmla="*/ 0 w 11095355"/>
              <a:gd name="connsiteY1-14" fmla="*/ 36392 h 3505200"/>
              <a:gd name="connsiteX2-15" fmla="*/ 10131107 w 11095355"/>
              <a:gd name="connsiteY2-16" fmla="*/ 0 h 3505200"/>
              <a:gd name="connsiteX3-17" fmla="*/ 11095355 w 11095355"/>
              <a:gd name="connsiteY3-18" fmla="*/ 835025 h 3505200"/>
              <a:gd name="connsiteX4-19" fmla="*/ 11095355 w 11095355"/>
              <a:gd name="connsiteY4-20" fmla="*/ 3505200 h 3505200"/>
              <a:gd name="connsiteX0-21" fmla="*/ 0 w 11095355"/>
              <a:gd name="connsiteY0-22" fmla="*/ 36392 h 3505200"/>
              <a:gd name="connsiteX1-23" fmla="*/ 10131107 w 11095355"/>
              <a:gd name="connsiteY1-24" fmla="*/ 0 h 3505200"/>
              <a:gd name="connsiteX2-25" fmla="*/ 11095355 w 11095355"/>
              <a:gd name="connsiteY2-26" fmla="*/ 835025 h 3505200"/>
              <a:gd name="connsiteX3-27" fmla="*/ 11095355 w 11095355"/>
              <a:gd name="connsiteY3-28" fmla="*/ 3505200 h 35052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11095355" h="3505200">
                <a:moveTo>
                  <a:pt x="0" y="36392"/>
                </a:moveTo>
                <a:lnTo>
                  <a:pt x="10131107" y="0"/>
                </a:lnTo>
                <a:cubicBezTo>
                  <a:pt x="10663460" y="0"/>
                  <a:pt x="11095355" y="374015"/>
                  <a:pt x="11095355" y="835025"/>
                </a:cubicBezTo>
                <a:lnTo>
                  <a:pt x="11095355" y="3505200"/>
                </a:lnTo>
              </a:path>
            </a:pathLst>
          </a:custGeom>
          <a:noFill/>
          <a:ln w="31750">
            <a:solidFill>
              <a:schemeClr val="accent1">
                <a:alpha val="7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1" name="任意多边形: 形状 30"/>
          <p:cNvSpPr/>
          <p:nvPr userDrawn="1">
            <p:custDataLst>
              <p:tags r:id="rId3"/>
            </p:custDataLst>
          </p:nvPr>
        </p:nvSpPr>
        <p:spPr>
          <a:xfrm flipH="1" flipV="1">
            <a:off x="1096646" y="2565400"/>
            <a:ext cx="11095355" cy="3505200"/>
          </a:xfrm>
          <a:custGeom>
            <a:avLst/>
            <a:gdLst>
              <a:gd name="connsiteX0" fmla="*/ 11095355 w 11095355"/>
              <a:gd name="connsiteY0" fmla="*/ 3505200 h 3505200"/>
              <a:gd name="connsiteX1" fmla="*/ 0 w 11095355"/>
              <a:gd name="connsiteY1" fmla="*/ 180612 h 3505200"/>
              <a:gd name="connsiteX2" fmla="*/ 0 w 11095355"/>
              <a:gd name="connsiteY2" fmla="*/ 36392 h 3505200"/>
              <a:gd name="connsiteX3" fmla="*/ 10131107 w 11095355"/>
              <a:gd name="connsiteY3" fmla="*/ 0 h 3505200"/>
              <a:gd name="connsiteX4" fmla="*/ 11095355 w 11095355"/>
              <a:gd name="connsiteY4" fmla="*/ 835025 h 3505200"/>
              <a:gd name="connsiteX0-1" fmla="*/ 0 w 11095355"/>
              <a:gd name="connsiteY0-2" fmla="*/ 180612 h 3505200"/>
              <a:gd name="connsiteX1-3" fmla="*/ 0 w 11095355"/>
              <a:gd name="connsiteY1-4" fmla="*/ 36392 h 3505200"/>
              <a:gd name="connsiteX2-5" fmla="*/ 10131107 w 11095355"/>
              <a:gd name="connsiteY2-6" fmla="*/ 0 h 3505200"/>
              <a:gd name="connsiteX3-7" fmla="*/ 11095355 w 11095355"/>
              <a:gd name="connsiteY3-8" fmla="*/ 835025 h 3505200"/>
              <a:gd name="connsiteX4-9" fmla="*/ 11095355 w 11095355"/>
              <a:gd name="connsiteY4-10" fmla="*/ 3505200 h 3505200"/>
              <a:gd name="connsiteX5" fmla="*/ 91440 w 11095355"/>
              <a:gd name="connsiteY5" fmla="*/ 272052 h 3505200"/>
              <a:gd name="connsiteX0-11" fmla="*/ 0 w 11095355"/>
              <a:gd name="connsiteY0-12" fmla="*/ 180612 h 3505200"/>
              <a:gd name="connsiteX1-13" fmla="*/ 0 w 11095355"/>
              <a:gd name="connsiteY1-14" fmla="*/ 36392 h 3505200"/>
              <a:gd name="connsiteX2-15" fmla="*/ 10131107 w 11095355"/>
              <a:gd name="connsiteY2-16" fmla="*/ 0 h 3505200"/>
              <a:gd name="connsiteX3-17" fmla="*/ 11095355 w 11095355"/>
              <a:gd name="connsiteY3-18" fmla="*/ 835025 h 3505200"/>
              <a:gd name="connsiteX4-19" fmla="*/ 11095355 w 11095355"/>
              <a:gd name="connsiteY4-20" fmla="*/ 3505200 h 3505200"/>
              <a:gd name="connsiteX0-21" fmla="*/ 0 w 11095355"/>
              <a:gd name="connsiteY0-22" fmla="*/ 36392 h 3505200"/>
              <a:gd name="connsiteX1-23" fmla="*/ 10131107 w 11095355"/>
              <a:gd name="connsiteY1-24" fmla="*/ 0 h 3505200"/>
              <a:gd name="connsiteX2-25" fmla="*/ 11095355 w 11095355"/>
              <a:gd name="connsiteY2-26" fmla="*/ 835025 h 3505200"/>
              <a:gd name="connsiteX3-27" fmla="*/ 11095355 w 11095355"/>
              <a:gd name="connsiteY3-28" fmla="*/ 3505200 h 35052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11095355" h="3505200">
                <a:moveTo>
                  <a:pt x="0" y="36392"/>
                </a:moveTo>
                <a:lnTo>
                  <a:pt x="10131107" y="0"/>
                </a:lnTo>
                <a:cubicBezTo>
                  <a:pt x="10663460" y="0"/>
                  <a:pt x="11095355" y="374015"/>
                  <a:pt x="11095355" y="835025"/>
                </a:cubicBezTo>
                <a:lnTo>
                  <a:pt x="11095355" y="3505200"/>
                </a:lnTo>
              </a:path>
            </a:pathLst>
          </a:custGeom>
          <a:noFill/>
          <a:ln w="31750">
            <a:solidFill>
              <a:schemeClr val="accent1">
                <a:alpha val="7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2" name="文本框 21"/>
          <p:cNvSpPr txBox="1"/>
          <p:nvPr userDrawn="1">
            <p:custDataLst>
              <p:tags r:id="rId4"/>
            </p:custDataLst>
          </p:nvPr>
        </p:nvSpPr>
        <p:spPr>
          <a:xfrm flipH="1" flipV="1">
            <a:off x="10725150" y="4871720"/>
            <a:ext cx="295910" cy="68135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66" h="1073">
                <a:moveTo>
                  <a:pt x="420" y="0"/>
                </a:moveTo>
                <a:lnTo>
                  <a:pt x="420" y="202"/>
                </a:lnTo>
                <a:cubicBezTo>
                  <a:pt x="264" y="275"/>
                  <a:pt x="197" y="399"/>
                  <a:pt x="218" y="575"/>
                </a:cubicBezTo>
                <a:lnTo>
                  <a:pt x="466" y="575"/>
                </a:lnTo>
                <a:lnTo>
                  <a:pt x="466" y="1073"/>
                </a:lnTo>
                <a:lnTo>
                  <a:pt x="0" y="1073"/>
                </a:lnTo>
                <a:lnTo>
                  <a:pt x="0" y="529"/>
                </a:lnTo>
                <a:cubicBezTo>
                  <a:pt x="21" y="280"/>
                  <a:pt x="161" y="104"/>
                  <a:pt x="420" y="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effectLst/>
        </p:spPr>
        <p:txBody>
          <a:bodyPr wrap="square" rtlCol="0">
            <a:noAutofit/>
          </a:bodyPr>
          <a:lstStyle/>
          <a:p>
            <a:endParaRPr lang="en-US" altLang="zh-CN" sz="19900">
              <a:solidFill>
                <a:schemeClr val="bg1"/>
              </a:solidFill>
              <a:latin typeface="方正姚体" panose="02010601030101010101" charset="-122"/>
              <a:ea typeface="方正姚体" panose="02010601030101010101" charset="-122"/>
            </a:endParaRPr>
          </a:p>
        </p:txBody>
      </p:sp>
      <p:sp>
        <p:nvSpPr>
          <p:cNvPr id="23" name="文本框 22"/>
          <p:cNvSpPr txBox="1"/>
          <p:nvPr userDrawn="1">
            <p:custDataLst>
              <p:tags r:id="rId5"/>
            </p:custDataLst>
          </p:nvPr>
        </p:nvSpPr>
        <p:spPr>
          <a:xfrm flipH="1" flipV="1">
            <a:off x="11178540" y="4871720"/>
            <a:ext cx="286385" cy="68135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51" h="1073">
                <a:moveTo>
                  <a:pt x="420" y="0"/>
                </a:moveTo>
                <a:lnTo>
                  <a:pt x="420" y="202"/>
                </a:lnTo>
                <a:cubicBezTo>
                  <a:pt x="264" y="316"/>
                  <a:pt x="192" y="440"/>
                  <a:pt x="202" y="575"/>
                </a:cubicBezTo>
                <a:lnTo>
                  <a:pt x="451" y="575"/>
                </a:lnTo>
                <a:lnTo>
                  <a:pt x="451" y="1073"/>
                </a:lnTo>
                <a:lnTo>
                  <a:pt x="0" y="1073"/>
                </a:lnTo>
                <a:lnTo>
                  <a:pt x="0" y="544"/>
                </a:lnTo>
                <a:cubicBezTo>
                  <a:pt x="10" y="306"/>
                  <a:pt x="150" y="124"/>
                  <a:pt x="420" y="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effectLst/>
        </p:spPr>
        <p:txBody>
          <a:bodyPr wrap="square" rtlCol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sz="19900">
              <a:solidFill>
                <a:schemeClr val="bg1"/>
              </a:solidFill>
              <a:latin typeface="方正姚体" panose="02010601030101010101" charset="-122"/>
              <a:ea typeface="方正姚体" panose="02010601030101010101" charset="-122"/>
            </a:endParaRPr>
          </a:p>
        </p:txBody>
      </p:sp>
      <p:sp>
        <p:nvSpPr>
          <p:cNvPr id="26" name="文本框 25"/>
          <p:cNvSpPr txBox="1"/>
          <p:nvPr userDrawn="1">
            <p:custDataLst>
              <p:tags r:id="rId6"/>
            </p:custDataLst>
          </p:nvPr>
        </p:nvSpPr>
        <p:spPr>
          <a:xfrm flipV="1">
            <a:off x="1170305" y="1399540"/>
            <a:ext cx="295910" cy="68135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66" h="1073">
                <a:moveTo>
                  <a:pt x="420" y="0"/>
                </a:moveTo>
                <a:lnTo>
                  <a:pt x="420" y="202"/>
                </a:lnTo>
                <a:cubicBezTo>
                  <a:pt x="264" y="275"/>
                  <a:pt x="197" y="399"/>
                  <a:pt x="218" y="575"/>
                </a:cubicBezTo>
                <a:lnTo>
                  <a:pt x="466" y="575"/>
                </a:lnTo>
                <a:lnTo>
                  <a:pt x="466" y="1073"/>
                </a:lnTo>
                <a:lnTo>
                  <a:pt x="0" y="1073"/>
                </a:lnTo>
                <a:lnTo>
                  <a:pt x="0" y="529"/>
                </a:lnTo>
                <a:cubicBezTo>
                  <a:pt x="21" y="280"/>
                  <a:pt x="161" y="104"/>
                  <a:pt x="420" y="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effectLst/>
        </p:spPr>
        <p:txBody>
          <a:bodyPr wrap="square" rtlCol="0">
            <a:noAutofit/>
          </a:bodyPr>
          <a:lstStyle/>
          <a:p>
            <a:endParaRPr lang="en-US" altLang="zh-CN" sz="19900">
              <a:solidFill>
                <a:schemeClr val="bg1">
                  <a:alpha val="65000"/>
                </a:schemeClr>
              </a:solidFill>
              <a:latin typeface="方正姚体" panose="02010601030101010101" charset="-122"/>
              <a:ea typeface="方正姚体" panose="02010601030101010101" charset="-122"/>
            </a:endParaRPr>
          </a:p>
        </p:txBody>
      </p:sp>
      <p:sp>
        <p:nvSpPr>
          <p:cNvPr id="27" name="文本框 26"/>
          <p:cNvSpPr txBox="1"/>
          <p:nvPr userDrawn="1">
            <p:custDataLst>
              <p:tags r:id="rId7"/>
            </p:custDataLst>
          </p:nvPr>
        </p:nvSpPr>
        <p:spPr>
          <a:xfrm flipV="1">
            <a:off x="726440" y="1399540"/>
            <a:ext cx="286385" cy="68135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51" h="1073">
                <a:moveTo>
                  <a:pt x="420" y="0"/>
                </a:moveTo>
                <a:lnTo>
                  <a:pt x="420" y="202"/>
                </a:lnTo>
                <a:cubicBezTo>
                  <a:pt x="264" y="316"/>
                  <a:pt x="192" y="440"/>
                  <a:pt x="202" y="575"/>
                </a:cubicBezTo>
                <a:lnTo>
                  <a:pt x="451" y="575"/>
                </a:lnTo>
                <a:lnTo>
                  <a:pt x="451" y="1073"/>
                </a:lnTo>
                <a:lnTo>
                  <a:pt x="0" y="1073"/>
                </a:lnTo>
                <a:lnTo>
                  <a:pt x="0" y="544"/>
                </a:lnTo>
                <a:cubicBezTo>
                  <a:pt x="10" y="306"/>
                  <a:pt x="150" y="124"/>
                  <a:pt x="420" y="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effectLst/>
        </p:spPr>
        <p:txBody>
          <a:bodyPr wrap="square" rtlCol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sz="19900">
              <a:solidFill>
                <a:schemeClr val="bg1">
                  <a:alpha val="65000"/>
                </a:schemeClr>
              </a:solidFill>
              <a:latin typeface="方正姚体" panose="02010601030101010101" charset="-122"/>
              <a:ea typeface="方正姚体" panose="02010601030101010101" charset="-122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11"/>
            </p:custDataLst>
          </p:nvPr>
        </p:nvSpPr>
        <p:spPr>
          <a:xfrm>
            <a:off x="2298065" y="2835910"/>
            <a:ext cx="7595870" cy="1540510"/>
          </a:xfrm>
        </p:spPr>
        <p:txBody>
          <a:bodyPr wrap="square" anchor="t" anchorCtr="0">
            <a:normAutofit/>
          </a:bodyPr>
          <a:lstStyle>
            <a:lvl1pPr algn="ctr">
              <a:lnSpc>
                <a:spcPct val="100000"/>
              </a:lnSpc>
              <a:defRPr sz="6000"/>
            </a:lvl1pPr>
          </a:lstStyle>
          <a:p>
            <a:r>
              <a:rPr lang="zh-CN" altLang="en-US" dirty="0"/>
              <a:t>单击编辑母版标题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12"/>
            </p:custDataLst>
          </p:nvPr>
        </p:nvSpPr>
        <p:spPr>
          <a:xfrm>
            <a:off x="2707200" y="2026800"/>
            <a:ext cx="6775200" cy="460800"/>
          </a:xfrm>
        </p:spPr>
        <p:txBody>
          <a:bodyPr wrap="square"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2400" b="1">
                <a:latin typeface="+mj-ea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13"/>
            </p:custDataLst>
          </p:nvPr>
        </p:nvSpPr>
        <p:spPr>
          <a:xfrm>
            <a:off x="4656000" y="4618800"/>
            <a:ext cx="2880000" cy="504000"/>
          </a:xfrm>
        </p:spPr>
        <p:txBody>
          <a:bodyPr wrap="square"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b="1"/>
            </a:lvl1pPr>
          </a:lstStyle>
          <a:p>
            <a:pPr lvl="0"/>
            <a:r>
              <a:rPr lang="zh-CN" altLang="en-US" dirty="0"/>
              <a:t>署名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2" Type="http://schemas.openxmlformats.org/officeDocument/2006/relationships/theme" Target="../theme/theme2.xml"/><Relationship Id="rId21" Type="http://schemas.openxmlformats.org/officeDocument/2006/relationships/tags" Target="../tags/tag90.xml"/><Relationship Id="rId20" Type="http://schemas.openxmlformats.org/officeDocument/2006/relationships/tags" Target="../tags/tag89.xml"/><Relationship Id="rId2" Type="http://schemas.openxmlformats.org/officeDocument/2006/relationships/slideLayout" Target="../slideLayouts/slideLayout13.xml"/><Relationship Id="rId19" Type="http://schemas.openxmlformats.org/officeDocument/2006/relationships/tags" Target="../tags/tag88.xml"/><Relationship Id="rId18" Type="http://schemas.openxmlformats.org/officeDocument/2006/relationships/tags" Target="../tags/tag87.xml"/><Relationship Id="rId17" Type="http://schemas.openxmlformats.org/officeDocument/2006/relationships/tags" Target="../tags/tag86.xml"/><Relationship Id="rId16" Type="http://schemas.openxmlformats.org/officeDocument/2006/relationships/tags" Target="../tags/tag85.xml"/><Relationship Id="rId15" Type="http://schemas.openxmlformats.org/officeDocument/2006/relationships/tags" Target="../tags/tag84.xml"/><Relationship Id="rId14" Type="http://schemas.openxmlformats.org/officeDocument/2006/relationships/tags" Target="../tags/tag83.xml"/><Relationship Id="rId13" Type="http://schemas.openxmlformats.org/officeDocument/2006/relationships/tags" Target="../tags/tag82.xml"/><Relationship Id="rId12" Type="http://schemas.openxmlformats.org/officeDocument/2006/relationships/tags" Target="../tags/tag81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9" name="文本框 8"/>
          <p:cNvSpPr txBox="1"/>
          <p:nvPr userDrawn="1">
            <p:custDataLst>
              <p:tags r:id="rId17"/>
            </p:custDataLst>
          </p:nvPr>
        </p:nvSpPr>
        <p:spPr>
          <a:xfrm flipH="1" flipV="1">
            <a:off x="10631170" y="498475"/>
            <a:ext cx="151765" cy="3803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66" h="1073">
                <a:moveTo>
                  <a:pt x="420" y="0"/>
                </a:moveTo>
                <a:lnTo>
                  <a:pt x="420" y="202"/>
                </a:lnTo>
                <a:cubicBezTo>
                  <a:pt x="264" y="275"/>
                  <a:pt x="197" y="399"/>
                  <a:pt x="218" y="575"/>
                </a:cubicBezTo>
                <a:lnTo>
                  <a:pt x="466" y="575"/>
                </a:lnTo>
                <a:lnTo>
                  <a:pt x="466" y="1073"/>
                </a:lnTo>
                <a:lnTo>
                  <a:pt x="0" y="1073"/>
                </a:lnTo>
                <a:lnTo>
                  <a:pt x="0" y="529"/>
                </a:lnTo>
                <a:cubicBezTo>
                  <a:pt x="21" y="280"/>
                  <a:pt x="161" y="104"/>
                  <a:pt x="420" y="0"/>
                </a:cubicBezTo>
                <a:close/>
              </a:path>
            </a:pathLst>
          </a:custGeom>
          <a:solidFill>
            <a:schemeClr val="accent1">
              <a:alpha val="70000"/>
            </a:schemeClr>
          </a:solidFill>
          <a:effectLst/>
        </p:spPr>
        <p:txBody>
          <a:bodyPr wrap="square" rtlCol="0">
            <a:noAutofit/>
          </a:bodyPr>
          <a:lstStyle/>
          <a:p>
            <a:endParaRPr lang="en-US" altLang="zh-CN" sz="11500">
              <a:solidFill>
                <a:schemeClr val="bg1"/>
              </a:solidFill>
              <a:latin typeface="方正姚体" panose="02010601030101010101" charset="-122"/>
              <a:ea typeface="方正姚体" panose="02010601030101010101" charset="-122"/>
            </a:endParaRPr>
          </a:p>
        </p:txBody>
      </p:sp>
      <p:sp>
        <p:nvSpPr>
          <p:cNvPr id="10" name="文本框 9"/>
          <p:cNvSpPr txBox="1"/>
          <p:nvPr userDrawn="1">
            <p:custDataLst>
              <p:tags r:id="rId18"/>
            </p:custDataLst>
          </p:nvPr>
        </p:nvSpPr>
        <p:spPr>
          <a:xfrm flipH="1" flipV="1">
            <a:off x="10864215" y="498475"/>
            <a:ext cx="147320" cy="3803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51" h="1073">
                <a:moveTo>
                  <a:pt x="420" y="0"/>
                </a:moveTo>
                <a:lnTo>
                  <a:pt x="420" y="202"/>
                </a:lnTo>
                <a:cubicBezTo>
                  <a:pt x="264" y="316"/>
                  <a:pt x="192" y="440"/>
                  <a:pt x="202" y="575"/>
                </a:cubicBezTo>
                <a:lnTo>
                  <a:pt x="451" y="575"/>
                </a:lnTo>
                <a:lnTo>
                  <a:pt x="451" y="1073"/>
                </a:lnTo>
                <a:lnTo>
                  <a:pt x="0" y="1073"/>
                </a:lnTo>
                <a:lnTo>
                  <a:pt x="0" y="544"/>
                </a:lnTo>
                <a:cubicBezTo>
                  <a:pt x="10" y="306"/>
                  <a:pt x="150" y="124"/>
                  <a:pt x="420" y="0"/>
                </a:cubicBezTo>
                <a:close/>
              </a:path>
            </a:pathLst>
          </a:custGeom>
          <a:solidFill>
            <a:schemeClr val="accent1">
              <a:alpha val="70000"/>
            </a:schemeClr>
          </a:solidFill>
          <a:effectLst/>
        </p:spPr>
        <p:txBody>
          <a:bodyPr wrap="square" rtlCol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sz="11500">
              <a:solidFill>
                <a:schemeClr val="bg1"/>
              </a:solidFill>
              <a:latin typeface="方正姚体" panose="02010601030101010101" charset="-122"/>
              <a:ea typeface="方正姚体" panose="02010601030101010101" charset="-122"/>
            </a:endParaRPr>
          </a:p>
        </p:txBody>
      </p:sp>
      <p:sp>
        <p:nvSpPr>
          <p:cNvPr id="14" name="任意多边形: 形状 13"/>
          <p:cNvSpPr/>
          <p:nvPr userDrawn="1">
            <p:custDataLst>
              <p:tags r:id="rId19"/>
            </p:custDataLst>
          </p:nvPr>
        </p:nvSpPr>
        <p:spPr>
          <a:xfrm flipH="1">
            <a:off x="10270490" y="134620"/>
            <a:ext cx="1921510" cy="742950"/>
          </a:xfrm>
          <a:custGeom>
            <a:avLst/>
            <a:gdLst>
              <a:gd name="connsiteX0" fmla="*/ 1784350 w 1921510"/>
              <a:gd name="connsiteY0" fmla="*/ 0 h 742950"/>
              <a:gd name="connsiteX1" fmla="*/ 0 w 1921510"/>
              <a:gd name="connsiteY1" fmla="*/ 3191 h 742950"/>
              <a:gd name="connsiteX2" fmla="*/ 0 w 1921510"/>
              <a:gd name="connsiteY2" fmla="*/ 626041 h 742950"/>
              <a:gd name="connsiteX3" fmla="*/ 1918970 w 1921510"/>
              <a:gd name="connsiteY3" fmla="*/ 742950 h 742950"/>
              <a:gd name="connsiteX4" fmla="*/ 1921510 w 1921510"/>
              <a:gd name="connsiteY4" fmla="*/ 137160 h 742950"/>
              <a:gd name="connsiteX5" fmla="*/ 1784350 w 1921510"/>
              <a:gd name="connsiteY5" fmla="*/ 0 h 742950"/>
              <a:gd name="connsiteX0-1" fmla="*/ 0 w 1921510"/>
              <a:gd name="connsiteY0-2" fmla="*/ 626041 h 742950"/>
              <a:gd name="connsiteX1-3" fmla="*/ 1918970 w 1921510"/>
              <a:gd name="connsiteY1-4" fmla="*/ 742950 h 742950"/>
              <a:gd name="connsiteX2-5" fmla="*/ 1921510 w 1921510"/>
              <a:gd name="connsiteY2-6" fmla="*/ 137160 h 742950"/>
              <a:gd name="connsiteX3-7" fmla="*/ 1784350 w 1921510"/>
              <a:gd name="connsiteY3-8" fmla="*/ 0 h 742950"/>
              <a:gd name="connsiteX4-9" fmla="*/ 0 w 1921510"/>
              <a:gd name="connsiteY4-10" fmla="*/ 3191 h 742950"/>
              <a:gd name="connsiteX5-11" fmla="*/ 91440 w 1921510"/>
              <a:gd name="connsiteY5-12" fmla="*/ 717481 h 742950"/>
              <a:gd name="connsiteX0-13" fmla="*/ 0 w 1921510"/>
              <a:gd name="connsiteY0-14" fmla="*/ 626041 h 742950"/>
              <a:gd name="connsiteX1-15" fmla="*/ 1918970 w 1921510"/>
              <a:gd name="connsiteY1-16" fmla="*/ 742950 h 742950"/>
              <a:gd name="connsiteX2-17" fmla="*/ 1921510 w 1921510"/>
              <a:gd name="connsiteY2-18" fmla="*/ 137160 h 742950"/>
              <a:gd name="connsiteX3-19" fmla="*/ 1784350 w 1921510"/>
              <a:gd name="connsiteY3-20" fmla="*/ 0 h 742950"/>
              <a:gd name="connsiteX4-21" fmla="*/ 0 w 1921510"/>
              <a:gd name="connsiteY4-22" fmla="*/ 3191 h 742950"/>
              <a:gd name="connsiteX0-23" fmla="*/ 1918970 w 1921510"/>
              <a:gd name="connsiteY0-24" fmla="*/ 742950 h 742950"/>
              <a:gd name="connsiteX1-25" fmla="*/ 1921510 w 1921510"/>
              <a:gd name="connsiteY1-26" fmla="*/ 137160 h 742950"/>
              <a:gd name="connsiteX2-27" fmla="*/ 1784350 w 1921510"/>
              <a:gd name="connsiteY2-28" fmla="*/ 0 h 742950"/>
              <a:gd name="connsiteX3-29" fmla="*/ 0 w 1921510"/>
              <a:gd name="connsiteY3-30" fmla="*/ 3191 h 74295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1921510" h="742950">
                <a:moveTo>
                  <a:pt x="1918970" y="742950"/>
                </a:moveTo>
                <a:cubicBezTo>
                  <a:pt x="1919817" y="541020"/>
                  <a:pt x="1920663" y="339090"/>
                  <a:pt x="1921510" y="137160"/>
                </a:cubicBezTo>
                <a:cubicBezTo>
                  <a:pt x="1921510" y="61595"/>
                  <a:pt x="1859915" y="0"/>
                  <a:pt x="1784350" y="0"/>
                </a:cubicBezTo>
                <a:lnTo>
                  <a:pt x="0" y="3191"/>
                </a:lnTo>
              </a:path>
            </a:pathLst>
          </a:custGeom>
          <a:noFill/>
          <a:ln w="19050">
            <a:solidFill>
              <a:schemeClr val="accent1">
                <a:alpha val="2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2" name="任意多边形 5"/>
          <p:cNvSpPr/>
          <p:nvPr userDrawn="1">
            <p:custDataLst>
              <p:tags r:id="rId20"/>
            </p:custDataLst>
          </p:nvPr>
        </p:nvSpPr>
        <p:spPr>
          <a:xfrm flipV="1">
            <a:off x="914400" y="449580"/>
            <a:ext cx="10406380" cy="749935"/>
          </a:xfrm>
          <a:custGeom>
            <a:avLst/>
            <a:gdLst>
              <a:gd name="connsiteX0" fmla="*/ 0 w 16388"/>
              <a:gd name="connsiteY0" fmla="*/ 5 h 1181"/>
              <a:gd name="connsiteX1" fmla="*/ 16168 w 16388"/>
              <a:gd name="connsiteY1" fmla="*/ 0 h 1181"/>
              <a:gd name="connsiteX2" fmla="*/ 16384 w 16388"/>
              <a:gd name="connsiteY2" fmla="*/ 216 h 1181"/>
              <a:gd name="connsiteX3" fmla="*/ 16388 w 16388"/>
              <a:gd name="connsiteY3" fmla="*/ 1181 h 11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388" h="1181">
                <a:moveTo>
                  <a:pt x="0" y="5"/>
                </a:moveTo>
                <a:lnTo>
                  <a:pt x="16168" y="0"/>
                </a:lnTo>
                <a:cubicBezTo>
                  <a:pt x="16287" y="0"/>
                  <a:pt x="16384" y="97"/>
                  <a:pt x="16384" y="216"/>
                </a:cubicBezTo>
                <a:lnTo>
                  <a:pt x="16388" y="1181"/>
                </a:lnTo>
              </a:path>
            </a:pathLst>
          </a:custGeom>
          <a:noFill/>
          <a:ln w="19050">
            <a:solidFill>
              <a:schemeClr val="accent1">
                <a:alpha val="2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KSO_TEMPLATE" hidden="1"/>
          <p:cNvSpPr/>
          <p:nvPr userDrawn="1">
            <p:custDataLst>
              <p:tags r:id="rId21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2.xml"/><Relationship Id="rId3" Type="http://schemas.openxmlformats.org/officeDocument/2006/relationships/tags" Target="../tags/tag93.xml"/><Relationship Id="rId2" Type="http://schemas.openxmlformats.org/officeDocument/2006/relationships/tags" Target="../tags/tag92.xml"/><Relationship Id="rId1" Type="http://schemas.openxmlformats.org/officeDocument/2006/relationships/tags" Target="../tags/tag9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102.xml"/><Relationship Id="rId8" Type="http://schemas.openxmlformats.org/officeDocument/2006/relationships/tags" Target="../tags/tag101.xml"/><Relationship Id="rId7" Type="http://schemas.openxmlformats.org/officeDocument/2006/relationships/tags" Target="../tags/tag100.xml"/><Relationship Id="rId6" Type="http://schemas.openxmlformats.org/officeDocument/2006/relationships/tags" Target="../tags/tag99.xml"/><Relationship Id="rId5" Type="http://schemas.openxmlformats.org/officeDocument/2006/relationships/tags" Target="../tags/tag98.xml"/><Relationship Id="rId4" Type="http://schemas.openxmlformats.org/officeDocument/2006/relationships/tags" Target="../tags/tag97.xml"/><Relationship Id="rId3" Type="http://schemas.openxmlformats.org/officeDocument/2006/relationships/tags" Target="../tags/tag96.xml"/><Relationship Id="rId2" Type="http://schemas.openxmlformats.org/officeDocument/2006/relationships/tags" Target="../tags/tag95.xml"/><Relationship Id="rId13" Type="http://schemas.openxmlformats.org/officeDocument/2006/relationships/notesSlide" Target="../notesSlides/notesSlide2.xml"/><Relationship Id="rId12" Type="http://schemas.openxmlformats.org/officeDocument/2006/relationships/slideLayout" Target="../slideLayouts/slideLayout14.xml"/><Relationship Id="rId11" Type="http://schemas.openxmlformats.org/officeDocument/2006/relationships/tags" Target="../tags/tag104.xml"/><Relationship Id="rId10" Type="http://schemas.openxmlformats.org/officeDocument/2006/relationships/tags" Target="../tags/tag103.xml"/><Relationship Id="rId1" Type="http://schemas.openxmlformats.org/officeDocument/2006/relationships/tags" Target="../tags/tag94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5.xml"/><Relationship Id="rId3" Type="http://schemas.openxmlformats.org/officeDocument/2006/relationships/tags" Target="../tags/tag107.xml"/><Relationship Id="rId2" Type="http://schemas.openxmlformats.org/officeDocument/2006/relationships/tags" Target="../tags/tag106.xml"/><Relationship Id="rId1" Type="http://schemas.openxmlformats.org/officeDocument/2006/relationships/tags" Target="../tags/tag105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3.xml"/><Relationship Id="rId8" Type="http://schemas.openxmlformats.org/officeDocument/2006/relationships/slideLayout" Target="../slideLayouts/slideLayout18.xml"/><Relationship Id="rId7" Type="http://schemas.openxmlformats.org/officeDocument/2006/relationships/tags" Target="../tags/tag114.xml"/><Relationship Id="rId6" Type="http://schemas.openxmlformats.org/officeDocument/2006/relationships/tags" Target="../tags/tag113.xml"/><Relationship Id="rId5" Type="http://schemas.openxmlformats.org/officeDocument/2006/relationships/tags" Target="../tags/tag112.xml"/><Relationship Id="rId4" Type="http://schemas.openxmlformats.org/officeDocument/2006/relationships/tags" Target="../tags/tag111.xml"/><Relationship Id="rId3" Type="http://schemas.openxmlformats.org/officeDocument/2006/relationships/tags" Target="../tags/tag110.xml"/><Relationship Id="rId2" Type="http://schemas.openxmlformats.org/officeDocument/2006/relationships/tags" Target="../tags/tag109.xml"/><Relationship Id="rId1" Type="http://schemas.openxmlformats.org/officeDocument/2006/relationships/tags" Target="../tags/tag108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18.xml"/><Relationship Id="rId2" Type="http://schemas.openxmlformats.org/officeDocument/2006/relationships/tags" Target="../tags/tag116.xml"/><Relationship Id="rId1" Type="http://schemas.openxmlformats.org/officeDocument/2006/relationships/tags" Target="../tags/tag115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125.xml"/><Relationship Id="rId8" Type="http://schemas.openxmlformats.org/officeDocument/2006/relationships/tags" Target="../tags/tag124.xml"/><Relationship Id="rId7" Type="http://schemas.openxmlformats.org/officeDocument/2006/relationships/tags" Target="../tags/tag123.xml"/><Relationship Id="rId6" Type="http://schemas.openxmlformats.org/officeDocument/2006/relationships/tags" Target="../tags/tag122.xml"/><Relationship Id="rId5" Type="http://schemas.openxmlformats.org/officeDocument/2006/relationships/tags" Target="../tags/tag121.xml"/><Relationship Id="rId4" Type="http://schemas.openxmlformats.org/officeDocument/2006/relationships/tags" Target="../tags/tag120.xml"/><Relationship Id="rId3" Type="http://schemas.openxmlformats.org/officeDocument/2006/relationships/tags" Target="../tags/tag119.xml"/><Relationship Id="rId2" Type="http://schemas.openxmlformats.org/officeDocument/2006/relationships/tags" Target="../tags/tag118.xml"/><Relationship Id="rId18" Type="http://schemas.openxmlformats.org/officeDocument/2006/relationships/notesSlide" Target="../notesSlides/notesSlide5.xml"/><Relationship Id="rId17" Type="http://schemas.openxmlformats.org/officeDocument/2006/relationships/slideLayout" Target="../slideLayouts/slideLayout18.xml"/><Relationship Id="rId16" Type="http://schemas.openxmlformats.org/officeDocument/2006/relationships/tags" Target="../tags/tag132.xml"/><Relationship Id="rId15" Type="http://schemas.openxmlformats.org/officeDocument/2006/relationships/tags" Target="../tags/tag131.xml"/><Relationship Id="rId14" Type="http://schemas.openxmlformats.org/officeDocument/2006/relationships/tags" Target="../tags/tag130.xml"/><Relationship Id="rId13" Type="http://schemas.openxmlformats.org/officeDocument/2006/relationships/tags" Target="../tags/tag129.xml"/><Relationship Id="rId12" Type="http://schemas.openxmlformats.org/officeDocument/2006/relationships/tags" Target="../tags/tag128.xml"/><Relationship Id="rId11" Type="http://schemas.openxmlformats.org/officeDocument/2006/relationships/tags" Target="../tags/tag127.xml"/><Relationship Id="rId10" Type="http://schemas.openxmlformats.org/officeDocument/2006/relationships/tags" Target="../tags/tag126.xml"/><Relationship Id="rId1" Type="http://schemas.openxmlformats.org/officeDocument/2006/relationships/tags" Target="../tags/tag117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5.xml"/><Relationship Id="rId3" Type="http://schemas.openxmlformats.org/officeDocument/2006/relationships/tags" Target="../tags/tag135.xml"/><Relationship Id="rId2" Type="http://schemas.openxmlformats.org/officeDocument/2006/relationships/tags" Target="../tags/tag134.xml"/><Relationship Id="rId1" Type="http://schemas.openxmlformats.org/officeDocument/2006/relationships/tags" Target="../tags/tag133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6.xml"/><Relationship Id="rId8" Type="http://schemas.openxmlformats.org/officeDocument/2006/relationships/slideLayout" Target="../slideLayouts/slideLayout18.xml"/><Relationship Id="rId7" Type="http://schemas.openxmlformats.org/officeDocument/2006/relationships/tags" Target="../tags/tag142.xml"/><Relationship Id="rId6" Type="http://schemas.openxmlformats.org/officeDocument/2006/relationships/tags" Target="../tags/tag141.xml"/><Relationship Id="rId5" Type="http://schemas.openxmlformats.org/officeDocument/2006/relationships/tags" Target="../tags/tag140.xml"/><Relationship Id="rId4" Type="http://schemas.openxmlformats.org/officeDocument/2006/relationships/tags" Target="../tags/tag139.xml"/><Relationship Id="rId3" Type="http://schemas.openxmlformats.org/officeDocument/2006/relationships/tags" Target="../tags/tag138.xml"/><Relationship Id="rId2" Type="http://schemas.openxmlformats.org/officeDocument/2006/relationships/tags" Target="../tags/tag137.xml"/><Relationship Id="rId1" Type="http://schemas.openxmlformats.org/officeDocument/2006/relationships/tags" Target="../tags/tag13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8.xml"/><Relationship Id="rId1" Type="http://schemas.openxmlformats.org/officeDocument/2006/relationships/tags" Target="../tags/tag143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152.xml"/><Relationship Id="rId8" Type="http://schemas.openxmlformats.org/officeDocument/2006/relationships/tags" Target="../tags/tag151.xml"/><Relationship Id="rId7" Type="http://schemas.openxmlformats.org/officeDocument/2006/relationships/tags" Target="../tags/tag150.xml"/><Relationship Id="rId6" Type="http://schemas.openxmlformats.org/officeDocument/2006/relationships/tags" Target="../tags/tag149.xml"/><Relationship Id="rId5" Type="http://schemas.openxmlformats.org/officeDocument/2006/relationships/tags" Target="../tags/tag148.xml"/><Relationship Id="rId4" Type="http://schemas.openxmlformats.org/officeDocument/2006/relationships/tags" Target="../tags/tag147.xml"/><Relationship Id="rId3" Type="http://schemas.openxmlformats.org/officeDocument/2006/relationships/tags" Target="../tags/tag146.xml"/><Relationship Id="rId2" Type="http://schemas.openxmlformats.org/officeDocument/2006/relationships/tags" Target="../tags/tag145.xml"/><Relationship Id="rId12" Type="http://schemas.openxmlformats.org/officeDocument/2006/relationships/slideLayout" Target="../slideLayouts/slideLayout18.xml"/><Relationship Id="rId11" Type="http://schemas.openxmlformats.org/officeDocument/2006/relationships/tags" Target="../tags/tag154.xml"/><Relationship Id="rId10" Type="http://schemas.openxmlformats.org/officeDocument/2006/relationships/tags" Target="../tags/tag153.xml"/><Relationship Id="rId1" Type="http://schemas.openxmlformats.org/officeDocument/2006/relationships/tags" Target="../tags/tag144.xml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5.xml"/><Relationship Id="rId3" Type="http://schemas.openxmlformats.org/officeDocument/2006/relationships/tags" Target="../tags/tag157.xml"/><Relationship Id="rId2" Type="http://schemas.openxmlformats.org/officeDocument/2006/relationships/tags" Target="../tags/tag156.xml"/><Relationship Id="rId1" Type="http://schemas.openxmlformats.org/officeDocument/2006/relationships/tags" Target="../tags/tag155.xml"/></Relationships>
</file>

<file path=ppt/slides/_rels/slide12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8.xml"/><Relationship Id="rId6" Type="http://schemas.openxmlformats.org/officeDocument/2006/relationships/slideLayout" Target="../slideLayouts/slideLayout18.xml"/><Relationship Id="rId5" Type="http://schemas.openxmlformats.org/officeDocument/2006/relationships/tags" Target="../tags/tag162.xml"/><Relationship Id="rId4" Type="http://schemas.openxmlformats.org/officeDocument/2006/relationships/tags" Target="../tags/tag161.xml"/><Relationship Id="rId3" Type="http://schemas.openxmlformats.org/officeDocument/2006/relationships/tags" Target="../tags/tag160.xml"/><Relationship Id="rId2" Type="http://schemas.openxmlformats.org/officeDocument/2006/relationships/tags" Target="../tags/tag159.xml"/><Relationship Id="rId1" Type="http://schemas.openxmlformats.org/officeDocument/2006/relationships/tags" Target="../tags/tag158.xml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18.xml"/><Relationship Id="rId3" Type="http://schemas.openxmlformats.org/officeDocument/2006/relationships/tags" Target="../tags/tag164.xml"/><Relationship Id="rId2" Type="http://schemas.openxmlformats.org/officeDocument/2006/relationships/image" Target="../media/image1.png"/><Relationship Id="rId1" Type="http://schemas.openxmlformats.org/officeDocument/2006/relationships/tags" Target="../tags/tag163.xml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0.xml"/><Relationship Id="rId8" Type="http://schemas.openxmlformats.org/officeDocument/2006/relationships/slideLayout" Target="../slideLayouts/slideLayout18.xml"/><Relationship Id="rId7" Type="http://schemas.openxmlformats.org/officeDocument/2006/relationships/tags" Target="../tags/tag166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tags" Target="../tags/tag165.xml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18.xml"/><Relationship Id="rId3" Type="http://schemas.openxmlformats.org/officeDocument/2006/relationships/tags" Target="../tags/tag168.xml"/><Relationship Id="rId2" Type="http://schemas.openxmlformats.org/officeDocument/2006/relationships/image" Target="../media/image1.png"/><Relationship Id="rId1" Type="http://schemas.openxmlformats.org/officeDocument/2006/relationships/tags" Target="../tags/tag167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2.xml"/><Relationship Id="rId7" Type="http://schemas.openxmlformats.org/officeDocument/2006/relationships/slideLayout" Target="../slideLayouts/slideLayout18.xml"/><Relationship Id="rId6" Type="http://schemas.openxmlformats.org/officeDocument/2006/relationships/tags" Target="../tags/tag170.xml"/><Relationship Id="rId5" Type="http://schemas.openxmlformats.org/officeDocument/2006/relationships/image" Target="../media/image1.png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tags" Target="../tags/tag169.xml"/></Relationships>
</file>

<file path=ppt/slides/_rels/slide1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3.xml"/><Relationship Id="rId5" Type="http://schemas.openxmlformats.org/officeDocument/2006/relationships/slideLayout" Target="../slideLayouts/slideLayout18.xml"/><Relationship Id="rId4" Type="http://schemas.openxmlformats.org/officeDocument/2006/relationships/tags" Target="../tags/tag173.xml"/><Relationship Id="rId3" Type="http://schemas.openxmlformats.org/officeDocument/2006/relationships/tags" Target="../tags/tag172.xml"/><Relationship Id="rId2" Type="http://schemas.openxmlformats.org/officeDocument/2006/relationships/image" Target="../media/image1.png"/><Relationship Id="rId1" Type="http://schemas.openxmlformats.org/officeDocument/2006/relationships/tags" Target="../tags/tag171.xml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5.xml"/><Relationship Id="rId3" Type="http://schemas.openxmlformats.org/officeDocument/2006/relationships/tags" Target="../tags/tag176.xml"/><Relationship Id="rId2" Type="http://schemas.openxmlformats.org/officeDocument/2006/relationships/tags" Target="../tags/tag175.xml"/><Relationship Id="rId1" Type="http://schemas.openxmlformats.org/officeDocument/2006/relationships/tags" Target="../tags/tag17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2" Type="http://schemas.openxmlformats.org/officeDocument/2006/relationships/tags" Target="../tags/tag178.xml"/><Relationship Id="rId1" Type="http://schemas.openxmlformats.org/officeDocument/2006/relationships/tags" Target="../tags/tag177.xml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2.xml"/><Relationship Id="rId3" Type="http://schemas.openxmlformats.org/officeDocument/2006/relationships/tags" Target="../tags/tag181.xml"/><Relationship Id="rId2" Type="http://schemas.openxmlformats.org/officeDocument/2006/relationships/tags" Target="../tags/tag180.xml"/><Relationship Id="rId1" Type="http://schemas.openxmlformats.org/officeDocument/2006/relationships/tags" Target="../tags/tag17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>
            <a:normAutofit fontScale="90000"/>
          </a:bodyPr>
          <a:lstStyle/>
          <a:p>
            <a:r>
              <a:rPr lang="zh-CN" altLang="en-US" sz="5400"/>
              <a:t>面向大模型的数据与参数联合高效微调算法研究</a:t>
            </a:r>
            <a:endParaRPr lang="zh-CN" altLang="en-US" sz="5400"/>
          </a:p>
        </p:txBody>
      </p:sp>
      <p:sp>
        <p:nvSpPr>
          <p:cNvPr id="10" name="署名"/>
          <p:cNvSpPr>
            <a:spLocks noGrp="1"/>
          </p:cNvSpPr>
          <p:nvPr>
            <p:ph type="body" sz="quarter" idx="17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/>
              <a:t>汇报人: 林肯</a:t>
            </a:r>
            <a:r>
              <a:rPr lang="zh-CN" altLang="en-US"/>
              <a:t>达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fade/>
      </p:transition>
    </mc:Choice>
    <mc:Fallback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/>
              <a:t>目录</a:t>
            </a:r>
            <a:endParaRPr lang="zh-CN" altLang="en-US"/>
          </a:p>
        </p:txBody>
      </p:sp>
      <p:sp>
        <p:nvSpPr>
          <p:cNvPr id="6" name="序号"/>
          <p:cNvSpPr txBox="1">
            <a:spLocks noChangeAspect="1"/>
          </p:cNvSpPr>
          <p:nvPr>
            <p:custDataLst>
              <p:tags r:id="rId2"/>
            </p:custDataLst>
          </p:nvPr>
        </p:nvSpPr>
        <p:spPr>
          <a:xfrm>
            <a:off x="5631550" y="1146536"/>
            <a:ext cx="648000" cy="648000"/>
          </a:xfrm>
          <a:prstGeom prst="roundRect">
            <a:avLst>
              <a:gd name="adj" fmla="val 10052"/>
            </a:avLst>
          </a:prstGeom>
          <a:noFill/>
          <a:ln w="25400">
            <a:solidFill>
              <a:schemeClr val="accent1">
                <a:alpha val="60000"/>
              </a:schemeClr>
            </a:solidFill>
          </a:ln>
        </p:spPr>
        <p:txBody>
          <a:bodyPr wrap="none" lIns="36000" tIns="36000" rIns="0" bIns="0" rtlCol="0" anchor="ctr" anchorCtr="0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sz="3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01</a:t>
            </a:r>
            <a:endParaRPr lang="en-US" sz="3000" b="1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7" name="项标题"/>
          <p:cNvSpPr txBox="1"/>
          <p:nvPr>
            <p:custDataLst>
              <p:tags r:id="rId3"/>
            </p:custDataLst>
          </p:nvPr>
        </p:nvSpPr>
        <p:spPr>
          <a:xfrm>
            <a:off x="6770260" y="1218536"/>
            <a:ext cx="4094144" cy="504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zh-CN" altLang="en-US" sz="2400" b="1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研究</a:t>
            </a:r>
            <a:r>
              <a:rPr lang="zh-CN" altLang="en-US" sz="2400" b="1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背景</a:t>
            </a:r>
            <a:endParaRPr lang="zh-CN" altLang="en-US" sz="2400" b="1" spc="3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22" name="序号"/>
          <p:cNvSpPr txBox="1">
            <a:spLocks noChangeAspect="1"/>
          </p:cNvSpPr>
          <p:nvPr>
            <p:custDataLst>
              <p:tags r:id="rId4"/>
            </p:custDataLst>
          </p:nvPr>
        </p:nvSpPr>
        <p:spPr>
          <a:xfrm>
            <a:off x="5631550" y="2331825"/>
            <a:ext cx="648000" cy="648000"/>
          </a:xfrm>
          <a:prstGeom prst="roundRect">
            <a:avLst>
              <a:gd name="adj" fmla="val 10052"/>
            </a:avLst>
          </a:prstGeom>
          <a:noFill/>
          <a:ln w="25400">
            <a:solidFill>
              <a:schemeClr val="accent1">
                <a:alpha val="60000"/>
              </a:schemeClr>
            </a:solidFill>
          </a:ln>
        </p:spPr>
        <p:txBody>
          <a:bodyPr wrap="none" lIns="0" tIns="36000" rIns="0" bIns="0" rtlCol="0" anchor="ctr" anchorCtr="0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sz="3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02</a:t>
            </a:r>
            <a:endParaRPr lang="en-US" sz="3000" b="1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23" name="项标题"/>
          <p:cNvSpPr txBox="1"/>
          <p:nvPr>
            <p:custDataLst>
              <p:tags r:id="rId5"/>
            </p:custDataLst>
          </p:nvPr>
        </p:nvSpPr>
        <p:spPr>
          <a:xfrm>
            <a:off x="6770260" y="2403825"/>
            <a:ext cx="4094144" cy="504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zh-CN" altLang="en-US" sz="2400" b="1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研究动机与</a:t>
            </a:r>
            <a:r>
              <a:rPr lang="zh-CN" altLang="en-US" sz="2400" b="1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目标</a:t>
            </a:r>
            <a:endParaRPr lang="zh-CN" altLang="en-US" sz="2400" b="1" spc="3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25" name="序号"/>
          <p:cNvSpPr txBox="1">
            <a:spLocks noChangeAspect="1"/>
          </p:cNvSpPr>
          <p:nvPr>
            <p:custDataLst>
              <p:tags r:id="rId6"/>
            </p:custDataLst>
          </p:nvPr>
        </p:nvSpPr>
        <p:spPr>
          <a:xfrm>
            <a:off x="5631550" y="3517115"/>
            <a:ext cx="648000" cy="648000"/>
          </a:xfrm>
          <a:prstGeom prst="roundRect">
            <a:avLst>
              <a:gd name="adj" fmla="val 10052"/>
            </a:avLst>
          </a:prstGeom>
          <a:noFill/>
          <a:ln w="25400">
            <a:solidFill>
              <a:schemeClr val="accent1">
                <a:alpha val="60000"/>
              </a:schemeClr>
            </a:solidFill>
          </a:ln>
        </p:spPr>
        <p:txBody>
          <a:bodyPr wrap="none" lIns="0" tIns="36000" rIns="0" bIns="0" rtlCol="0" anchor="ctr" anchorCtr="0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sz="3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03</a:t>
            </a:r>
            <a:endParaRPr lang="en-US" sz="3000" b="1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26" name="项标题"/>
          <p:cNvSpPr txBox="1"/>
          <p:nvPr>
            <p:custDataLst>
              <p:tags r:id="rId7"/>
            </p:custDataLst>
          </p:nvPr>
        </p:nvSpPr>
        <p:spPr>
          <a:xfrm>
            <a:off x="6770260" y="3589115"/>
            <a:ext cx="4094144" cy="504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zh-CN" altLang="en-US" sz="2400" b="1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研究</a:t>
            </a:r>
            <a:r>
              <a:rPr lang="zh-CN" altLang="en-US" sz="2400" b="1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内容</a:t>
            </a:r>
            <a:endParaRPr lang="zh-CN" altLang="en-US" sz="2400" b="1" spc="3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3" name="序号"/>
          <p:cNvSpPr txBox="1">
            <a:spLocks noChangeAspect="1"/>
          </p:cNvSpPr>
          <p:nvPr>
            <p:custDataLst>
              <p:tags r:id="rId8"/>
            </p:custDataLst>
          </p:nvPr>
        </p:nvSpPr>
        <p:spPr>
          <a:xfrm>
            <a:off x="5631550" y="4702784"/>
            <a:ext cx="648000" cy="648000"/>
          </a:xfrm>
          <a:prstGeom prst="roundRect">
            <a:avLst>
              <a:gd name="adj" fmla="val 10052"/>
            </a:avLst>
          </a:prstGeom>
          <a:noFill/>
          <a:ln w="25400">
            <a:solidFill>
              <a:schemeClr val="accent1">
                <a:alpha val="60000"/>
              </a:schemeClr>
            </a:solidFill>
          </a:ln>
        </p:spPr>
        <p:txBody>
          <a:bodyPr wrap="none" lIns="0" tIns="36000" rIns="0" bIns="0" rtlCol="0" anchor="ctr" anchorCtr="0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sz="3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04</a:t>
            </a:r>
            <a:endParaRPr lang="en-US" sz="3000" b="1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5" name="项标题"/>
          <p:cNvSpPr txBox="1"/>
          <p:nvPr>
            <p:custDataLst>
              <p:tags r:id="rId9"/>
            </p:custDataLst>
          </p:nvPr>
        </p:nvSpPr>
        <p:spPr>
          <a:xfrm>
            <a:off x="6770260" y="4774784"/>
            <a:ext cx="4094144" cy="504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zh-CN" altLang="en-US" sz="2400" b="1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总结</a:t>
            </a:r>
            <a:endParaRPr lang="zh-CN" altLang="en-US" sz="2400" b="1" spc="3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33" name="任意多边形 32"/>
          <p:cNvSpPr/>
          <p:nvPr>
            <p:custDataLst>
              <p:tags r:id="rId10"/>
            </p:custDataLst>
          </p:nvPr>
        </p:nvSpPr>
        <p:spPr>
          <a:xfrm>
            <a:off x="1337834" y="3705840"/>
            <a:ext cx="2252137" cy="320381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3547" h="505">
                <a:moveTo>
                  <a:pt x="259" y="0"/>
                </a:moveTo>
                <a:cubicBezTo>
                  <a:pt x="307" y="0"/>
                  <a:pt x="346" y="6"/>
                  <a:pt x="379" y="19"/>
                </a:cubicBezTo>
                <a:lnTo>
                  <a:pt x="379" y="119"/>
                </a:lnTo>
                <a:cubicBezTo>
                  <a:pt x="346" y="100"/>
                  <a:pt x="308" y="90"/>
                  <a:pt x="266" y="90"/>
                </a:cubicBezTo>
                <a:cubicBezTo>
                  <a:pt x="219" y="90"/>
                  <a:pt x="181" y="105"/>
                  <a:pt x="152" y="136"/>
                </a:cubicBezTo>
                <a:cubicBezTo>
                  <a:pt x="124" y="166"/>
                  <a:pt x="109" y="206"/>
                  <a:pt x="109" y="255"/>
                </a:cubicBezTo>
                <a:cubicBezTo>
                  <a:pt x="109" y="303"/>
                  <a:pt x="123" y="342"/>
                  <a:pt x="150" y="371"/>
                </a:cubicBezTo>
                <a:cubicBezTo>
                  <a:pt x="177" y="400"/>
                  <a:pt x="214" y="414"/>
                  <a:pt x="260" y="414"/>
                </a:cubicBezTo>
                <a:cubicBezTo>
                  <a:pt x="303" y="414"/>
                  <a:pt x="343" y="404"/>
                  <a:pt x="379" y="383"/>
                </a:cubicBezTo>
                <a:lnTo>
                  <a:pt x="379" y="478"/>
                </a:lnTo>
                <a:cubicBezTo>
                  <a:pt x="343" y="496"/>
                  <a:pt x="297" y="505"/>
                  <a:pt x="240" y="505"/>
                </a:cubicBezTo>
                <a:cubicBezTo>
                  <a:pt x="166" y="505"/>
                  <a:pt x="108" y="483"/>
                  <a:pt x="65" y="439"/>
                </a:cubicBezTo>
                <a:cubicBezTo>
                  <a:pt x="22" y="395"/>
                  <a:pt x="0" y="336"/>
                  <a:pt x="0" y="263"/>
                </a:cubicBezTo>
                <a:cubicBezTo>
                  <a:pt x="0" y="186"/>
                  <a:pt x="24" y="123"/>
                  <a:pt x="72" y="74"/>
                </a:cubicBezTo>
                <a:cubicBezTo>
                  <a:pt x="120" y="25"/>
                  <a:pt x="183" y="0"/>
                  <a:pt x="259" y="0"/>
                </a:cubicBezTo>
                <a:close/>
                <a:moveTo>
                  <a:pt x="3405" y="0"/>
                </a:moveTo>
                <a:cubicBezTo>
                  <a:pt x="3453" y="0"/>
                  <a:pt x="3493" y="6"/>
                  <a:pt x="3525" y="19"/>
                </a:cubicBezTo>
                <a:lnTo>
                  <a:pt x="3525" y="116"/>
                </a:lnTo>
                <a:cubicBezTo>
                  <a:pt x="3493" y="94"/>
                  <a:pt x="3454" y="83"/>
                  <a:pt x="3410" y="83"/>
                </a:cubicBezTo>
                <a:cubicBezTo>
                  <a:pt x="3385" y="83"/>
                  <a:pt x="3364" y="88"/>
                  <a:pt x="3349" y="97"/>
                </a:cubicBezTo>
                <a:cubicBezTo>
                  <a:pt x="3334" y="106"/>
                  <a:pt x="3326" y="119"/>
                  <a:pt x="3326" y="134"/>
                </a:cubicBezTo>
                <a:cubicBezTo>
                  <a:pt x="3326" y="147"/>
                  <a:pt x="3331" y="159"/>
                  <a:pt x="3342" y="169"/>
                </a:cubicBezTo>
                <a:cubicBezTo>
                  <a:pt x="3352" y="180"/>
                  <a:pt x="3378" y="194"/>
                  <a:pt x="3419" y="212"/>
                </a:cubicBezTo>
                <a:cubicBezTo>
                  <a:pt x="3468" y="233"/>
                  <a:pt x="3501" y="255"/>
                  <a:pt x="3519" y="278"/>
                </a:cubicBezTo>
                <a:cubicBezTo>
                  <a:pt x="3538" y="301"/>
                  <a:pt x="3547" y="329"/>
                  <a:pt x="3547" y="361"/>
                </a:cubicBezTo>
                <a:cubicBezTo>
                  <a:pt x="3547" y="407"/>
                  <a:pt x="3530" y="443"/>
                  <a:pt x="3497" y="468"/>
                </a:cubicBezTo>
                <a:cubicBezTo>
                  <a:pt x="3464" y="492"/>
                  <a:pt x="3417" y="505"/>
                  <a:pt x="3356" y="505"/>
                </a:cubicBezTo>
                <a:cubicBezTo>
                  <a:pt x="3300" y="505"/>
                  <a:pt x="3254" y="496"/>
                  <a:pt x="3218" y="477"/>
                </a:cubicBezTo>
                <a:lnTo>
                  <a:pt x="3218" y="373"/>
                </a:lnTo>
                <a:cubicBezTo>
                  <a:pt x="3257" y="406"/>
                  <a:pt x="3302" y="422"/>
                  <a:pt x="3352" y="422"/>
                </a:cubicBezTo>
                <a:cubicBezTo>
                  <a:pt x="3380" y="422"/>
                  <a:pt x="3402" y="417"/>
                  <a:pt x="3416" y="407"/>
                </a:cubicBezTo>
                <a:cubicBezTo>
                  <a:pt x="3430" y="398"/>
                  <a:pt x="3437" y="385"/>
                  <a:pt x="3437" y="370"/>
                </a:cubicBezTo>
                <a:cubicBezTo>
                  <a:pt x="3437" y="357"/>
                  <a:pt x="3432" y="344"/>
                  <a:pt x="3420" y="332"/>
                </a:cubicBezTo>
                <a:cubicBezTo>
                  <a:pt x="3409" y="321"/>
                  <a:pt x="3379" y="305"/>
                  <a:pt x="3331" y="284"/>
                </a:cubicBezTo>
                <a:cubicBezTo>
                  <a:pt x="3254" y="252"/>
                  <a:pt x="3216" y="205"/>
                  <a:pt x="3216" y="143"/>
                </a:cubicBezTo>
                <a:cubicBezTo>
                  <a:pt x="3216" y="98"/>
                  <a:pt x="3234" y="63"/>
                  <a:pt x="3268" y="38"/>
                </a:cubicBezTo>
                <a:cubicBezTo>
                  <a:pt x="3303" y="13"/>
                  <a:pt x="3348" y="0"/>
                  <a:pt x="3405" y="0"/>
                </a:cubicBezTo>
                <a:close/>
                <a:moveTo>
                  <a:pt x="976" y="8"/>
                </a:moveTo>
                <a:lnTo>
                  <a:pt x="1089" y="8"/>
                </a:lnTo>
                <a:lnTo>
                  <a:pt x="1288" y="315"/>
                </a:lnTo>
                <a:cubicBezTo>
                  <a:pt x="1301" y="335"/>
                  <a:pt x="1309" y="348"/>
                  <a:pt x="1312" y="354"/>
                </a:cubicBezTo>
                <a:lnTo>
                  <a:pt x="1314" y="354"/>
                </a:lnTo>
                <a:cubicBezTo>
                  <a:pt x="1312" y="342"/>
                  <a:pt x="1311" y="319"/>
                  <a:pt x="1311" y="286"/>
                </a:cubicBezTo>
                <a:lnTo>
                  <a:pt x="1311" y="8"/>
                </a:lnTo>
                <a:lnTo>
                  <a:pt x="1409" y="8"/>
                </a:lnTo>
                <a:lnTo>
                  <a:pt x="1409" y="496"/>
                </a:lnTo>
                <a:lnTo>
                  <a:pt x="1303" y="496"/>
                </a:lnTo>
                <a:lnTo>
                  <a:pt x="1096" y="180"/>
                </a:lnTo>
                <a:cubicBezTo>
                  <a:pt x="1085" y="164"/>
                  <a:pt x="1078" y="151"/>
                  <a:pt x="1073" y="141"/>
                </a:cubicBezTo>
                <a:lnTo>
                  <a:pt x="1071" y="141"/>
                </a:lnTo>
                <a:cubicBezTo>
                  <a:pt x="1073" y="158"/>
                  <a:pt x="1074" y="184"/>
                  <a:pt x="1074" y="219"/>
                </a:cubicBezTo>
                <a:lnTo>
                  <a:pt x="1074" y="496"/>
                </a:lnTo>
                <a:lnTo>
                  <a:pt x="976" y="496"/>
                </a:lnTo>
                <a:lnTo>
                  <a:pt x="976" y="8"/>
                </a:lnTo>
                <a:close/>
                <a:moveTo>
                  <a:pt x="1470" y="8"/>
                </a:moveTo>
                <a:lnTo>
                  <a:pt x="1852" y="8"/>
                </a:lnTo>
                <a:lnTo>
                  <a:pt x="1852" y="93"/>
                </a:lnTo>
                <a:lnTo>
                  <a:pt x="1713" y="93"/>
                </a:lnTo>
                <a:lnTo>
                  <a:pt x="1713" y="496"/>
                </a:lnTo>
                <a:lnTo>
                  <a:pt x="1609" y="496"/>
                </a:lnTo>
                <a:lnTo>
                  <a:pt x="1609" y="93"/>
                </a:lnTo>
                <a:lnTo>
                  <a:pt x="1470" y="93"/>
                </a:lnTo>
                <a:lnTo>
                  <a:pt x="1470" y="8"/>
                </a:lnTo>
                <a:close/>
                <a:moveTo>
                  <a:pt x="1921" y="8"/>
                </a:moveTo>
                <a:lnTo>
                  <a:pt x="2198" y="8"/>
                </a:lnTo>
                <a:lnTo>
                  <a:pt x="2198" y="93"/>
                </a:lnTo>
                <a:lnTo>
                  <a:pt x="2024" y="93"/>
                </a:lnTo>
                <a:lnTo>
                  <a:pt x="2024" y="208"/>
                </a:lnTo>
                <a:lnTo>
                  <a:pt x="2186" y="208"/>
                </a:lnTo>
                <a:lnTo>
                  <a:pt x="2186" y="293"/>
                </a:lnTo>
                <a:lnTo>
                  <a:pt x="2024" y="293"/>
                </a:lnTo>
                <a:lnTo>
                  <a:pt x="2024" y="411"/>
                </a:lnTo>
                <a:lnTo>
                  <a:pt x="2209" y="411"/>
                </a:lnTo>
                <a:lnTo>
                  <a:pt x="2209" y="496"/>
                </a:lnTo>
                <a:lnTo>
                  <a:pt x="1921" y="496"/>
                </a:lnTo>
                <a:lnTo>
                  <a:pt x="1921" y="8"/>
                </a:lnTo>
                <a:close/>
                <a:moveTo>
                  <a:pt x="2296" y="8"/>
                </a:moveTo>
                <a:lnTo>
                  <a:pt x="2409" y="8"/>
                </a:lnTo>
                <a:lnTo>
                  <a:pt x="2608" y="315"/>
                </a:lnTo>
                <a:cubicBezTo>
                  <a:pt x="2621" y="335"/>
                  <a:pt x="2629" y="348"/>
                  <a:pt x="2632" y="354"/>
                </a:cubicBezTo>
                <a:lnTo>
                  <a:pt x="2634" y="354"/>
                </a:lnTo>
                <a:cubicBezTo>
                  <a:pt x="2632" y="342"/>
                  <a:pt x="2631" y="319"/>
                  <a:pt x="2631" y="286"/>
                </a:cubicBezTo>
                <a:lnTo>
                  <a:pt x="2631" y="8"/>
                </a:lnTo>
                <a:lnTo>
                  <a:pt x="2729" y="8"/>
                </a:lnTo>
                <a:lnTo>
                  <a:pt x="2729" y="496"/>
                </a:lnTo>
                <a:lnTo>
                  <a:pt x="2623" y="496"/>
                </a:lnTo>
                <a:lnTo>
                  <a:pt x="2416" y="180"/>
                </a:lnTo>
                <a:cubicBezTo>
                  <a:pt x="2405" y="164"/>
                  <a:pt x="2398" y="151"/>
                  <a:pt x="2393" y="141"/>
                </a:cubicBezTo>
                <a:lnTo>
                  <a:pt x="2391" y="141"/>
                </a:lnTo>
                <a:cubicBezTo>
                  <a:pt x="2393" y="158"/>
                  <a:pt x="2394" y="184"/>
                  <a:pt x="2394" y="219"/>
                </a:cubicBezTo>
                <a:lnTo>
                  <a:pt x="2394" y="496"/>
                </a:lnTo>
                <a:lnTo>
                  <a:pt x="2296" y="496"/>
                </a:lnTo>
                <a:lnTo>
                  <a:pt x="2296" y="8"/>
                </a:lnTo>
                <a:close/>
                <a:moveTo>
                  <a:pt x="2790" y="8"/>
                </a:moveTo>
                <a:lnTo>
                  <a:pt x="3172" y="8"/>
                </a:lnTo>
                <a:lnTo>
                  <a:pt x="3172" y="93"/>
                </a:lnTo>
                <a:lnTo>
                  <a:pt x="3033" y="93"/>
                </a:lnTo>
                <a:lnTo>
                  <a:pt x="3033" y="496"/>
                </a:lnTo>
                <a:lnTo>
                  <a:pt x="2929" y="496"/>
                </a:lnTo>
                <a:lnTo>
                  <a:pt x="2929" y="93"/>
                </a:lnTo>
                <a:lnTo>
                  <a:pt x="2790" y="93"/>
                </a:lnTo>
                <a:lnTo>
                  <a:pt x="2790" y="8"/>
                </a:lnTo>
                <a:close/>
                <a:moveTo>
                  <a:pt x="661" y="90"/>
                </a:moveTo>
                <a:cubicBezTo>
                  <a:pt x="620" y="90"/>
                  <a:pt x="588" y="105"/>
                  <a:pt x="564" y="135"/>
                </a:cubicBezTo>
                <a:cubicBezTo>
                  <a:pt x="541" y="166"/>
                  <a:pt x="529" y="205"/>
                  <a:pt x="529" y="253"/>
                </a:cubicBezTo>
                <a:cubicBezTo>
                  <a:pt x="529" y="300"/>
                  <a:pt x="541" y="339"/>
                  <a:pt x="564" y="369"/>
                </a:cubicBezTo>
                <a:cubicBezTo>
                  <a:pt x="586" y="399"/>
                  <a:pt x="618" y="414"/>
                  <a:pt x="658" y="414"/>
                </a:cubicBezTo>
                <a:cubicBezTo>
                  <a:pt x="699" y="414"/>
                  <a:pt x="730" y="400"/>
                  <a:pt x="753" y="371"/>
                </a:cubicBezTo>
                <a:cubicBezTo>
                  <a:pt x="776" y="342"/>
                  <a:pt x="787" y="303"/>
                  <a:pt x="787" y="255"/>
                </a:cubicBezTo>
                <a:cubicBezTo>
                  <a:pt x="787" y="204"/>
                  <a:pt x="776" y="164"/>
                  <a:pt x="754" y="134"/>
                </a:cubicBezTo>
                <a:cubicBezTo>
                  <a:pt x="732" y="105"/>
                  <a:pt x="701" y="90"/>
                  <a:pt x="661" y="90"/>
                </a:cubicBezTo>
                <a:close/>
                <a:moveTo>
                  <a:pt x="664" y="0"/>
                </a:moveTo>
                <a:cubicBezTo>
                  <a:pt x="733" y="0"/>
                  <a:pt x="790" y="23"/>
                  <a:pt x="832" y="70"/>
                </a:cubicBezTo>
                <a:cubicBezTo>
                  <a:pt x="875" y="116"/>
                  <a:pt x="896" y="176"/>
                  <a:pt x="896" y="248"/>
                </a:cubicBezTo>
                <a:cubicBezTo>
                  <a:pt x="896" y="324"/>
                  <a:pt x="874" y="386"/>
                  <a:pt x="830" y="434"/>
                </a:cubicBezTo>
                <a:cubicBezTo>
                  <a:pt x="785" y="481"/>
                  <a:pt x="727" y="505"/>
                  <a:pt x="656" y="505"/>
                </a:cubicBezTo>
                <a:cubicBezTo>
                  <a:pt x="586" y="505"/>
                  <a:pt x="529" y="482"/>
                  <a:pt x="486" y="436"/>
                </a:cubicBezTo>
                <a:cubicBezTo>
                  <a:pt x="442" y="390"/>
                  <a:pt x="420" y="331"/>
                  <a:pt x="420" y="259"/>
                </a:cubicBezTo>
                <a:cubicBezTo>
                  <a:pt x="420" y="182"/>
                  <a:pt x="442" y="120"/>
                  <a:pt x="487" y="72"/>
                </a:cubicBezTo>
                <a:cubicBezTo>
                  <a:pt x="532" y="24"/>
                  <a:pt x="590" y="0"/>
                  <a:pt x="664" y="0"/>
                </a:cubicBezTo>
                <a:close/>
              </a:path>
            </a:pathLst>
          </a:custGeom>
          <a:solidFill>
            <a:schemeClr val="tx1">
              <a:alpha val="6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</p:spTree>
    <p:custDataLst>
      <p:tags r:id="rId1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fade/>
      </p:transition>
    </mc:Choice>
    <mc:Fallback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/>
              <a:t>研究</a:t>
            </a:r>
            <a:r>
              <a:rPr lang="zh-CN" altLang="en-US"/>
              <a:t>背景</a:t>
            </a:r>
            <a:endParaRPr lang="zh-CN" altLang="en-US"/>
          </a:p>
        </p:txBody>
      </p:sp>
      <p:sp>
        <p:nvSpPr>
          <p:cNvPr id="6" name="节编号"/>
          <p:cNvSpPr>
            <a:spLocks noGrp="1"/>
          </p:cNvSpPr>
          <p:nvPr>
            <p:ph type="body" sz="quarter" idx="13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/>
              <a:t>01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fade/>
      </p:transition>
    </mc:Choice>
    <mc:Fallback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/>
          <p:nvPr>
            <p:ph type="title"/>
          </p:nvPr>
        </p:nvSpPr>
        <p:spPr/>
        <p:txBody>
          <a:bodyPr/>
          <a:p>
            <a:r>
              <a:rPr lang="zh-CN" altLang="en-US"/>
              <a:t>研究</a:t>
            </a:r>
            <a:r>
              <a:rPr lang="zh-CN" altLang="en-US"/>
              <a:t>背景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621665" y="1497965"/>
            <a:ext cx="450088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 b="1"/>
              <a:t>全量微调面临挑战</a:t>
            </a:r>
            <a:r>
              <a:rPr lang="en-US" altLang="zh-CN" sz="2400" b="1"/>
              <a:t>——</a:t>
            </a:r>
            <a:r>
              <a:rPr lang="zh-CN" altLang="en-US" sz="2400" b="1"/>
              <a:t>成本</a:t>
            </a:r>
            <a:r>
              <a:rPr lang="zh-CN" altLang="en-US" sz="2400" b="1"/>
              <a:t>过高</a:t>
            </a:r>
            <a:endParaRPr lang="zh-CN" altLang="en-US" sz="2400" b="1"/>
          </a:p>
        </p:txBody>
      </p:sp>
      <p:sp>
        <p:nvSpPr>
          <p:cNvPr id="4" name="Shape 2"/>
          <p:cNvSpPr/>
          <p:nvPr>
            <p:custDataLst>
              <p:tags r:id="rId1"/>
            </p:custDataLst>
          </p:nvPr>
        </p:nvSpPr>
        <p:spPr>
          <a:xfrm>
            <a:off x="5025390" y="2502535"/>
            <a:ext cx="5193030" cy="1506855"/>
          </a:xfrm>
          <a:prstGeom prst="roundRect">
            <a:avLst>
              <a:gd name="adj" fmla="val 5532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C8CACF"/>
            </a:solidFill>
            <a:prstDash val="solid"/>
          </a:ln>
        </p:spPr>
        <p:txBody>
          <a:bodyPr/>
          <a:p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 3"/>
          <p:cNvSpPr/>
          <p:nvPr>
            <p:custDataLst>
              <p:tags r:id="rId2"/>
            </p:custDataLst>
          </p:nvPr>
        </p:nvSpPr>
        <p:spPr>
          <a:xfrm>
            <a:off x="5246648" y="2723952"/>
            <a:ext cx="2480905" cy="310158"/>
          </a:xfrm>
          <a:prstGeom prst="rect">
            <a:avLst/>
          </a:prstGeom>
          <a:noFill/>
        </p:spPr>
        <p:txBody>
          <a:bodyPr wrap="none" lIns="0" tIns="0" rIns="0" bIns="0" rtlCol="0" anchor="t"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52586B"/>
                </a:solidFill>
                <a:latin typeface="微软雅黑" panose="020B0503020204020204" charset="-122"/>
                <a:ea typeface="微软雅黑" panose="020B0503020204020204" charset="-122"/>
                <a:cs typeface="Mona Sans Semi Bold" pitchFamily="34" charset="-120"/>
              </a:rPr>
              <a:t>数据高效微调</a:t>
            </a:r>
            <a:endParaRPr lang="en-US" sz="1950" dirty="0">
              <a:solidFill>
                <a:srgbClr val="52586B"/>
              </a:solidFill>
              <a:latin typeface="微软雅黑" panose="020B0503020204020204" charset="-122"/>
              <a:ea typeface="微软雅黑" panose="020B0503020204020204" charset="-122"/>
              <a:cs typeface="Mona Sans Semi Bold" pitchFamily="34" charset="-120"/>
            </a:endParaRPr>
          </a:p>
        </p:txBody>
      </p:sp>
      <p:sp>
        <p:nvSpPr>
          <p:cNvPr id="9" name="Text 4"/>
          <p:cNvSpPr/>
          <p:nvPr>
            <p:custDataLst>
              <p:tags r:id="rId3"/>
            </p:custDataLst>
          </p:nvPr>
        </p:nvSpPr>
        <p:spPr>
          <a:xfrm>
            <a:off x="5246370" y="3153410"/>
            <a:ext cx="4925060" cy="635000"/>
          </a:xfrm>
          <a:prstGeom prst="rect">
            <a:avLst/>
          </a:prstGeom>
          <a:noFill/>
        </p:spPr>
        <p:txBody>
          <a:bodyPr wrap="square" lIns="0" tIns="0" rIns="0" bIns="0" rtlCol="0" anchor="t"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52586B"/>
                </a:solidFill>
                <a:latin typeface="微软雅黑" panose="020B0503020204020204" charset="-122"/>
                <a:ea typeface="微软雅黑" panose="020B0503020204020204" charset="-122"/>
                <a:cs typeface="Funnel Sans" pitchFamily="34" charset="-120"/>
              </a:rPr>
              <a:t>通过优化数据使用方式，减少微调所需的训练样本数量，降低资源消耗。</a:t>
            </a:r>
            <a:endParaRPr lang="en-US" sz="1550" dirty="0">
              <a:solidFill>
                <a:srgbClr val="52586B"/>
              </a:solidFill>
              <a:latin typeface="微软雅黑" panose="020B0503020204020204" charset="-122"/>
              <a:ea typeface="微软雅黑" panose="020B0503020204020204" charset="-122"/>
              <a:cs typeface="Funnel Sans" pitchFamily="34" charset="-120"/>
            </a:endParaRPr>
          </a:p>
        </p:txBody>
      </p:sp>
      <p:sp>
        <p:nvSpPr>
          <p:cNvPr id="10" name="Shape 5"/>
          <p:cNvSpPr/>
          <p:nvPr>
            <p:custDataLst>
              <p:tags r:id="rId4"/>
            </p:custDataLst>
          </p:nvPr>
        </p:nvSpPr>
        <p:spPr>
          <a:xfrm>
            <a:off x="5025390" y="4447540"/>
            <a:ext cx="5205730" cy="1506855"/>
          </a:xfrm>
          <a:prstGeom prst="roundRect">
            <a:avLst>
              <a:gd name="adj" fmla="val 5532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C8CACF"/>
            </a:solidFill>
            <a:prstDash val="solid"/>
          </a:ln>
        </p:spPr>
      </p:sp>
      <p:sp>
        <p:nvSpPr>
          <p:cNvPr id="14" name="Text 6"/>
          <p:cNvSpPr/>
          <p:nvPr>
            <p:custDataLst>
              <p:tags r:id="rId5"/>
            </p:custDataLst>
          </p:nvPr>
        </p:nvSpPr>
        <p:spPr>
          <a:xfrm>
            <a:off x="5247005" y="4669155"/>
            <a:ext cx="2011045" cy="309880"/>
          </a:xfrm>
          <a:prstGeom prst="rect">
            <a:avLst/>
          </a:prstGeom>
          <a:noFill/>
        </p:spPr>
        <p:txBody>
          <a:bodyPr wrap="none" lIns="0" tIns="0" rIns="0" bIns="0" rtlCol="0" anchor="t"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52586B"/>
                </a:solidFill>
                <a:latin typeface="微软雅黑" panose="020B0503020204020204" charset="-122"/>
                <a:ea typeface="微软雅黑" panose="020B0503020204020204" charset="-122"/>
                <a:cs typeface="Mona Sans Semi Bold" pitchFamily="34" charset="-120"/>
              </a:rPr>
              <a:t>参数高效微调</a:t>
            </a:r>
            <a:endParaRPr lang="en-US" sz="1950" dirty="0">
              <a:solidFill>
                <a:srgbClr val="52586B"/>
              </a:solidFill>
              <a:latin typeface="微软雅黑" panose="020B0503020204020204" charset="-122"/>
              <a:ea typeface="微软雅黑" panose="020B0503020204020204" charset="-122"/>
              <a:cs typeface="Mona Sans Semi Bold" pitchFamily="34" charset="-120"/>
            </a:endParaRPr>
          </a:p>
        </p:txBody>
      </p:sp>
      <p:sp>
        <p:nvSpPr>
          <p:cNvPr id="15" name="Text 7"/>
          <p:cNvSpPr/>
          <p:nvPr>
            <p:custDataLst>
              <p:tags r:id="rId6"/>
            </p:custDataLst>
          </p:nvPr>
        </p:nvSpPr>
        <p:spPr>
          <a:xfrm>
            <a:off x="5247005" y="5098415"/>
            <a:ext cx="4847590" cy="635000"/>
          </a:xfrm>
          <a:prstGeom prst="rect">
            <a:avLst/>
          </a:prstGeom>
          <a:noFill/>
        </p:spPr>
        <p:txBody>
          <a:bodyPr wrap="square" lIns="0" tIns="0" rIns="0" bIns="0" rtlCol="0" anchor="t"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52586B"/>
                </a:solidFill>
                <a:latin typeface="微软雅黑" panose="020B0503020204020204" charset="-122"/>
                <a:ea typeface="微软雅黑" panose="020B0503020204020204" charset="-122"/>
                <a:cs typeface="Funnel Sans" pitchFamily="34" charset="-120"/>
              </a:rPr>
              <a:t>仅调整模型中的部分参数，保持大部分预训练参数不变，显著降低计算成本。</a:t>
            </a:r>
            <a:endParaRPr lang="en-US" sz="1550" dirty="0">
              <a:solidFill>
                <a:srgbClr val="52586B"/>
              </a:solidFill>
              <a:latin typeface="微软雅黑" panose="020B0503020204020204" charset="-122"/>
              <a:ea typeface="微软雅黑" panose="020B0503020204020204" charset="-122"/>
              <a:cs typeface="Funnel Sans" pitchFamily="34" charset="-120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993140" y="3919855"/>
            <a:ext cx="3248660" cy="5276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sz="2400" dirty="0">
                <a:solidFill>
                  <a:srgbClr val="52586B"/>
                </a:solidFill>
                <a:latin typeface="微软雅黑" panose="020B0503020204020204" charset="-122"/>
                <a:ea typeface="微软雅黑" panose="020B0503020204020204" charset="-122"/>
                <a:cs typeface="Funnel Sans" pitchFamily="34" charset="-120"/>
                <a:sym typeface="+mn-ea"/>
              </a:rPr>
              <a:t>微调中两大主流范式</a:t>
            </a:r>
            <a:endParaRPr lang="en-US" altLang="en-US" sz="2400" dirty="0">
              <a:solidFill>
                <a:srgbClr val="52586B"/>
              </a:solidFill>
              <a:latin typeface="微软雅黑" panose="020B0503020204020204" charset="-122"/>
              <a:ea typeface="微软雅黑" panose="020B0503020204020204" charset="-122"/>
              <a:cs typeface="Funnel Sans" pitchFamily="34" charset="-120"/>
              <a:sym typeface="+mn-ea"/>
            </a:endParaRPr>
          </a:p>
        </p:txBody>
      </p:sp>
      <p:cxnSp>
        <p:nvCxnSpPr>
          <p:cNvPr id="18" name="直接连接符 17"/>
          <p:cNvCxnSpPr>
            <a:endCxn id="4" idx="1"/>
          </p:cNvCxnSpPr>
          <p:nvPr/>
        </p:nvCxnSpPr>
        <p:spPr>
          <a:xfrm flipV="1">
            <a:off x="3973830" y="3256280"/>
            <a:ext cx="1051560" cy="92837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/>
        </p:nvCxnSpPr>
        <p:spPr>
          <a:xfrm>
            <a:off x="3968750" y="4184650"/>
            <a:ext cx="1056640" cy="876935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  <p:custDataLst>
      <p:tags r:id="rId7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fade/>
      </p:transition>
    </mc:Choice>
    <mc:Fallback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/>
          <p:nvPr>
            <p:ph type="title"/>
          </p:nvPr>
        </p:nvSpPr>
        <p:spPr/>
        <p:txBody>
          <a:bodyPr/>
          <a:p>
            <a:r>
              <a:rPr lang="zh-CN" altLang="en-US"/>
              <a:t>研究</a:t>
            </a:r>
            <a:r>
              <a:rPr lang="zh-CN" altLang="en-US"/>
              <a:t>背景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621665" y="1497965"/>
            <a:ext cx="76117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 b="1"/>
              <a:t>1. </a:t>
            </a:r>
            <a:r>
              <a:rPr lang="zh-CN" altLang="en-US" sz="2400" b="1"/>
              <a:t>为什么大模型需要</a:t>
            </a:r>
            <a:r>
              <a:rPr lang="en-US" altLang="zh-CN" sz="2400" b="1"/>
              <a:t>——</a:t>
            </a:r>
            <a:r>
              <a:rPr lang="zh-CN" altLang="en-US" sz="2400" b="1"/>
              <a:t>数据高效微调（</a:t>
            </a:r>
            <a:r>
              <a:rPr lang="en-US" altLang="zh-CN" sz="2400" b="1"/>
              <a:t>DEFT</a:t>
            </a:r>
            <a:r>
              <a:rPr lang="zh-CN" altLang="en-US" sz="2400" b="1"/>
              <a:t>）？</a:t>
            </a:r>
            <a:endParaRPr lang="zh-CN" altLang="en-US" sz="2400" b="1"/>
          </a:p>
        </p:txBody>
      </p:sp>
      <p:sp>
        <p:nvSpPr>
          <p:cNvPr id="8" name="文本框 7"/>
          <p:cNvSpPr txBox="1"/>
          <p:nvPr/>
        </p:nvSpPr>
        <p:spPr>
          <a:xfrm>
            <a:off x="575310" y="2573655"/>
            <a:ext cx="613029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论文：</a:t>
            </a:r>
            <a:r>
              <a:rPr lang="en-US" altLang="zh-CN"/>
              <a:t>LIMA: Less is more for alignment</a:t>
            </a:r>
            <a:r>
              <a:rPr lang="zh-CN" altLang="en-US"/>
              <a:t>（</a:t>
            </a:r>
            <a:r>
              <a:rPr lang="en-US" altLang="zh-CN"/>
              <a:t>2023, NeurIPS</a:t>
            </a:r>
            <a:r>
              <a:rPr lang="zh-CN" altLang="en-US"/>
              <a:t>）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方法：使用</a:t>
            </a:r>
            <a:r>
              <a:rPr lang="en-US" altLang="zh-CN"/>
              <a:t>1,000</a:t>
            </a:r>
            <a:r>
              <a:rPr lang="zh-CN" altLang="en-US"/>
              <a:t>条精心筛选指令，监督微调</a:t>
            </a:r>
            <a:r>
              <a:rPr lang="en-US" altLang="zh-CN"/>
              <a:t>65B</a:t>
            </a:r>
            <a:r>
              <a:rPr lang="zh-CN" altLang="en-US"/>
              <a:t>的</a:t>
            </a:r>
            <a:r>
              <a:rPr lang="en-US" altLang="zh-CN"/>
              <a:t>LLaMA</a:t>
            </a:r>
            <a:r>
              <a:rPr lang="zh-CN" altLang="en-US"/>
              <a:t>模型</a:t>
            </a:r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575310" y="3831590"/>
            <a:ext cx="65963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成果：仅</a:t>
            </a:r>
            <a:r>
              <a:rPr lang="zh-CN" altLang="en-US"/>
              <a:t>用少量数据，</a:t>
            </a:r>
            <a:r>
              <a:rPr lang="zh-CN" altLang="en-US"/>
              <a:t>并且未用</a:t>
            </a:r>
            <a:r>
              <a:rPr lang="en-US" altLang="zh-CN"/>
              <a:t>RLHF</a:t>
            </a:r>
            <a:r>
              <a:rPr lang="zh-CN" altLang="en-US"/>
              <a:t>即取得优异效果</a:t>
            </a:r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8518525" y="3107690"/>
            <a:ext cx="309562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 b="1"/>
              <a:t>数据质量胜于数量</a:t>
            </a:r>
            <a:endParaRPr lang="zh-CN" altLang="en-US" sz="2400" b="1"/>
          </a:p>
        </p:txBody>
      </p:sp>
      <p:sp>
        <p:nvSpPr>
          <p:cNvPr id="13" name="右箭头 12"/>
          <p:cNvSpPr/>
          <p:nvPr/>
        </p:nvSpPr>
        <p:spPr>
          <a:xfrm>
            <a:off x="7218680" y="3045460"/>
            <a:ext cx="1073785" cy="584835"/>
          </a:xfrm>
          <a:prstGeom prst="rightArrow">
            <a:avLst/>
          </a:prstGeom>
          <a:solidFill>
            <a:schemeClr val="tx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1455420" y="5062220"/>
            <a:ext cx="9621520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fontAlgn="auto">
              <a:lnSpc>
                <a:spcPct val="150000"/>
              </a:lnSpc>
            </a:pPr>
            <a:r>
              <a:rPr lang="zh-CN" altLang="en-US" b="1"/>
              <a:t>上述发现使得在大模型微调过程</a:t>
            </a:r>
            <a:r>
              <a:rPr lang="zh-CN" altLang="en-US" b="1"/>
              <a:t>中如何挑选出最有用的训练样本成为近年研究热点</a:t>
            </a:r>
            <a:endParaRPr lang="zh-CN" altLang="en-US" b="1"/>
          </a:p>
        </p:txBody>
      </p:sp>
      <p:sp>
        <p:nvSpPr>
          <p:cNvPr id="49" name="矩形: 圆角 48"/>
          <p:cNvSpPr/>
          <p:nvPr>
            <p:custDataLst>
              <p:tags r:id="rId1"/>
            </p:custDataLst>
          </p:nvPr>
        </p:nvSpPr>
        <p:spPr>
          <a:xfrm>
            <a:off x="420370" y="2442845"/>
            <a:ext cx="6609080" cy="1972310"/>
          </a:xfrm>
          <a:prstGeom prst="roundRect">
            <a:avLst>
              <a:gd name="adj" fmla="val 5124"/>
            </a:avLst>
          </a:prstGeom>
          <a:gradFill>
            <a:gsLst>
              <a:gs pos="0">
                <a:srgbClr val="376FFF">
                  <a:lumMod val="5000"/>
                  <a:lumOff val="95000"/>
                  <a:alpha val="0"/>
                </a:srgbClr>
              </a:gs>
              <a:gs pos="100000">
                <a:srgbClr val="376FFF">
                  <a:lumMod val="20000"/>
                  <a:lumOff val="80000"/>
                  <a:alpha val="20000"/>
                </a:srgbClr>
              </a:gs>
            </a:gsLst>
            <a:lin ang="0" scaled="0"/>
          </a:gradFill>
          <a:ln w="9525">
            <a:gradFill flip="none" rotWithShape="1">
              <a:gsLst>
                <a:gs pos="0">
                  <a:srgbClr val="376FFF">
                    <a:lumMod val="20000"/>
                    <a:lumOff val="80000"/>
                  </a:srgbClr>
                </a:gs>
                <a:gs pos="100000">
                  <a:srgbClr val="376FFF">
                    <a:lumMod val="60000"/>
                    <a:lumOff val="40000"/>
                  </a:srgbClr>
                </a:gs>
              </a:gsLst>
              <a:lin ang="10800000" scaled="1"/>
              <a:tileRect/>
            </a:gradFill>
            <a:round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rgbClr val="000000"/>
              </a:solidFill>
            </a:endParaRPr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fade/>
      </p:transition>
    </mc:Choice>
    <mc:Fallback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圆角矩形 2"/>
          <p:cNvSpPr/>
          <p:nvPr/>
        </p:nvSpPr>
        <p:spPr>
          <a:xfrm>
            <a:off x="349250" y="2226310"/>
            <a:ext cx="11455400" cy="4159250"/>
          </a:xfrm>
          <a:prstGeom prst="roundRect">
            <a:avLst/>
          </a:prstGeom>
          <a:noFill/>
          <a:ln w="38100"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标题 1"/>
          <p:cNvSpPr/>
          <p:nvPr>
            <p:ph type="title"/>
          </p:nvPr>
        </p:nvSpPr>
        <p:spPr/>
        <p:txBody>
          <a:bodyPr/>
          <a:p>
            <a:r>
              <a:rPr lang="zh-CN" altLang="en-US"/>
              <a:t>研究</a:t>
            </a:r>
            <a:r>
              <a:rPr lang="zh-CN" altLang="en-US"/>
              <a:t>背景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574675" y="1423035"/>
            <a:ext cx="76117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 b="1"/>
              <a:t>2. </a:t>
            </a:r>
            <a:r>
              <a:rPr lang="zh-CN" altLang="en-US" sz="2400" b="1"/>
              <a:t>为什么大模型需要</a:t>
            </a:r>
            <a:r>
              <a:rPr lang="en-US" altLang="zh-CN" sz="2400" b="1"/>
              <a:t>——</a:t>
            </a:r>
            <a:r>
              <a:rPr lang="zh-CN" altLang="en-US" sz="2400" b="1"/>
              <a:t>参数高效微调（</a:t>
            </a:r>
            <a:r>
              <a:rPr lang="en-US" altLang="zh-CN" sz="2400" b="1"/>
              <a:t>PEFT</a:t>
            </a:r>
            <a:r>
              <a:rPr lang="zh-CN" altLang="en-US" sz="2400" b="1"/>
              <a:t>）？</a:t>
            </a:r>
            <a:endParaRPr lang="zh-CN" altLang="en-US" sz="2400" b="1"/>
          </a:p>
        </p:txBody>
      </p:sp>
      <p:sp>
        <p:nvSpPr>
          <p:cNvPr id="4" name="矩形: 圆角 2"/>
          <p:cNvSpPr/>
          <p:nvPr>
            <p:custDataLst>
              <p:tags r:id="rId1"/>
            </p:custDataLst>
          </p:nvPr>
        </p:nvSpPr>
        <p:spPr>
          <a:xfrm>
            <a:off x="617220" y="3688715"/>
            <a:ext cx="3230245" cy="2273935"/>
          </a:xfrm>
          <a:prstGeom prst="roundRect">
            <a:avLst>
              <a:gd name="adj" fmla="val 0"/>
            </a:avLst>
          </a:prstGeom>
          <a:solidFill>
            <a:schemeClr val="tx1">
              <a:lumMod val="40000"/>
              <a:lumOff val="60000"/>
              <a:alpha val="15000"/>
            </a:schemeClr>
          </a:solidFill>
          <a:ln w="158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296" tIns="41148" rIns="82296" bIns="41148" rtlCol="0" anchor="ctr"/>
          <a:p>
            <a:endParaRPr lang="zh-CN" altLang="en-US" sz="144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6" name="矩形 5"/>
          <p:cNvSpPr/>
          <p:nvPr>
            <p:custDataLst>
              <p:tags r:id="rId2"/>
            </p:custDataLst>
          </p:nvPr>
        </p:nvSpPr>
        <p:spPr>
          <a:xfrm>
            <a:off x="881698" y="4921568"/>
            <a:ext cx="2702560" cy="160528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sym typeface="+mn-ea"/>
              </a:rPr>
              <a:t>全量微调需要多台高端</a:t>
            </a:r>
            <a:r>
              <a:rPr lang="en-US" altLang="zh-CN" sz="1600">
                <a:sym typeface="+mn-ea"/>
              </a:rPr>
              <a:t>GPU</a:t>
            </a:r>
            <a:r>
              <a:rPr lang="zh-CN" altLang="en-US" sz="1600">
                <a:sym typeface="+mn-ea"/>
              </a:rPr>
              <a:t>且训练时间长</a:t>
            </a:r>
            <a:endParaRPr lang="zh-CN" altLang="en-US" sz="16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60" name="圆角矩形 59"/>
          <p:cNvSpPr/>
          <p:nvPr>
            <p:custDataLst>
              <p:tags r:id="rId3"/>
            </p:custDataLst>
          </p:nvPr>
        </p:nvSpPr>
        <p:spPr>
          <a:xfrm>
            <a:off x="881698" y="3251518"/>
            <a:ext cx="694055" cy="680085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none" lIns="0" tIns="0" rIns="0" bIns="0" rtlCol="0" anchor="ctr">
            <a:norm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>
                <a:solidFill>
                  <a:srgbClr val="FFFFFF"/>
                </a:solidFill>
                <a:latin typeface="+mn-ea"/>
                <a:cs typeface="+mn-ea"/>
                <a:sym typeface="+mn-ea"/>
              </a:rPr>
              <a:t>01</a:t>
            </a:r>
            <a:endParaRPr lang="en-US" altLang="zh-CN" sz="2000" b="1" dirty="0">
              <a:solidFill>
                <a:srgbClr val="FFFFFF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9" name="矩形 8"/>
          <p:cNvSpPr/>
          <p:nvPr>
            <p:custDataLst>
              <p:tags r:id="rId4"/>
            </p:custDataLst>
          </p:nvPr>
        </p:nvSpPr>
        <p:spPr>
          <a:xfrm>
            <a:off x="884873" y="4106863"/>
            <a:ext cx="2703830" cy="45529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2200">
                <a:sym typeface="+mn-ea"/>
              </a:rPr>
              <a:t>计算资源需求极高</a:t>
            </a:r>
            <a:endParaRPr lang="zh-CN" altLang="en-US" sz="2200" b="1">
              <a:solidFill>
                <a:schemeClr val="accent1"/>
              </a:solidFill>
              <a:latin typeface="+mn-ea"/>
              <a:cs typeface="+mn-ea"/>
            </a:endParaRPr>
          </a:p>
        </p:txBody>
      </p:sp>
      <p:sp>
        <p:nvSpPr>
          <p:cNvPr id="33" name="矩形: 圆角 2"/>
          <p:cNvSpPr/>
          <p:nvPr>
            <p:custDataLst>
              <p:tags r:id="rId5"/>
            </p:custDataLst>
          </p:nvPr>
        </p:nvSpPr>
        <p:spPr>
          <a:xfrm>
            <a:off x="4401820" y="3688715"/>
            <a:ext cx="3230245" cy="2273935"/>
          </a:xfrm>
          <a:prstGeom prst="roundRect">
            <a:avLst>
              <a:gd name="adj" fmla="val 0"/>
            </a:avLst>
          </a:prstGeom>
          <a:solidFill>
            <a:schemeClr val="tx1">
              <a:lumMod val="40000"/>
              <a:lumOff val="60000"/>
              <a:alpha val="15000"/>
            </a:schemeClr>
          </a:solidFill>
          <a:ln w="158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296" tIns="41148" rIns="82296" bIns="41148" rtlCol="0" anchor="ctr"/>
          <a:p>
            <a:endParaRPr lang="zh-CN" altLang="en-US" sz="144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0" name="矩形 9"/>
          <p:cNvSpPr/>
          <p:nvPr>
            <p:custDataLst>
              <p:tags r:id="rId6"/>
            </p:custDataLst>
          </p:nvPr>
        </p:nvSpPr>
        <p:spPr>
          <a:xfrm>
            <a:off x="4666298" y="4926648"/>
            <a:ext cx="2702560" cy="160528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sym typeface="+mn-ea"/>
              </a:rPr>
              <a:t>每个微调版本都需要存储完整模型副本（数百</a:t>
            </a:r>
            <a:r>
              <a:rPr lang="en-US" altLang="zh-CN" sz="1600">
                <a:sym typeface="+mn-ea"/>
              </a:rPr>
              <a:t>GB</a:t>
            </a:r>
            <a:r>
              <a:rPr lang="zh-CN" altLang="en-US" sz="1600">
                <a:sym typeface="+mn-ea"/>
              </a:rPr>
              <a:t>）</a:t>
            </a:r>
            <a:endParaRPr lang="zh-CN" altLang="en-US" sz="16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40" name="圆角矩形 39"/>
          <p:cNvSpPr/>
          <p:nvPr>
            <p:custDataLst>
              <p:tags r:id="rId7"/>
            </p:custDataLst>
          </p:nvPr>
        </p:nvSpPr>
        <p:spPr>
          <a:xfrm>
            <a:off x="4666298" y="3251518"/>
            <a:ext cx="694055" cy="680085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none" lIns="0" tIns="0" rIns="0" bIns="0" rtlCol="0" anchor="ctr">
            <a:norm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>
                <a:solidFill>
                  <a:srgbClr val="FFFFFF"/>
                </a:solidFill>
                <a:latin typeface="+mn-ea"/>
                <a:cs typeface="+mn-ea"/>
                <a:sym typeface="+mn-ea"/>
              </a:rPr>
              <a:t>02</a:t>
            </a:r>
            <a:endParaRPr lang="en-US" altLang="zh-CN" sz="2000" b="1" dirty="0">
              <a:solidFill>
                <a:srgbClr val="FFFFFF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14" name="矩形 13"/>
          <p:cNvSpPr/>
          <p:nvPr>
            <p:custDataLst>
              <p:tags r:id="rId8"/>
            </p:custDataLst>
          </p:nvPr>
        </p:nvSpPr>
        <p:spPr>
          <a:xfrm>
            <a:off x="4672013" y="4118928"/>
            <a:ext cx="2703830" cy="44323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2200">
                <a:sym typeface="+mn-ea"/>
              </a:rPr>
              <a:t>存储需求巨大</a:t>
            </a:r>
            <a:endParaRPr lang="zh-CN" altLang="en-US" sz="2200" b="1">
              <a:solidFill>
                <a:schemeClr val="accent2"/>
              </a:solidFill>
              <a:latin typeface="+mn-ea"/>
              <a:cs typeface="+mn-ea"/>
            </a:endParaRPr>
          </a:p>
        </p:txBody>
      </p:sp>
      <p:sp>
        <p:nvSpPr>
          <p:cNvPr id="63" name="矩形: 圆角 2"/>
          <p:cNvSpPr/>
          <p:nvPr>
            <p:custDataLst>
              <p:tags r:id="rId9"/>
            </p:custDataLst>
          </p:nvPr>
        </p:nvSpPr>
        <p:spPr>
          <a:xfrm>
            <a:off x="8186420" y="3688715"/>
            <a:ext cx="3230245" cy="2273935"/>
          </a:xfrm>
          <a:prstGeom prst="roundRect">
            <a:avLst>
              <a:gd name="adj" fmla="val 0"/>
            </a:avLst>
          </a:prstGeom>
          <a:solidFill>
            <a:schemeClr val="tx1">
              <a:lumMod val="40000"/>
              <a:lumOff val="60000"/>
              <a:alpha val="15000"/>
            </a:schemeClr>
          </a:solidFill>
          <a:ln w="158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296" tIns="41148" rIns="82296" bIns="41148" rtlCol="0" anchor="ctr"/>
          <a:p>
            <a:endParaRPr lang="zh-CN" altLang="en-US" sz="144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5" name="矩形 14"/>
          <p:cNvSpPr/>
          <p:nvPr>
            <p:custDataLst>
              <p:tags r:id="rId10"/>
            </p:custDataLst>
          </p:nvPr>
        </p:nvSpPr>
        <p:spPr>
          <a:xfrm>
            <a:off x="8450898" y="4921568"/>
            <a:ext cx="2702560" cy="160528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sym typeface="+mn-ea"/>
              </a:rPr>
              <a:t>使用小数据集时，完整微调易导致模型遗忘原有能力</a:t>
            </a:r>
            <a:endParaRPr lang="zh-CN" altLang="en-US" sz="16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65" name="圆角矩形 64"/>
          <p:cNvSpPr/>
          <p:nvPr>
            <p:custDataLst>
              <p:tags r:id="rId11"/>
            </p:custDataLst>
          </p:nvPr>
        </p:nvSpPr>
        <p:spPr>
          <a:xfrm>
            <a:off x="8450898" y="3251518"/>
            <a:ext cx="694055" cy="680085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none" lIns="0" tIns="0" rIns="0" bIns="0" rtlCol="0" anchor="ctr">
            <a:norm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dirty="0">
                <a:solidFill>
                  <a:srgbClr val="FFFFFF"/>
                </a:solidFill>
                <a:latin typeface="+mn-ea"/>
                <a:cs typeface="+mn-ea"/>
                <a:sym typeface="+mn-ea"/>
              </a:rPr>
              <a:t>03</a:t>
            </a:r>
            <a:endParaRPr lang="en-US" altLang="zh-CN" sz="2000" b="1" dirty="0">
              <a:solidFill>
                <a:srgbClr val="FFFFFF"/>
              </a:solidFill>
              <a:latin typeface="+mn-ea"/>
              <a:cs typeface="+mn-ea"/>
              <a:sym typeface="+mn-ea"/>
            </a:endParaRPr>
          </a:p>
        </p:txBody>
      </p:sp>
      <p:cxnSp>
        <p:nvCxnSpPr>
          <p:cNvPr id="80" name="直接连接符 79"/>
          <p:cNvCxnSpPr/>
          <p:nvPr>
            <p:custDataLst>
              <p:tags r:id="rId12"/>
            </p:custDataLst>
          </p:nvPr>
        </p:nvCxnSpPr>
        <p:spPr>
          <a:xfrm flipV="1">
            <a:off x="802323" y="4725988"/>
            <a:ext cx="2844165" cy="0"/>
          </a:xfrm>
          <a:prstGeom prst="line">
            <a:avLst/>
          </a:prstGeom>
          <a:ln w="22225">
            <a:solidFill>
              <a:schemeClr val="accent1">
                <a:alpha val="5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4" name="直接连接符 73"/>
          <p:cNvCxnSpPr/>
          <p:nvPr>
            <p:custDataLst>
              <p:tags r:id="rId13"/>
            </p:custDataLst>
          </p:nvPr>
        </p:nvCxnSpPr>
        <p:spPr>
          <a:xfrm>
            <a:off x="4586923" y="4725988"/>
            <a:ext cx="2844165" cy="0"/>
          </a:xfrm>
          <a:prstGeom prst="line">
            <a:avLst/>
          </a:prstGeom>
          <a:ln w="22225">
            <a:solidFill>
              <a:schemeClr val="accent2">
                <a:alpha val="5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5" name="直接连接符 74"/>
          <p:cNvCxnSpPr/>
          <p:nvPr>
            <p:custDataLst>
              <p:tags r:id="rId14"/>
            </p:custDataLst>
          </p:nvPr>
        </p:nvCxnSpPr>
        <p:spPr>
          <a:xfrm flipV="1">
            <a:off x="8371523" y="4725988"/>
            <a:ext cx="2844165" cy="0"/>
          </a:xfrm>
          <a:prstGeom prst="line">
            <a:avLst/>
          </a:prstGeom>
          <a:ln w="22225">
            <a:solidFill>
              <a:schemeClr val="accent1">
                <a:alpha val="5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6" name="矩形 15"/>
          <p:cNvSpPr/>
          <p:nvPr>
            <p:custDataLst>
              <p:tags r:id="rId15"/>
            </p:custDataLst>
          </p:nvPr>
        </p:nvSpPr>
        <p:spPr>
          <a:xfrm>
            <a:off x="8450898" y="4124008"/>
            <a:ext cx="2703830" cy="44323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2200">
                <a:sym typeface="+mn-ea"/>
              </a:rPr>
              <a:t>容易过拟合</a:t>
            </a:r>
            <a:endParaRPr lang="zh-CN" altLang="en-US" sz="2200" b="1" dirty="0">
              <a:solidFill>
                <a:schemeClr val="accent1"/>
              </a:solidFill>
              <a:latin typeface="+mn-ea"/>
              <a:cs typeface="+mn-ea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2994025" y="2439035"/>
            <a:ext cx="68199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b="1">
                <a:sym typeface="+mn-ea"/>
              </a:rPr>
              <a:t>参数高效微调是为了</a:t>
            </a:r>
            <a:r>
              <a:rPr lang="zh-CN" altLang="en-US" sz="2800" b="1">
                <a:sym typeface="+mn-ea"/>
              </a:rPr>
              <a:t>解决以下挑战：</a:t>
            </a:r>
            <a:endParaRPr lang="zh-CN" altLang="en-US" sz="2800" b="1">
              <a:sym typeface="+mn-ea"/>
            </a:endParaRPr>
          </a:p>
        </p:txBody>
      </p:sp>
    </p:spTree>
    <p:custDataLst>
      <p:tags r:id="rId16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fade/>
      </p:transition>
    </mc:Choice>
    <mc:Fallback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/>
              <a:t>研究动机与</a:t>
            </a:r>
            <a:r>
              <a:rPr lang="zh-CN" altLang="en-US"/>
              <a:t>目标</a:t>
            </a:r>
            <a:endParaRPr lang="zh-CN" altLang="en-US"/>
          </a:p>
        </p:txBody>
      </p:sp>
      <p:sp>
        <p:nvSpPr>
          <p:cNvPr id="6" name="节编号"/>
          <p:cNvSpPr>
            <a:spLocks noGrp="1"/>
          </p:cNvSpPr>
          <p:nvPr>
            <p:ph type="body" sz="quarter" idx="13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/>
              <a:t>02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fade/>
      </p:transition>
    </mc:Choice>
    <mc:Fallback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/>
          <p:nvPr>
            <p:ph type="title"/>
          </p:nvPr>
        </p:nvSpPr>
        <p:spPr/>
        <p:txBody>
          <a:bodyPr/>
          <a:p>
            <a:r>
              <a:rPr lang="zh-CN" altLang="en-US"/>
              <a:t>研究动机</a:t>
            </a:r>
            <a:endParaRPr lang="zh-CN" altLang="en-US"/>
          </a:p>
        </p:txBody>
      </p:sp>
      <p:sp>
        <p:nvSpPr>
          <p:cNvPr id="3" name="矩形: 圆角 44"/>
          <p:cNvSpPr/>
          <p:nvPr>
            <p:custDataLst>
              <p:tags r:id="rId1"/>
            </p:custDataLst>
          </p:nvPr>
        </p:nvSpPr>
        <p:spPr>
          <a:xfrm>
            <a:off x="1527810" y="1602105"/>
            <a:ext cx="2672715" cy="1600835"/>
          </a:xfrm>
          <a:prstGeom prst="roundRect">
            <a:avLst>
              <a:gd name="adj" fmla="val 5124"/>
            </a:avLst>
          </a:prstGeom>
          <a:gradFill>
            <a:gsLst>
              <a:gs pos="0">
                <a:srgbClr val="376FFF">
                  <a:lumMod val="5000"/>
                  <a:lumOff val="95000"/>
                  <a:alpha val="0"/>
                </a:srgbClr>
              </a:gs>
              <a:gs pos="100000">
                <a:srgbClr val="376FFF">
                  <a:lumMod val="20000"/>
                  <a:lumOff val="80000"/>
                  <a:alpha val="20000"/>
                </a:srgbClr>
              </a:gs>
            </a:gsLst>
            <a:lin ang="0" scaled="0"/>
          </a:gradFill>
          <a:ln w="9525">
            <a:gradFill flip="none" rotWithShape="1">
              <a:gsLst>
                <a:gs pos="0">
                  <a:srgbClr val="376FFF">
                    <a:lumMod val="20000"/>
                    <a:lumOff val="80000"/>
                  </a:srgbClr>
                </a:gs>
                <a:gs pos="100000">
                  <a:srgbClr val="376FFF">
                    <a:lumMod val="60000"/>
                    <a:lumOff val="40000"/>
                  </a:srgbClr>
                </a:gs>
              </a:gsLst>
              <a:lin ang="10800000" scaled="1"/>
              <a:tileRect/>
            </a:gradFill>
            <a:round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4" name="矩形 3"/>
          <p:cNvSpPr/>
          <p:nvPr>
            <p:custDataLst>
              <p:tags r:id="rId2"/>
            </p:custDataLst>
          </p:nvPr>
        </p:nvSpPr>
        <p:spPr>
          <a:xfrm>
            <a:off x="1759585" y="1602740"/>
            <a:ext cx="2272665" cy="1600200"/>
          </a:xfrm>
          <a:prstGeom prst="rect">
            <a:avLst/>
          </a:prstGeom>
          <a:noFill/>
        </p:spPr>
        <p:txBody>
          <a:bodyPr wrap="square" lIns="0" tIns="36195" rIns="0" bIns="0" rtlCol="0" anchor="ctr">
            <a:no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376FFF"/>
                </a:solidFill>
                <a:latin typeface="微软雅黑" panose="020B0503020204020204" charset="-122"/>
                <a:cs typeface="微软雅黑" panose="020B0503020204020204" charset="-122"/>
              </a:rPr>
              <a:t>参数高效微调</a:t>
            </a:r>
            <a:endParaRPr lang="zh-CN" altLang="en-US" sz="2400" b="1" dirty="0">
              <a:solidFill>
                <a:srgbClr val="376FFF"/>
              </a:solidFill>
              <a:latin typeface="微软雅黑" panose="020B0503020204020204" charset="-122"/>
              <a:cs typeface="微软雅黑" panose="020B0503020204020204" charset="-122"/>
            </a:endParaRPr>
          </a:p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376FFF"/>
                </a:solidFill>
                <a:latin typeface="微软雅黑" panose="020B0503020204020204" charset="-122"/>
                <a:cs typeface="微软雅黑" panose="020B0503020204020204" charset="-122"/>
              </a:rPr>
              <a:t>（</a:t>
            </a:r>
            <a:r>
              <a:rPr lang="en-US" altLang="zh-CN" sz="2400" b="1" dirty="0">
                <a:solidFill>
                  <a:srgbClr val="376FFF"/>
                </a:solidFill>
                <a:latin typeface="微软雅黑" panose="020B0503020204020204" charset="-122"/>
                <a:cs typeface="微软雅黑" panose="020B0503020204020204" charset="-122"/>
              </a:rPr>
              <a:t>PEFT</a:t>
            </a:r>
            <a:r>
              <a:rPr lang="zh-CN" altLang="en-US" sz="2400" b="1" dirty="0">
                <a:solidFill>
                  <a:srgbClr val="376FFF"/>
                </a:solidFill>
                <a:latin typeface="微软雅黑" panose="020B0503020204020204" charset="-122"/>
                <a:cs typeface="微软雅黑" panose="020B0503020204020204" charset="-122"/>
              </a:rPr>
              <a:t>）</a:t>
            </a:r>
            <a:endParaRPr lang="zh-CN" altLang="en-US" sz="2400" b="1" dirty="0">
              <a:solidFill>
                <a:srgbClr val="376FFF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: 圆角 48"/>
          <p:cNvSpPr/>
          <p:nvPr>
            <p:custDataLst>
              <p:tags r:id="rId3"/>
            </p:custDataLst>
          </p:nvPr>
        </p:nvSpPr>
        <p:spPr>
          <a:xfrm>
            <a:off x="1527810" y="4628515"/>
            <a:ext cx="2673350" cy="1600835"/>
          </a:xfrm>
          <a:prstGeom prst="roundRect">
            <a:avLst>
              <a:gd name="adj" fmla="val 5124"/>
            </a:avLst>
          </a:prstGeom>
          <a:gradFill>
            <a:gsLst>
              <a:gs pos="0">
                <a:srgbClr val="376FFF">
                  <a:lumMod val="5000"/>
                  <a:lumOff val="95000"/>
                  <a:alpha val="0"/>
                </a:srgbClr>
              </a:gs>
              <a:gs pos="100000">
                <a:srgbClr val="376FFF">
                  <a:lumMod val="20000"/>
                  <a:lumOff val="80000"/>
                  <a:alpha val="20000"/>
                </a:srgbClr>
              </a:gs>
            </a:gsLst>
            <a:lin ang="0" scaled="0"/>
          </a:gradFill>
          <a:ln w="9525">
            <a:gradFill flip="none" rotWithShape="1">
              <a:gsLst>
                <a:gs pos="0">
                  <a:srgbClr val="376FFF">
                    <a:lumMod val="20000"/>
                    <a:lumOff val="80000"/>
                  </a:srgbClr>
                </a:gs>
                <a:gs pos="100000">
                  <a:srgbClr val="376FFF">
                    <a:lumMod val="60000"/>
                    <a:lumOff val="40000"/>
                  </a:srgbClr>
                </a:gs>
              </a:gsLst>
              <a:lin ang="10800000" scaled="1"/>
              <a:tileRect/>
            </a:gradFill>
            <a:round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16" name="矩形 15"/>
          <p:cNvSpPr/>
          <p:nvPr>
            <p:custDataLst>
              <p:tags r:id="rId4"/>
            </p:custDataLst>
          </p:nvPr>
        </p:nvSpPr>
        <p:spPr>
          <a:xfrm>
            <a:off x="1704975" y="4629150"/>
            <a:ext cx="2326640" cy="1600200"/>
          </a:xfrm>
          <a:prstGeom prst="rect">
            <a:avLst/>
          </a:prstGeom>
          <a:noFill/>
        </p:spPr>
        <p:txBody>
          <a:bodyPr wrap="square" lIns="0" tIns="36195" rIns="0" bIns="0" rtlCol="0" anchor="ctr">
            <a:no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376FFF"/>
                </a:solidFill>
                <a:latin typeface="微软雅黑" panose="020B0503020204020204" charset="-122"/>
                <a:cs typeface="微软雅黑" panose="020B0503020204020204" charset="-122"/>
              </a:rPr>
              <a:t>数据高效微调</a:t>
            </a:r>
            <a:endParaRPr lang="zh-CN" altLang="en-US" sz="2400" b="1" dirty="0">
              <a:solidFill>
                <a:srgbClr val="376FFF"/>
              </a:solidFill>
              <a:latin typeface="微软雅黑" panose="020B0503020204020204" charset="-122"/>
              <a:cs typeface="微软雅黑" panose="020B0503020204020204" charset="-122"/>
            </a:endParaRPr>
          </a:p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376FFF"/>
                </a:solidFill>
                <a:latin typeface="微软雅黑" panose="020B0503020204020204" charset="-122"/>
                <a:cs typeface="微软雅黑" panose="020B0503020204020204" charset="-122"/>
              </a:rPr>
              <a:t>（</a:t>
            </a:r>
            <a:r>
              <a:rPr lang="en-US" altLang="zh-CN" sz="2400" b="1" dirty="0">
                <a:solidFill>
                  <a:srgbClr val="376FFF"/>
                </a:solidFill>
                <a:latin typeface="微软雅黑" panose="020B0503020204020204" charset="-122"/>
                <a:cs typeface="微软雅黑" panose="020B0503020204020204" charset="-122"/>
              </a:rPr>
              <a:t>DEFT</a:t>
            </a:r>
            <a:r>
              <a:rPr lang="zh-CN" altLang="en-US" sz="2400" b="1" dirty="0">
                <a:solidFill>
                  <a:srgbClr val="376FFF"/>
                </a:solidFill>
                <a:latin typeface="微软雅黑" panose="020B0503020204020204" charset="-122"/>
                <a:cs typeface="微软雅黑" panose="020B0503020204020204" charset="-122"/>
              </a:rPr>
              <a:t>）</a:t>
            </a:r>
            <a:endParaRPr lang="zh-CN" altLang="en-US" sz="2400" b="1" dirty="0">
              <a:solidFill>
                <a:srgbClr val="376FFF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2427605" y="3429000"/>
            <a:ext cx="2909570" cy="10458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fontAlgn="auto">
              <a:lnSpc>
                <a:spcPct val="150000"/>
              </a:lnSpc>
            </a:pPr>
            <a:r>
              <a:rPr lang="zh-CN" altLang="en-US" b="1"/>
              <a:t>研究空白</a:t>
            </a:r>
            <a:r>
              <a:rPr lang="zh-CN" altLang="en-US"/>
              <a:t>：两者之间如何相互作用</a:t>
            </a:r>
            <a:r>
              <a:rPr lang="zh-CN" altLang="en-US"/>
              <a:t>的探索不足</a:t>
            </a:r>
            <a:endParaRPr lang="zh-CN" altLang="en-US"/>
          </a:p>
        </p:txBody>
      </p:sp>
      <p:sp>
        <p:nvSpPr>
          <p:cNvPr id="19" name="上下箭头 18"/>
          <p:cNvSpPr/>
          <p:nvPr/>
        </p:nvSpPr>
        <p:spPr>
          <a:xfrm>
            <a:off x="1704975" y="3382645"/>
            <a:ext cx="463550" cy="970280"/>
          </a:xfrm>
          <a:prstGeom prst="upDownArrow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6451600" y="2875915"/>
            <a:ext cx="4064000" cy="21685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/>
              <a:t>不同的</a:t>
            </a:r>
            <a:r>
              <a:rPr lang="en-US" altLang="zh-CN"/>
              <a:t>PEFT</a:t>
            </a:r>
            <a:r>
              <a:rPr lang="zh-CN" altLang="en-US"/>
              <a:t>方法，它们的数据偏好是一样的吗？</a:t>
            </a:r>
            <a:r>
              <a:rPr lang="zh-CN" altLang="en-US">
                <a:sym typeface="+mn-ea"/>
              </a:rPr>
              <a:t>关注或学习的数据特征是否一致？</a:t>
            </a:r>
            <a:endParaRPr lang="zh-CN" altLang="en-US"/>
          </a:p>
          <a:p>
            <a:pPr marL="285750" indent="-285750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>
                <a:sym typeface="+mn-ea"/>
              </a:rPr>
              <a:t>不同</a:t>
            </a:r>
            <a:r>
              <a:rPr lang="en-US" altLang="zh-CN">
                <a:sym typeface="+mn-ea"/>
              </a:rPr>
              <a:t>PEFT</a:t>
            </a:r>
            <a:r>
              <a:rPr lang="zh-CN" altLang="en-US">
                <a:sym typeface="+mn-ea"/>
              </a:rPr>
              <a:t>方法对数据分布的感知是否存在</a:t>
            </a:r>
            <a:r>
              <a:rPr lang="zh-CN" altLang="en-US">
                <a:sym typeface="+mn-ea"/>
              </a:rPr>
              <a:t>差异？</a:t>
            </a:r>
            <a:endParaRPr lang="zh-CN" altLang="en-US">
              <a:sym typeface="+mn-ea"/>
            </a:endParaRPr>
          </a:p>
        </p:txBody>
      </p:sp>
      <p:sp>
        <p:nvSpPr>
          <p:cNvPr id="8" name="任意多边形: 形状 356"/>
          <p:cNvSpPr/>
          <p:nvPr>
            <p:custDataLst>
              <p:tags r:id="rId5"/>
            </p:custDataLst>
          </p:nvPr>
        </p:nvSpPr>
        <p:spPr>
          <a:xfrm>
            <a:off x="5966460" y="2875915"/>
            <a:ext cx="5223510" cy="2178685"/>
          </a:xfrm>
          <a:custGeom>
            <a:avLst/>
            <a:gdLst>
              <a:gd name="connsiteX0" fmla="*/ 0 w 10904220"/>
              <a:gd name="connsiteY0" fmla="*/ 0 h 4461510"/>
              <a:gd name="connsiteX1" fmla="*/ 10904220 w 10904220"/>
              <a:gd name="connsiteY1" fmla="*/ 0 h 4461510"/>
              <a:gd name="connsiteX2" fmla="*/ 10904220 w 10904220"/>
              <a:gd name="connsiteY2" fmla="*/ 3681772 h 4461510"/>
              <a:gd name="connsiteX3" fmla="*/ 10124482 w 10904220"/>
              <a:gd name="connsiteY3" fmla="*/ 4461510 h 4461510"/>
              <a:gd name="connsiteX4" fmla="*/ 0 w 10904220"/>
              <a:gd name="connsiteY4" fmla="*/ 4461510 h 4461510"/>
              <a:gd name="connsiteX5" fmla="*/ 0 w 10904220"/>
              <a:gd name="connsiteY5" fmla="*/ 0 h 44615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904220" h="4461510">
                <a:moveTo>
                  <a:pt x="0" y="0"/>
                </a:moveTo>
                <a:lnTo>
                  <a:pt x="10904220" y="0"/>
                </a:lnTo>
                <a:lnTo>
                  <a:pt x="10904220" y="3681772"/>
                </a:lnTo>
                <a:lnTo>
                  <a:pt x="10124482" y="4461510"/>
                </a:lnTo>
                <a:lnTo>
                  <a:pt x="0" y="446151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25400" cap="flat" cmpd="sng" algn="ctr">
            <a:solidFill>
              <a:srgbClr val="4874CB">
                <a:lumMod val="40000"/>
                <a:lumOff val="60000"/>
              </a:srgbClr>
            </a:solidFill>
            <a:prstDash val="solid"/>
            <a:miter lim="800000"/>
          </a:ln>
          <a:effectLst>
            <a:outerShdw blurRad="76200" dist="38100" dir="2700000" algn="tl" rotWithShape="0">
              <a:srgbClr val="4874CB">
                <a:lumMod val="75000"/>
                <a:alpha val="10000"/>
              </a:srgbClr>
            </a:outerShdw>
          </a:effectLst>
        </p:spPr>
        <p:txBody>
          <a:bodyPr lIns="720000" rIns="720000" rtlCol="0" anchor="ctr"/>
          <a:p>
            <a:pPr indent="0" fontAlgn="auto">
              <a:lnSpc>
                <a:spcPct val="130000"/>
              </a:lnSpc>
            </a:pPr>
            <a:endParaRPr lang="zh-CN" altLang="en-US" kern="0" spc="0" dirty="0">
              <a:ln>
                <a:noFill/>
                <a:prstDash val="sysDot"/>
              </a:ln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1" name="矩形: 圆角 21"/>
          <p:cNvSpPr/>
          <p:nvPr>
            <p:custDataLst>
              <p:tags r:id="rId6"/>
            </p:custDataLst>
          </p:nvPr>
        </p:nvSpPr>
        <p:spPr>
          <a:xfrm>
            <a:off x="5966460" y="2432685"/>
            <a:ext cx="5223510" cy="443230"/>
          </a:xfrm>
          <a:prstGeom prst="roundRect">
            <a:avLst>
              <a:gd name="adj" fmla="val 0"/>
            </a:avLst>
          </a:prstGeom>
          <a:solidFill>
            <a:srgbClr val="4874CB">
              <a:lumMod val="20000"/>
              <a:lumOff val="80000"/>
            </a:srgbClr>
          </a:solidFill>
          <a:ln w="25400" cap="flat" cmpd="sng" algn="ctr">
            <a:solidFill>
              <a:srgbClr val="4874CB">
                <a:lumMod val="40000"/>
                <a:lumOff val="60000"/>
              </a:srgbClr>
            </a:solidFill>
            <a:prstDash val="solid"/>
            <a:miter lim="800000"/>
          </a:ln>
          <a:effectLst/>
        </p:spPr>
        <p:txBody>
          <a:bodyPr rtlCol="0" anchor="ctr"/>
          <a:p>
            <a:pPr algn="ctr"/>
            <a:r>
              <a:rPr lang="zh-CN" altLang="en-US" sz="2000" b="1">
                <a:solidFill>
                  <a:sysClr val="windowText" lastClr="000000"/>
                </a:solidFill>
                <a:latin typeface="Calibri" panose="020F0502020204030204" charset="0"/>
                <a:ea typeface="微软雅黑" panose="020B0503020204020204" charset="-122"/>
              </a:rPr>
              <a:t>经常被忽视的</a:t>
            </a:r>
            <a:r>
              <a:rPr lang="zh-CN" altLang="en-US" sz="2000" b="1">
                <a:solidFill>
                  <a:sysClr val="windowText" lastClr="000000"/>
                </a:solidFill>
                <a:latin typeface="Calibri" panose="020F0502020204030204" charset="0"/>
                <a:ea typeface="微软雅黑" panose="020B0503020204020204" charset="-122"/>
              </a:rPr>
              <a:t>问题</a:t>
            </a:r>
            <a:endParaRPr lang="zh-CN" altLang="en-US" sz="2000" b="1">
              <a:solidFill>
                <a:sysClr val="windowText" lastClr="000000"/>
              </a:solidFill>
              <a:latin typeface="Calibri" panose="020F0502020204030204" charset="0"/>
              <a:ea typeface="微软雅黑" panose="020B0503020204020204" charset="-122"/>
            </a:endParaRPr>
          </a:p>
        </p:txBody>
      </p:sp>
    </p:spTree>
    <p:custDataLst>
      <p:tags r:id="rId7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fade/>
      </p:transition>
    </mc:Choice>
    <mc:Fallback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/>
          <p:nvPr>
            <p:ph type="title"/>
          </p:nvPr>
        </p:nvSpPr>
        <p:spPr/>
        <p:txBody>
          <a:bodyPr/>
          <a:p>
            <a:r>
              <a:rPr lang="zh-CN" altLang="en-US"/>
              <a:t>研究动机</a:t>
            </a:r>
            <a:endParaRPr lang="zh-CN" altLang="en-US"/>
          </a:p>
        </p:txBody>
      </p:sp>
      <p:sp>
        <p:nvSpPr>
          <p:cNvPr id="5" name="Shape 1"/>
          <p:cNvSpPr/>
          <p:nvPr/>
        </p:nvSpPr>
        <p:spPr>
          <a:xfrm>
            <a:off x="2616835" y="1694815"/>
            <a:ext cx="6631305" cy="3160395"/>
          </a:xfrm>
          <a:prstGeom prst="roundRect">
            <a:avLst>
              <a:gd name="adj" fmla="val 2851"/>
            </a:avLst>
          </a:prstGeom>
          <a:solidFill>
            <a:srgbClr val="FFFFFF">
              <a:alpha val="95000"/>
            </a:srgbClr>
          </a:solidFill>
          <a:ln w="30480">
            <a:solidFill>
              <a:srgbClr val="C8CACF"/>
            </a:solidFill>
            <a:prstDash val="solid"/>
          </a:ln>
        </p:spPr>
      </p:sp>
      <p:sp>
        <p:nvSpPr>
          <p:cNvPr id="6" name="Shape 2"/>
          <p:cNvSpPr/>
          <p:nvPr/>
        </p:nvSpPr>
        <p:spPr>
          <a:xfrm>
            <a:off x="2616835" y="1694815"/>
            <a:ext cx="129540" cy="3161030"/>
          </a:xfrm>
          <a:prstGeom prst="roundRect">
            <a:avLst>
              <a:gd name="adj" fmla="val 78139"/>
            </a:avLst>
          </a:prstGeom>
          <a:solidFill>
            <a:srgbClr val="373B48"/>
          </a:solidFill>
        </p:spPr>
      </p:sp>
      <p:sp>
        <p:nvSpPr>
          <p:cNvPr id="7" name="Text 3"/>
          <p:cNvSpPr/>
          <p:nvPr/>
        </p:nvSpPr>
        <p:spPr>
          <a:xfrm>
            <a:off x="2995930" y="1951990"/>
            <a:ext cx="2857500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2586B"/>
                </a:solidFill>
                <a:latin typeface="微软雅黑" panose="020B0503020204020204" charset="-122"/>
                <a:ea typeface="微软雅黑" panose="020B0503020204020204" charset="-122"/>
                <a:cs typeface="Mona Sans Semi Bold" pitchFamily="34" charset="-120"/>
              </a:rPr>
              <a:t>现有</a:t>
            </a:r>
            <a:r>
              <a:rPr lang="zh-CN" altLang="en-US" sz="2200" dirty="0">
                <a:solidFill>
                  <a:srgbClr val="52586B"/>
                </a:solidFill>
                <a:latin typeface="微软雅黑" panose="020B0503020204020204" charset="-122"/>
                <a:ea typeface="微软雅黑" panose="020B0503020204020204" charset="-122"/>
                <a:cs typeface="Mona Sans Semi Bold" pitchFamily="34" charset="-120"/>
              </a:rPr>
              <a:t>相关</a:t>
            </a:r>
            <a:r>
              <a:rPr lang="en-US" sz="2200" dirty="0">
                <a:solidFill>
                  <a:srgbClr val="52586B"/>
                </a:solidFill>
                <a:latin typeface="微软雅黑" panose="020B0503020204020204" charset="-122"/>
                <a:ea typeface="微软雅黑" panose="020B0503020204020204" charset="-122"/>
                <a:cs typeface="Mona Sans Semi Bold" pitchFamily="34" charset="-120"/>
              </a:rPr>
              <a:t>研究局限性</a:t>
            </a:r>
            <a:endParaRPr lang="en-US" sz="2200" dirty="0">
              <a:solidFill>
                <a:srgbClr val="52586B"/>
              </a:solidFill>
              <a:latin typeface="微软雅黑" panose="020B0503020204020204" charset="-122"/>
              <a:ea typeface="微软雅黑" panose="020B0503020204020204" charset="-122"/>
              <a:cs typeface="Mona Sans Semi Bold" pitchFamily="34" charset="-120"/>
            </a:endParaRPr>
          </a:p>
        </p:txBody>
      </p:sp>
      <p:sp>
        <p:nvSpPr>
          <p:cNvPr id="8" name="Text 4"/>
          <p:cNvSpPr/>
          <p:nvPr/>
        </p:nvSpPr>
        <p:spPr>
          <a:xfrm>
            <a:off x="2995930" y="2442845"/>
            <a:ext cx="5815965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258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仅针对单一PEFT方法</a:t>
            </a:r>
            <a:r>
              <a:rPr lang="zh-CN" altLang="en-US" sz="1750" dirty="0">
                <a:solidFill>
                  <a:srgbClr val="5258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或单一</a:t>
            </a:r>
            <a:r>
              <a:rPr lang="en-US" altLang="zh-CN" sz="1750" dirty="0">
                <a:solidFill>
                  <a:srgbClr val="5258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DEFT</a:t>
            </a:r>
            <a:r>
              <a:rPr lang="zh-CN" altLang="en-US" sz="1750" dirty="0">
                <a:solidFill>
                  <a:srgbClr val="5258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方法进行二者联合作用时的优化</a:t>
            </a:r>
            <a:r>
              <a:rPr lang="en-US" sz="1750" dirty="0">
                <a:solidFill>
                  <a:srgbClr val="5258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，缺乏跨方法可复用的普适策略</a:t>
            </a:r>
            <a:endParaRPr lang="en-US" sz="1750" dirty="0">
              <a:solidFill>
                <a:srgbClr val="5258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 5"/>
          <p:cNvSpPr/>
          <p:nvPr/>
        </p:nvSpPr>
        <p:spPr>
          <a:xfrm>
            <a:off x="2995930" y="3247390"/>
            <a:ext cx="5815965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258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多为现象学结论（如"PEFT更稳定"），未产出通用数据选择准则</a:t>
            </a:r>
            <a:endParaRPr lang="en-US" sz="1750" dirty="0">
              <a:solidFill>
                <a:srgbClr val="5258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 6"/>
          <p:cNvSpPr/>
          <p:nvPr/>
        </p:nvSpPr>
        <p:spPr>
          <a:xfrm>
            <a:off x="2995930" y="4052570"/>
            <a:ext cx="5815965" cy="363220"/>
          </a:xfrm>
          <a:prstGeom prst="rect">
            <a:avLst/>
          </a:prstGeom>
          <a:noFill/>
        </p:spPr>
        <p:txBody>
          <a:bodyPr wrap="none" lIns="0" tIns="0" rIns="0" bIns="0" rtlCol="0" anchor="t"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2586B"/>
                </a:solidFill>
                <a:latin typeface="微软雅黑" panose="020B0503020204020204" charset="-122"/>
                <a:ea typeface="微软雅黑" panose="020B0503020204020204" charset="-122"/>
                <a:cs typeface="Funnel Sans" pitchFamily="34" charset="-120"/>
              </a:rPr>
              <a:t>验证数据分布与任务范围偏窄，缺乏全面性</a:t>
            </a:r>
            <a:endParaRPr lang="en-US" sz="1750" dirty="0">
              <a:solidFill>
                <a:srgbClr val="52586B"/>
              </a:solidFill>
              <a:latin typeface="微软雅黑" panose="020B0503020204020204" charset="-122"/>
              <a:ea typeface="微软雅黑" panose="020B0503020204020204" charset="-122"/>
              <a:cs typeface="Funnel Sans" pitchFamily="34" charset="-120"/>
            </a:endParaRPr>
          </a:p>
        </p:txBody>
      </p:sp>
      <p:sp>
        <p:nvSpPr>
          <p:cNvPr id="17" name="Text 13"/>
          <p:cNvSpPr/>
          <p:nvPr/>
        </p:nvSpPr>
        <p:spPr>
          <a:xfrm>
            <a:off x="2995930" y="5218430"/>
            <a:ext cx="6358890" cy="688975"/>
          </a:xfrm>
          <a:prstGeom prst="rect">
            <a:avLst/>
          </a:prstGeom>
          <a:noFill/>
        </p:spPr>
        <p:txBody>
          <a:bodyPr wrap="square" lIns="0" tIns="0" rIns="0" bIns="0" rtlCol="0" anchor="t"/>
          <a:p>
            <a:pPr marL="0" indent="0" algn="l">
              <a:lnSpc>
                <a:spcPts val="2850"/>
              </a:lnSpc>
              <a:buNone/>
            </a:pPr>
            <a:r>
              <a:rPr lang="zh-CN" altLang="en-US" sz="1750" dirty="0">
                <a:solidFill>
                  <a:srgbClr val="5258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现有研究多局限于特定方法修补，缺乏通用性与</a:t>
            </a:r>
            <a:r>
              <a:rPr lang="zh-CN" altLang="en-US" sz="1750" dirty="0">
                <a:solidFill>
                  <a:srgbClr val="5258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全面性</a:t>
            </a:r>
            <a:endParaRPr lang="zh-CN" altLang="en-US" sz="1750" dirty="0">
              <a:solidFill>
                <a:srgbClr val="5258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fade/>
      </p:transition>
    </mc:Choice>
    <mc:Fallback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1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/>
              <a:t>研究目标</a:t>
            </a:r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2626995" y="1755775"/>
            <a:ext cx="12702540" cy="87249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2586B"/>
                </a:solidFill>
                <a:latin typeface="微软雅黑" panose="020B0503020204020204" charset="-122"/>
                <a:ea typeface="微软雅黑" panose="020B0503020204020204" charset="-122"/>
                <a:cs typeface="Funnel Sans" pitchFamily="34" charset="-120"/>
              </a:rPr>
              <a:t>打通数据选择与参数优化之间的壁垒，深入探究二者之间潜在的协同作用，</a:t>
            </a:r>
            <a:endParaRPr lang="en-US" sz="1750" dirty="0">
              <a:solidFill>
                <a:srgbClr val="52586B"/>
              </a:solidFill>
              <a:latin typeface="微软雅黑" panose="020B0503020204020204" charset="-122"/>
              <a:ea typeface="微软雅黑" panose="020B0503020204020204" charset="-122"/>
              <a:cs typeface="Funnel Sans" pitchFamily="34" charset="-120"/>
            </a:endParaRPr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2586B"/>
                </a:solidFill>
                <a:latin typeface="微软雅黑" panose="020B0503020204020204" charset="-122"/>
                <a:ea typeface="微软雅黑" panose="020B0503020204020204" charset="-122"/>
                <a:cs typeface="Funnel Sans" pitchFamily="34" charset="-120"/>
              </a:rPr>
              <a:t>构建一个更高效、更智能的微调理论与方法体系。</a:t>
            </a:r>
            <a:endParaRPr lang="en-US" sz="175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Shape 2"/>
          <p:cNvSpPr/>
          <p:nvPr/>
        </p:nvSpPr>
        <p:spPr>
          <a:xfrm>
            <a:off x="2075855" y="1693386"/>
            <a:ext cx="30480" cy="873204"/>
          </a:xfrm>
          <a:prstGeom prst="rect">
            <a:avLst/>
          </a:prstGeom>
          <a:solidFill>
            <a:srgbClr val="373B48"/>
          </a:solidFill>
        </p:spPr>
        <p:txBody>
          <a:bodyPr/>
          <a:p>
            <a:endParaRPr lang="zh-CN" altLang="en-US"/>
          </a:p>
        </p:txBody>
      </p:sp>
      <p:sp>
        <p:nvSpPr>
          <p:cNvPr id="19" name="Text 3"/>
          <p:cNvSpPr/>
          <p:nvPr/>
        </p:nvSpPr>
        <p:spPr>
          <a:xfrm>
            <a:off x="758984" y="1917462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p>
            <a:pPr marL="0" indent="0" algn="l">
              <a:lnSpc>
                <a:spcPts val="2750"/>
              </a:lnSpc>
              <a:buNone/>
            </a:pPr>
            <a:r>
              <a:rPr lang="zh-CN" altLang="en-US" sz="2200" b="1" dirty="0">
                <a:latin typeface="微软雅黑" panose="020B0503020204020204" charset="-122"/>
                <a:ea typeface="微软雅黑" panose="020B0503020204020204" charset="-122"/>
              </a:rPr>
              <a:t>总体目标</a:t>
            </a:r>
            <a:endParaRPr lang="zh-CN" altLang="en-US" sz="22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 0"/>
          <p:cNvSpPr/>
          <p:nvPr/>
        </p:nvSpPr>
        <p:spPr>
          <a:xfrm>
            <a:off x="622935" y="4041140"/>
            <a:ext cx="1537970" cy="1686560"/>
          </a:xfrm>
          <a:prstGeom prst="rect">
            <a:avLst/>
          </a:prstGeom>
          <a:noFill/>
        </p:spPr>
        <p:txBody>
          <a:bodyPr wrap="none" lIns="0" tIns="0" rIns="0" bIns="0" rtlCol="0" anchor="t"/>
          <a:p>
            <a:pPr marL="0" indent="0" algn="l">
              <a:lnSpc>
                <a:spcPts val="5550"/>
              </a:lnSpc>
              <a:buNone/>
            </a:pPr>
            <a:r>
              <a:rPr lang="zh-CN" altLang="en-US" sz="2200" b="1" dirty="0">
                <a:latin typeface="微软雅黑" panose="020B0503020204020204" charset="-122"/>
                <a:ea typeface="微软雅黑" panose="020B0503020204020204" charset="-122"/>
              </a:rPr>
              <a:t>拟解决问题</a:t>
            </a:r>
            <a:endParaRPr lang="zh-CN" altLang="en-US" sz="22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8" name="直接连接符 17"/>
          <p:cNvCxnSpPr/>
          <p:nvPr/>
        </p:nvCxnSpPr>
        <p:spPr>
          <a:xfrm>
            <a:off x="2120265" y="3658235"/>
            <a:ext cx="14605" cy="262953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0" name="Shape 1"/>
          <p:cNvSpPr/>
          <p:nvPr/>
        </p:nvSpPr>
        <p:spPr>
          <a:xfrm>
            <a:off x="2606080" y="3225681"/>
            <a:ext cx="510302" cy="510302"/>
          </a:xfrm>
          <a:prstGeom prst="roundRect">
            <a:avLst>
              <a:gd name="adj" fmla="val 18669"/>
            </a:avLst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21" name="Text 2"/>
          <p:cNvSpPr/>
          <p:nvPr/>
        </p:nvSpPr>
        <p:spPr>
          <a:xfrm>
            <a:off x="2698770" y="3335496"/>
            <a:ext cx="340162" cy="425291"/>
          </a:xfrm>
          <a:prstGeom prst="rect">
            <a:avLst/>
          </a:prstGeom>
          <a:noFill/>
        </p:spPr>
        <p:txBody>
          <a:bodyPr wrap="none" lIns="0" tIns="0" rIns="0" bIns="0" rtlCol="0" anchor="t"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Mona Sans Semi Bold" pitchFamily="34" charset="-120"/>
              </a:rPr>
              <a:t>1</a:t>
            </a:r>
            <a:endParaRPr lang="en-US" sz="265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Mona Sans Semi Bold" pitchFamily="34" charset="-120"/>
            </a:endParaRPr>
          </a:p>
        </p:txBody>
      </p:sp>
      <p:sp>
        <p:nvSpPr>
          <p:cNvPr id="22" name="Text 3"/>
          <p:cNvSpPr/>
          <p:nvPr>
            <p:custDataLst>
              <p:tags r:id="rId2"/>
            </p:custDataLst>
          </p:nvPr>
        </p:nvSpPr>
        <p:spPr>
          <a:xfrm>
            <a:off x="3364151" y="3304183"/>
            <a:ext cx="2994660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258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PEFT方法学习偏好差异</a:t>
            </a:r>
            <a:endParaRPr lang="en-US" sz="2200" dirty="0">
              <a:solidFill>
                <a:srgbClr val="5258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 4"/>
          <p:cNvSpPr/>
          <p:nvPr>
            <p:custDataLst>
              <p:tags r:id="rId3"/>
            </p:custDataLst>
          </p:nvPr>
        </p:nvSpPr>
        <p:spPr>
          <a:xfrm>
            <a:off x="6937375" y="3148965"/>
            <a:ext cx="4747895" cy="715010"/>
          </a:xfrm>
          <a:prstGeom prst="rect">
            <a:avLst/>
          </a:prstGeom>
          <a:noFill/>
        </p:spPr>
        <p:txBody>
          <a:bodyPr wrap="square" lIns="0" tIns="0" rIns="0" bIns="0" rtlCol="0" anchor="t"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258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不同PEFT方法对数据分布的敏感度有何不同？</a:t>
            </a:r>
            <a:r>
              <a:rPr lang="zh-CN" altLang="en-US" sz="1750" dirty="0">
                <a:solidFill>
                  <a:srgbClr val="5258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它们是不是都喜欢同一批</a:t>
            </a:r>
            <a:r>
              <a:rPr lang="en-US" altLang="zh-CN" sz="1750" dirty="0">
                <a:solidFill>
                  <a:srgbClr val="5258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</a:t>
            </a:r>
            <a:r>
              <a:rPr lang="zh-CN" altLang="en-US" sz="1750" dirty="0">
                <a:solidFill>
                  <a:srgbClr val="5258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黄金样本</a:t>
            </a:r>
            <a:r>
              <a:rPr lang="en-US" altLang="zh-CN" sz="1750" dirty="0">
                <a:solidFill>
                  <a:srgbClr val="5258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  <a:r>
              <a:rPr lang="zh-CN" altLang="en-US" sz="1750" dirty="0">
                <a:solidFill>
                  <a:srgbClr val="5258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？</a:t>
            </a:r>
            <a:endParaRPr lang="zh-CN" altLang="en-US" sz="1750" dirty="0">
              <a:solidFill>
                <a:srgbClr val="5258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 7"/>
          <p:cNvSpPr/>
          <p:nvPr>
            <p:custDataLst>
              <p:tags r:id="rId4"/>
            </p:custDataLst>
          </p:nvPr>
        </p:nvSpPr>
        <p:spPr>
          <a:xfrm>
            <a:off x="3364428" y="4477028"/>
            <a:ext cx="2994660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258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跨PEFT数据重要性度量</a:t>
            </a:r>
            <a:endParaRPr lang="en-US" sz="2200" dirty="0">
              <a:solidFill>
                <a:srgbClr val="5258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 8"/>
          <p:cNvSpPr/>
          <p:nvPr>
            <p:custDataLst>
              <p:tags r:id="rId5"/>
            </p:custDataLst>
          </p:nvPr>
        </p:nvSpPr>
        <p:spPr>
          <a:xfrm>
            <a:off x="6937375" y="4273550"/>
            <a:ext cx="5033010" cy="1089025"/>
          </a:xfrm>
          <a:prstGeom prst="rect">
            <a:avLst/>
          </a:prstGeom>
          <a:noFill/>
        </p:spPr>
        <p:txBody>
          <a:bodyPr wrap="square" lIns="0" tIns="0" rIns="0" bIns="0" rtlCol="0" anchor="t"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258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是否存在一种数据重要性度量，其有效性能够横跨多种主流PEFT方法？</a:t>
            </a:r>
            <a:endParaRPr lang="en-US" sz="1750" dirty="0">
              <a:solidFill>
                <a:srgbClr val="5258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Text 11"/>
          <p:cNvSpPr/>
          <p:nvPr>
            <p:custDataLst>
              <p:tags r:id="rId6"/>
            </p:custDataLst>
          </p:nvPr>
        </p:nvSpPr>
        <p:spPr>
          <a:xfrm>
            <a:off x="3282950" y="5657215"/>
            <a:ext cx="4004945" cy="708660"/>
          </a:xfrm>
          <a:prstGeom prst="rect">
            <a:avLst/>
          </a:prstGeom>
          <a:noFill/>
        </p:spPr>
        <p:txBody>
          <a:bodyPr wrap="square" lIns="0" tIns="0" rIns="0" bIns="0" rtlCol="0" anchor="t"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258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数据驱动的PEFT自适应机制</a:t>
            </a:r>
            <a:endParaRPr lang="en-US" sz="2200" dirty="0">
              <a:solidFill>
                <a:srgbClr val="5258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 12"/>
          <p:cNvSpPr/>
          <p:nvPr>
            <p:custDataLst>
              <p:tags r:id="rId7"/>
            </p:custDataLst>
          </p:nvPr>
        </p:nvSpPr>
        <p:spPr>
          <a:xfrm>
            <a:off x="6991350" y="5402580"/>
            <a:ext cx="4893945" cy="1451610"/>
          </a:xfrm>
          <a:prstGeom prst="rect">
            <a:avLst/>
          </a:prstGeom>
          <a:noFill/>
        </p:spPr>
        <p:txBody>
          <a:bodyPr wrap="square" lIns="0" tIns="0" rIns="0" bIns="0" rtlCol="0" anchor="t"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258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如何设计一种新机制，使其能够根据给定数据的特性，自动路由到特定PEFT方法，或动态"组装"出最优PEFT架构？</a:t>
            </a:r>
            <a:endParaRPr lang="en-US" sz="1750" dirty="0">
              <a:solidFill>
                <a:srgbClr val="5258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Shape 1"/>
          <p:cNvSpPr/>
          <p:nvPr/>
        </p:nvSpPr>
        <p:spPr>
          <a:xfrm>
            <a:off x="2639735" y="4366141"/>
            <a:ext cx="510302" cy="510302"/>
          </a:xfrm>
          <a:prstGeom prst="roundRect">
            <a:avLst>
              <a:gd name="adj" fmla="val 18669"/>
            </a:avLst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29" name="Text 2"/>
          <p:cNvSpPr/>
          <p:nvPr/>
        </p:nvSpPr>
        <p:spPr>
          <a:xfrm>
            <a:off x="2707660" y="4476591"/>
            <a:ext cx="340162" cy="425291"/>
          </a:xfrm>
          <a:prstGeom prst="rect">
            <a:avLst/>
          </a:prstGeom>
          <a:noFill/>
        </p:spPr>
        <p:txBody>
          <a:bodyPr wrap="none" lIns="0" tIns="0" rIns="0" bIns="0" rtlCol="0" anchor="t"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Mona Sans Semi Bold" pitchFamily="34" charset="-120"/>
              </a:rPr>
              <a:t>2</a:t>
            </a:r>
            <a:endParaRPr lang="en-US" sz="265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Mona Sans Semi Bold" pitchFamily="34" charset="-120"/>
            </a:endParaRPr>
          </a:p>
        </p:txBody>
      </p:sp>
      <p:sp>
        <p:nvSpPr>
          <p:cNvPr id="30" name="Shape 1"/>
          <p:cNvSpPr/>
          <p:nvPr/>
        </p:nvSpPr>
        <p:spPr>
          <a:xfrm>
            <a:off x="2660690" y="5572641"/>
            <a:ext cx="510302" cy="510302"/>
          </a:xfrm>
          <a:prstGeom prst="roundRect">
            <a:avLst>
              <a:gd name="adj" fmla="val 18669"/>
            </a:avLst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31" name="Text 2"/>
          <p:cNvSpPr/>
          <p:nvPr/>
        </p:nvSpPr>
        <p:spPr>
          <a:xfrm>
            <a:off x="2745760" y="5685631"/>
            <a:ext cx="340162" cy="425291"/>
          </a:xfrm>
          <a:prstGeom prst="rect">
            <a:avLst/>
          </a:prstGeom>
          <a:noFill/>
        </p:spPr>
        <p:txBody>
          <a:bodyPr wrap="none" lIns="0" tIns="0" rIns="0" bIns="0" rtlCol="0" anchor="t"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Mona Sans Semi Bold" pitchFamily="34" charset="-120"/>
              </a:rPr>
              <a:t>3</a:t>
            </a:r>
            <a:endParaRPr lang="en-US" sz="265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Mona Sans Semi Bold" pitchFamily="34" charset="-120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2207260" y="219837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  <p:sp>
        <p:nvSpPr>
          <p:cNvPr id="45" name="Shape 2"/>
          <p:cNvSpPr/>
          <p:nvPr/>
        </p:nvSpPr>
        <p:spPr>
          <a:xfrm>
            <a:off x="2104430" y="3035141"/>
            <a:ext cx="30480" cy="873204"/>
          </a:xfrm>
          <a:prstGeom prst="rect">
            <a:avLst/>
          </a:prstGeom>
          <a:solidFill>
            <a:srgbClr val="373B48"/>
          </a:solidFill>
        </p:spPr>
        <p:txBody>
          <a:bodyPr/>
          <a:p>
            <a:endParaRPr lang="zh-CN" altLang="en-US"/>
          </a:p>
        </p:txBody>
      </p:sp>
      <p:sp>
        <p:nvSpPr>
          <p:cNvPr id="46" name="矩形: 圆角 44"/>
          <p:cNvSpPr/>
          <p:nvPr>
            <p:custDataLst>
              <p:tags r:id="rId8"/>
            </p:custDataLst>
          </p:nvPr>
        </p:nvSpPr>
        <p:spPr>
          <a:xfrm>
            <a:off x="2372360" y="2991485"/>
            <a:ext cx="9598025" cy="991870"/>
          </a:xfrm>
          <a:prstGeom prst="roundRect">
            <a:avLst>
              <a:gd name="adj" fmla="val 5124"/>
            </a:avLst>
          </a:prstGeom>
          <a:gradFill>
            <a:gsLst>
              <a:gs pos="0">
                <a:srgbClr val="376FFF">
                  <a:lumMod val="5000"/>
                  <a:lumOff val="95000"/>
                  <a:alpha val="0"/>
                </a:srgbClr>
              </a:gs>
              <a:gs pos="100000">
                <a:srgbClr val="376FFF">
                  <a:lumMod val="20000"/>
                  <a:lumOff val="80000"/>
                  <a:alpha val="20000"/>
                </a:srgbClr>
              </a:gs>
            </a:gsLst>
            <a:lin ang="0" scaled="0"/>
          </a:gradFill>
          <a:ln w="9525">
            <a:gradFill flip="none" rotWithShape="1">
              <a:gsLst>
                <a:gs pos="0">
                  <a:srgbClr val="376FFF">
                    <a:lumMod val="20000"/>
                    <a:lumOff val="80000"/>
                  </a:srgbClr>
                </a:gs>
                <a:gs pos="100000">
                  <a:srgbClr val="376FFF">
                    <a:lumMod val="60000"/>
                    <a:lumOff val="40000"/>
                  </a:srgbClr>
                </a:gs>
              </a:gsLst>
              <a:lin ang="10800000" scaled="1"/>
              <a:tileRect/>
            </a:gradFill>
            <a:round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47" name="矩形: 圆角 44"/>
          <p:cNvSpPr/>
          <p:nvPr>
            <p:custDataLst>
              <p:tags r:id="rId9"/>
            </p:custDataLst>
          </p:nvPr>
        </p:nvSpPr>
        <p:spPr>
          <a:xfrm>
            <a:off x="2372360" y="4121150"/>
            <a:ext cx="9598025" cy="991870"/>
          </a:xfrm>
          <a:prstGeom prst="roundRect">
            <a:avLst>
              <a:gd name="adj" fmla="val 5124"/>
            </a:avLst>
          </a:prstGeom>
          <a:gradFill>
            <a:gsLst>
              <a:gs pos="0">
                <a:srgbClr val="376FFF">
                  <a:lumMod val="5000"/>
                  <a:lumOff val="95000"/>
                  <a:alpha val="0"/>
                </a:srgbClr>
              </a:gs>
              <a:gs pos="100000">
                <a:srgbClr val="376FFF">
                  <a:lumMod val="20000"/>
                  <a:lumOff val="80000"/>
                  <a:alpha val="20000"/>
                </a:srgbClr>
              </a:gs>
            </a:gsLst>
            <a:lin ang="0" scaled="0"/>
          </a:gradFill>
          <a:ln w="9525">
            <a:gradFill flip="none" rotWithShape="1">
              <a:gsLst>
                <a:gs pos="0">
                  <a:srgbClr val="376FFF">
                    <a:lumMod val="20000"/>
                    <a:lumOff val="80000"/>
                  </a:srgbClr>
                </a:gs>
                <a:gs pos="100000">
                  <a:srgbClr val="376FFF">
                    <a:lumMod val="60000"/>
                    <a:lumOff val="40000"/>
                  </a:srgbClr>
                </a:gs>
              </a:gsLst>
              <a:lin ang="10800000" scaled="1"/>
              <a:tileRect/>
            </a:gradFill>
            <a:round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48" name="矩形: 圆角 44"/>
          <p:cNvSpPr/>
          <p:nvPr>
            <p:custDataLst>
              <p:tags r:id="rId10"/>
            </p:custDataLst>
          </p:nvPr>
        </p:nvSpPr>
        <p:spPr>
          <a:xfrm>
            <a:off x="2423795" y="5259070"/>
            <a:ext cx="9546590" cy="1273175"/>
          </a:xfrm>
          <a:prstGeom prst="roundRect">
            <a:avLst>
              <a:gd name="adj" fmla="val 5124"/>
            </a:avLst>
          </a:prstGeom>
          <a:gradFill>
            <a:gsLst>
              <a:gs pos="0">
                <a:srgbClr val="376FFF">
                  <a:lumMod val="5000"/>
                  <a:lumOff val="95000"/>
                  <a:alpha val="0"/>
                </a:srgbClr>
              </a:gs>
              <a:gs pos="100000">
                <a:srgbClr val="376FFF">
                  <a:lumMod val="20000"/>
                  <a:lumOff val="80000"/>
                  <a:alpha val="20000"/>
                </a:srgbClr>
              </a:gs>
            </a:gsLst>
            <a:lin ang="0" scaled="0"/>
          </a:gradFill>
          <a:ln w="9525">
            <a:gradFill flip="none" rotWithShape="1">
              <a:gsLst>
                <a:gs pos="0">
                  <a:srgbClr val="376FFF">
                    <a:lumMod val="20000"/>
                    <a:lumOff val="80000"/>
                  </a:srgbClr>
                </a:gs>
                <a:gs pos="100000">
                  <a:srgbClr val="376FFF">
                    <a:lumMod val="60000"/>
                    <a:lumOff val="40000"/>
                  </a:srgbClr>
                </a:gs>
              </a:gsLst>
              <a:lin ang="10800000" scaled="1"/>
              <a:tileRect/>
            </a:gradFill>
            <a:round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rgbClr val="000000"/>
              </a:solidFill>
            </a:endParaRPr>
          </a:p>
        </p:txBody>
      </p:sp>
    </p:spTree>
    <p:custDataLst>
      <p:tags r:id="rId1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/>
              <a:t>研究</a:t>
            </a:r>
            <a:r>
              <a:rPr lang="zh-CN" altLang="en-US"/>
              <a:t>内容</a:t>
            </a:r>
            <a:endParaRPr lang="zh-CN" altLang="en-US"/>
          </a:p>
        </p:txBody>
      </p:sp>
      <p:sp>
        <p:nvSpPr>
          <p:cNvPr id="6" name="节编号"/>
          <p:cNvSpPr>
            <a:spLocks noGrp="1"/>
          </p:cNvSpPr>
          <p:nvPr>
            <p:ph type="body" sz="quarter" idx="13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/>
              <a:t>03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fade/>
      </p:transition>
    </mc:Choice>
    <mc:Fallback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96000" y="394405"/>
            <a:ext cx="10800000" cy="792000"/>
          </a:xfrm>
        </p:spPr>
        <p:txBody>
          <a:bodyPr lIns="0" tIns="0" rIns="0" bIns="0">
            <a:noAutofit/>
          </a:bodyPr>
          <a:lstStyle/>
          <a:p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研究路线</a:t>
            </a:r>
            <a:endParaRPr lang="zh-CN" altLang="en-US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13080" y="2125345"/>
            <a:ext cx="4064000" cy="1337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fontAlgn="auto">
              <a:lnSpc>
                <a:spcPct val="150000"/>
              </a:lnSpc>
            </a:pPr>
            <a:r>
              <a:rPr lang="zh-CN" altLang="en-US"/>
              <a:t>针对上述的研究内容，我们的研究也对应分为三个</a:t>
            </a:r>
            <a:r>
              <a:rPr lang="zh-CN" altLang="en-US"/>
              <a:t>阶段：</a:t>
            </a:r>
            <a:endParaRPr lang="zh-CN" altLang="en-US"/>
          </a:p>
          <a:p>
            <a:pPr marL="285750" indent="-285750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zh-CN" altLang="en-US"/>
          </a:p>
        </p:txBody>
      </p:sp>
      <p:sp>
        <p:nvSpPr>
          <p:cNvPr id="18" name="椭圆 17"/>
          <p:cNvSpPr/>
          <p:nvPr>
            <p:custDataLst>
              <p:tags r:id="rId2"/>
            </p:custDataLst>
          </p:nvPr>
        </p:nvSpPr>
        <p:spPr>
          <a:xfrm>
            <a:off x="648970" y="3359150"/>
            <a:ext cx="576000" cy="576000"/>
          </a:xfrm>
          <a:prstGeom prst="ellipse">
            <a:avLst/>
          </a:prstGeom>
          <a:gradFill>
            <a:gsLst>
              <a:gs pos="0">
                <a:schemeClr val="accent1">
                  <a:alpha val="100000"/>
                </a:schemeClr>
              </a:gs>
              <a:gs pos="100000">
                <a:schemeClr val="accent1">
                  <a:lumMod val="75000"/>
                  <a:alpha val="100000"/>
                </a:schemeClr>
              </a:gs>
            </a:gsLst>
            <a:lin ang="7686814" scaled="0"/>
          </a:gradFill>
          <a:ln w="25400">
            <a:noFill/>
          </a:ln>
          <a:effectLst>
            <a:outerShdw blurRad="254000" dist="76200" dir="5399998" algn="ctr" rotWithShape="0">
              <a:schemeClr val="accent1">
                <a:alpha val="25000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none" lIns="0" tIns="0" rIns="0" bIns="0" anchor="ctr" anchorCtr="0">
            <a:norm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>
                <a:solidFill>
                  <a:schemeClr val="lt1">
                    <a:lumMod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rPr>
              <a:t>01</a:t>
            </a:r>
            <a:endParaRPr lang="en-US" altLang="zh-CN" sz="2000" b="1">
              <a:solidFill>
                <a:schemeClr val="lt1">
                  <a:lumMod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+mn-ea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2119630" y="414845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椭圆 19"/>
          <p:cNvSpPr/>
          <p:nvPr>
            <p:custDataLst>
              <p:tags r:id="rId3"/>
            </p:custDataLst>
          </p:nvPr>
        </p:nvSpPr>
        <p:spPr>
          <a:xfrm>
            <a:off x="648970" y="4276090"/>
            <a:ext cx="576000" cy="576000"/>
          </a:xfrm>
          <a:prstGeom prst="ellipse">
            <a:avLst/>
          </a:prstGeom>
          <a:gradFill>
            <a:gsLst>
              <a:gs pos="0">
                <a:schemeClr val="accent1">
                  <a:alpha val="100000"/>
                </a:schemeClr>
              </a:gs>
              <a:gs pos="100000">
                <a:schemeClr val="accent1">
                  <a:lumMod val="75000"/>
                  <a:alpha val="100000"/>
                </a:schemeClr>
              </a:gs>
            </a:gsLst>
            <a:lin ang="7686814" scaled="0"/>
          </a:gradFill>
          <a:ln w="25400">
            <a:noFill/>
          </a:ln>
          <a:effectLst>
            <a:outerShdw blurRad="254000" dist="76200" dir="5399998" algn="ctr" rotWithShape="0">
              <a:schemeClr val="accent1">
                <a:alpha val="25000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none" lIns="0" tIns="0" rIns="0" bIns="0" anchor="ctr" anchorCtr="0">
            <a:norm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>
                <a:solidFill>
                  <a:schemeClr val="lt1">
                    <a:lumMod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rPr>
              <a:t>02</a:t>
            </a:r>
            <a:endParaRPr lang="en-US" altLang="zh-CN" sz="2000" b="1">
              <a:solidFill>
                <a:schemeClr val="lt1">
                  <a:lumMod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+mn-ea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1506220" y="3463290"/>
            <a:ext cx="261683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</a:rPr>
              <a:t>验证性</a:t>
            </a: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</a:rPr>
              <a:t>研究</a:t>
            </a:r>
            <a:endParaRPr lang="zh-CN" altLang="en-US" sz="20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1506220" y="4378960"/>
            <a:ext cx="236855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</a:rPr>
              <a:t>数据选择算法</a:t>
            </a: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</a:rPr>
              <a:t>研发</a:t>
            </a:r>
            <a:endParaRPr lang="zh-CN" altLang="en-US" sz="20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5" name="Shape 1"/>
          <p:cNvSpPr/>
          <p:nvPr/>
        </p:nvSpPr>
        <p:spPr>
          <a:xfrm>
            <a:off x="4801791" y="1387197"/>
            <a:ext cx="30480" cy="4789527"/>
          </a:xfrm>
          <a:prstGeom prst="roundRect">
            <a:avLst>
              <a:gd name="adj" fmla="val 312558"/>
            </a:avLst>
          </a:prstGeom>
          <a:solidFill>
            <a:srgbClr val="C8CACF"/>
          </a:solidFill>
        </p:spPr>
      </p:sp>
      <p:sp>
        <p:nvSpPr>
          <p:cNvPr id="46" name="Shape 2"/>
          <p:cNvSpPr/>
          <p:nvPr/>
        </p:nvSpPr>
        <p:spPr>
          <a:xfrm>
            <a:off x="5026462" y="1627108"/>
            <a:ext cx="680442" cy="30480"/>
          </a:xfrm>
          <a:prstGeom prst="roundRect">
            <a:avLst>
              <a:gd name="adj" fmla="val 312558"/>
            </a:avLst>
          </a:prstGeom>
          <a:solidFill>
            <a:srgbClr val="C8CACF"/>
          </a:solidFill>
        </p:spPr>
      </p:sp>
      <p:sp>
        <p:nvSpPr>
          <p:cNvPr id="47" name="Shape 3"/>
          <p:cNvSpPr/>
          <p:nvPr/>
        </p:nvSpPr>
        <p:spPr>
          <a:xfrm>
            <a:off x="4546640" y="1387197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E2E4E9"/>
          </a:solidFill>
          <a:ln w="7620">
            <a:solidFill>
              <a:srgbClr val="C8CACF"/>
            </a:solidFill>
            <a:prstDash val="solid"/>
          </a:ln>
        </p:spPr>
      </p:sp>
      <p:sp>
        <p:nvSpPr>
          <p:cNvPr id="48" name="Text 4"/>
          <p:cNvSpPr/>
          <p:nvPr/>
        </p:nvSpPr>
        <p:spPr>
          <a:xfrm>
            <a:off x="4631710" y="1429703"/>
            <a:ext cx="340162" cy="42529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52586B"/>
                </a:solidFill>
                <a:latin typeface="微软雅黑" panose="020B0503020204020204" charset="-122"/>
                <a:ea typeface="微软雅黑" panose="020B0503020204020204" charset="-122"/>
                <a:cs typeface="Mona Sans Semi Bold" pitchFamily="34" charset="-120"/>
              </a:rPr>
              <a:t>1</a:t>
            </a:r>
            <a:endParaRPr lang="en-US" sz="2650" dirty="0">
              <a:solidFill>
                <a:srgbClr val="52586B"/>
              </a:solidFill>
              <a:latin typeface="微软雅黑" panose="020B0503020204020204" charset="-122"/>
              <a:ea typeface="微软雅黑" panose="020B0503020204020204" charset="-122"/>
              <a:cs typeface="Mona Sans Semi Bold" pitchFamily="34" charset="-120"/>
            </a:endParaRPr>
          </a:p>
        </p:txBody>
      </p:sp>
      <p:sp>
        <p:nvSpPr>
          <p:cNvPr id="49" name="Text 5"/>
          <p:cNvSpPr/>
          <p:nvPr/>
        </p:nvSpPr>
        <p:spPr>
          <a:xfrm>
            <a:off x="5935861" y="1465064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2586B"/>
                </a:solidFill>
                <a:latin typeface="微软雅黑" panose="020B0503020204020204" charset="-122"/>
                <a:ea typeface="微软雅黑" panose="020B0503020204020204" charset="-122"/>
                <a:cs typeface="Mona Sans Semi Bold" pitchFamily="34" charset="-120"/>
              </a:rPr>
              <a:t>第一阶段：</a:t>
            </a:r>
            <a:r>
              <a:rPr lang="zh-CN" altLang="en-US" sz="2200" dirty="0">
                <a:solidFill>
                  <a:srgbClr val="52586B"/>
                </a:solidFill>
                <a:latin typeface="微软雅黑" panose="020B0503020204020204" charset="-122"/>
                <a:ea typeface="微软雅黑" panose="020B0503020204020204" charset="-122"/>
                <a:cs typeface="Mona Sans Semi Bold" pitchFamily="34" charset="-120"/>
              </a:rPr>
              <a:t>验证</a:t>
            </a:r>
            <a:r>
              <a:rPr lang="en-US" sz="2200" dirty="0">
                <a:solidFill>
                  <a:srgbClr val="52586B"/>
                </a:solidFill>
                <a:latin typeface="微软雅黑" panose="020B0503020204020204" charset="-122"/>
                <a:ea typeface="微软雅黑" panose="020B0503020204020204" charset="-122"/>
                <a:cs typeface="Mona Sans Semi Bold" pitchFamily="34" charset="-120"/>
              </a:rPr>
              <a:t>性研究</a:t>
            </a:r>
            <a:endParaRPr lang="en-US" sz="2200" dirty="0">
              <a:solidFill>
                <a:srgbClr val="52586B"/>
              </a:solidFill>
              <a:latin typeface="微软雅黑" panose="020B0503020204020204" charset="-122"/>
              <a:ea typeface="微软雅黑" panose="020B0503020204020204" charset="-122"/>
              <a:cs typeface="Mona Sans Semi Bold" pitchFamily="34" charset="-120"/>
            </a:endParaRPr>
          </a:p>
        </p:txBody>
      </p:sp>
      <p:sp>
        <p:nvSpPr>
          <p:cNvPr id="50" name="Text 6"/>
          <p:cNvSpPr/>
          <p:nvPr/>
        </p:nvSpPr>
        <p:spPr>
          <a:xfrm>
            <a:off x="5935861" y="1955483"/>
            <a:ext cx="6167199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258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进行数据分布层面和样本层面的验证性实验，系统性总结实验结果，形成关于"数据-PEFT"之间关系的初步洞察。</a:t>
            </a:r>
            <a:endParaRPr lang="en-US" sz="1750" dirty="0">
              <a:solidFill>
                <a:srgbClr val="5258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1" name="Shape 7"/>
          <p:cNvSpPr/>
          <p:nvPr/>
        </p:nvSpPr>
        <p:spPr>
          <a:xfrm>
            <a:off x="5026462" y="3374827"/>
            <a:ext cx="680442" cy="30480"/>
          </a:xfrm>
          <a:prstGeom prst="roundRect">
            <a:avLst>
              <a:gd name="adj" fmla="val 312558"/>
            </a:avLst>
          </a:prstGeom>
          <a:solidFill>
            <a:srgbClr val="C8CACF"/>
          </a:solidFill>
        </p:spPr>
      </p:sp>
      <p:sp>
        <p:nvSpPr>
          <p:cNvPr id="52" name="Shape 8"/>
          <p:cNvSpPr/>
          <p:nvPr/>
        </p:nvSpPr>
        <p:spPr>
          <a:xfrm>
            <a:off x="4546640" y="3134916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E2E4E9"/>
          </a:solidFill>
          <a:ln w="7620">
            <a:solidFill>
              <a:srgbClr val="C8CACF"/>
            </a:solidFill>
            <a:prstDash val="solid"/>
          </a:ln>
        </p:spPr>
      </p:sp>
      <p:sp>
        <p:nvSpPr>
          <p:cNvPr id="53" name="Text 9"/>
          <p:cNvSpPr/>
          <p:nvPr/>
        </p:nvSpPr>
        <p:spPr>
          <a:xfrm>
            <a:off x="4631710" y="3177421"/>
            <a:ext cx="340162" cy="42529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52586B"/>
                </a:solidFill>
                <a:latin typeface="微软雅黑" panose="020B0503020204020204" charset="-122"/>
                <a:ea typeface="微软雅黑" panose="020B0503020204020204" charset="-122"/>
                <a:cs typeface="Mona Sans Semi Bold" pitchFamily="34" charset="-120"/>
              </a:rPr>
              <a:t>2</a:t>
            </a:r>
            <a:endParaRPr lang="en-US" sz="2650" dirty="0">
              <a:solidFill>
                <a:srgbClr val="52586B"/>
              </a:solidFill>
              <a:latin typeface="微软雅黑" panose="020B0503020204020204" charset="-122"/>
              <a:ea typeface="微软雅黑" panose="020B0503020204020204" charset="-122"/>
              <a:cs typeface="Mona Sans Semi Bold" pitchFamily="34" charset="-120"/>
            </a:endParaRPr>
          </a:p>
        </p:txBody>
      </p:sp>
      <p:sp>
        <p:nvSpPr>
          <p:cNvPr id="54" name="Text 10"/>
          <p:cNvSpPr/>
          <p:nvPr/>
        </p:nvSpPr>
        <p:spPr>
          <a:xfrm>
            <a:off x="5935861" y="3212783"/>
            <a:ext cx="3683913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2586B"/>
                </a:solidFill>
                <a:latin typeface="微软雅黑" panose="020B0503020204020204" charset="-122"/>
                <a:ea typeface="微软雅黑" panose="020B0503020204020204" charset="-122"/>
                <a:cs typeface="Mona Sans Semi Bold" pitchFamily="34" charset="-120"/>
              </a:rPr>
              <a:t>第二阶段：数据选择算法研发</a:t>
            </a:r>
            <a:endParaRPr lang="en-US" sz="2200" dirty="0">
              <a:solidFill>
                <a:srgbClr val="52586B"/>
              </a:solidFill>
              <a:latin typeface="微软雅黑" panose="020B0503020204020204" charset="-122"/>
              <a:ea typeface="微软雅黑" panose="020B0503020204020204" charset="-122"/>
              <a:cs typeface="Mona Sans Semi Bold" pitchFamily="34" charset="-120"/>
            </a:endParaRPr>
          </a:p>
        </p:txBody>
      </p:sp>
      <p:sp>
        <p:nvSpPr>
          <p:cNvPr id="55" name="Text 11"/>
          <p:cNvSpPr/>
          <p:nvPr/>
        </p:nvSpPr>
        <p:spPr>
          <a:xfrm>
            <a:off x="5935861" y="3703201"/>
            <a:ext cx="6167199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258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基于第一阶段发现，</a:t>
            </a:r>
            <a:r>
              <a:rPr lang="zh-CN" altLang="en-US" sz="1750" dirty="0">
                <a:solidFill>
                  <a:srgbClr val="5258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从数据维度进行创新，进行</a:t>
            </a:r>
            <a:r>
              <a:rPr lang="en-US" altLang="zh-CN" sz="1750" dirty="0">
                <a:solidFill>
                  <a:srgbClr val="5258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</a:t>
            </a:r>
            <a:r>
              <a:rPr lang="zh-CN" altLang="en-US" sz="1750" dirty="0">
                <a:solidFill>
                  <a:srgbClr val="5258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跨</a:t>
            </a:r>
            <a:r>
              <a:rPr lang="en-US" altLang="zh-CN" sz="1750" dirty="0">
                <a:solidFill>
                  <a:srgbClr val="5258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PEFT</a:t>
            </a:r>
            <a:r>
              <a:rPr lang="zh-CN" altLang="en-US" sz="1750" dirty="0">
                <a:solidFill>
                  <a:srgbClr val="5258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泛用</a:t>
            </a:r>
            <a:r>
              <a:rPr lang="en-US" altLang="zh-CN" sz="1750" dirty="0">
                <a:solidFill>
                  <a:srgbClr val="5258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  <a:r>
              <a:rPr lang="zh-CN" altLang="en-US" sz="1750" dirty="0">
                <a:solidFill>
                  <a:srgbClr val="5258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的数据选择算法设计</a:t>
            </a:r>
            <a:endParaRPr lang="zh-CN" altLang="en-US" sz="1750" dirty="0">
              <a:solidFill>
                <a:srgbClr val="5258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6" name="Shape 12"/>
          <p:cNvSpPr/>
          <p:nvPr/>
        </p:nvSpPr>
        <p:spPr>
          <a:xfrm>
            <a:off x="5026462" y="5122545"/>
            <a:ext cx="680442" cy="30480"/>
          </a:xfrm>
          <a:prstGeom prst="roundRect">
            <a:avLst>
              <a:gd name="adj" fmla="val 312558"/>
            </a:avLst>
          </a:prstGeom>
          <a:solidFill>
            <a:srgbClr val="C8CACF"/>
          </a:solidFill>
        </p:spPr>
      </p:sp>
      <p:sp>
        <p:nvSpPr>
          <p:cNvPr id="57" name="Shape 13"/>
          <p:cNvSpPr/>
          <p:nvPr/>
        </p:nvSpPr>
        <p:spPr>
          <a:xfrm>
            <a:off x="4546640" y="4882634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E2E4E9"/>
          </a:solidFill>
          <a:ln w="7620">
            <a:solidFill>
              <a:srgbClr val="C8CACF"/>
            </a:solidFill>
            <a:prstDash val="solid"/>
          </a:ln>
        </p:spPr>
      </p:sp>
      <p:sp>
        <p:nvSpPr>
          <p:cNvPr id="58" name="Text 14"/>
          <p:cNvSpPr/>
          <p:nvPr/>
        </p:nvSpPr>
        <p:spPr>
          <a:xfrm>
            <a:off x="4631710" y="4925139"/>
            <a:ext cx="340162" cy="42529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52586B"/>
                </a:solidFill>
                <a:latin typeface="微软雅黑" panose="020B0503020204020204" charset="-122"/>
                <a:ea typeface="微软雅黑" panose="020B0503020204020204" charset="-122"/>
                <a:cs typeface="Mona Sans Semi Bold" pitchFamily="34" charset="-120"/>
              </a:rPr>
              <a:t>3</a:t>
            </a:r>
            <a:endParaRPr lang="en-US" sz="2650" dirty="0">
              <a:solidFill>
                <a:srgbClr val="52586B"/>
              </a:solidFill>
              <a:latin typeface="微软雅黑" panose="020B0503020204020204" charset="-122"/>
              <a:ea typeface="微软雅黑" panose="020B0503020204020204" charset="-122"/>
              <a:cs typeface="Mona Sans Semi Bold" pitchFamily="34" charset="-120"/>
            </a:endParaRPr>
          </a:p>
        </p:txBody>
      </p:sp>
      <p:sp>
        <p:nvSpPr>
          <p:cNvPr id="59" name="Text 15"/>
          <p:cNvSpPr/>
          <p:nvPr/>
        </p:nvSpPr>
        <p:spPr>
          <a:xfrm>
            <a:off x="5935861" y="4960501"/>
            <a:ext cx="3844766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258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第三阶段：动态PEFT</a:t>
            </a:r>
            <a:r>
              <a:rPr lang="zh-CN" altLang="en-US" sz="2200" dirty="0">
                <a:solidFill>
                  <a:srgbClr val="5258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路由与构建</a:t>
            </a:r>
            <a:r>
              <a:rPr lang="en-US" sz="2200" dirty="0">
                <a:solidFill>
                  <a:srgbClr val="5258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框架研发</a:t>
            </a:r>
            <a:endParaRPr lang="en-US" sz="2200" dirty="0">
              <a:solidFill>
                <a:srgbClr val="5258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0" name="Text 16"/>
          <p:cNvSpPr/>
          <p:nvPr/>
        </p:nvSpPr>
        <p:spPr>
          <a:xfrm>
            <a:off x="5935861" y="5450919"/>
            <a:ext cx="6167199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zh-CN" altLang="en-US" sz="1750" dirty="0">
                <a:solidFill>
                  <a:srgbClr val="5258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从模型维度进行创新。尝试构建一个能根据数据特征，动态地路由到特定的</a:t>
            </a:r>
            <a:r>
              <a:rPr lang="en-US" altLang="zh-CN" sz="1750" dirty="0">
                <a:solidFill>
                  <a:srgbClr val="5258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PEFT</a:t>
            </a:r>
            <a:r>
              <a:rPr lang="zh-CN" altLang="en-US" sz="1750" dirty="0">
                <a:solidFill>
                  <a:srgbClr val="5258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或者自适应地构建出最优</a:t>
            </a:r>
            <a:r>
              <a:rPr lang="en-US" altLang="zh-CN" sz="1750" dirty="0">
                <a:solidFill>
                  <a:srgbClr val="5258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PEFT</a:t>
            </a:r>
            <a:r>
              <a:rPr lang="zh-CN" altLang="en-US" sz="1750" dirty="0">
                <a:solidFill>
                  <a:srgbClr val="5258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架构的全新框架。</a:t>
            </a:r>
            <a:endParaRPr lang="zh-CN" altLang="en-US" sz="1750" dirty="0">
              <a:solidFill>
                <a:srgbClr val="5258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椭圆 1"/>
          <p:cNvSpPr/>
          <p:nvPr>
            <p:custDataLst>
              <p:tags r:id="rId4"/>
            </p:custDataLst>
          </p:nvPr>
        </p:nvSpPr>
        <p:spPr>
          <a:xfrm>
            <a:off x="648970" y="5120640"/>
            <a:ext cx="576000" cy="576000"/>
          </a:xfrm>
          <a:prstGeom prst="ellipse">
            <a:avLst/>
          </a:prstGeom>
          <a:gradFill>
            <a:gsLst>
              <a:gs pos="0">
                <a:schemeClr val="accent1">
                  <a:alpha val="100000"/>
                </a:schemeClr>
              </a:gs>
              <a:gs pos="100000">
                <a:schemeClr val="accent1">
                  <a:lumMod val="75000"/>
                  <a:alpha val="100000"/>
                </a:schemeClr>
              </a:gs>
            </a:gsLst>
            <a:lin ang="7686814" scaled="0"/>
          </a:gradFill>
          <a:ln w="25400">
            <a:noFill/>
          </a:ln>
          <a:effectLst>
            <a:outerShdw blurRad="254000" dist="76200" dir="5399998" algn="ctr" rotWithShape="0">
              <a:schemeClr val="accent1">
                <a:alpha val="25000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none" lIns="0" tIns="0" rIns="0" bIns="0" anchor="ctr" anchorCtr="0">
            <a:norm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>
                <a:solidFill>
                  <a:schemeClr val="lt1">
                    <a:lumMod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rPr>
              <a:t>03</a:t>
            </a:r>
            <a:endParaRPr lang="en-US" altLang="zh-CN" sz="2000" b="1">
              <a:solidFill>
                <a:schemeClr val="lt1">
                  <a:lumMod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506220" y="5223510"/>
            <a:ext cx="236855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</a:rPr>
              <a:t>动态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</a:rPr>
              <a:t>PEFT</a:t>
            </a: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</a:rPr>
              <a:t>路由与</a:t>
            </a: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</a:rPr>
              <a:t>构建框架研发</a:t>
            </a:r>
            <a:endParaRPr lang="zh-CN" altLang="en-US" sz="2000" b="1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5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fade/>
      </p:transition>
    </mc:Choice>
    <mc:Fallback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圆角矩形 4"/>
          <p:cNvSpPr/>
          <p:nvPr/>
        </p:nvSpPr>
        <p:spPr>
          <a:xfrm>
            <a:off x="5724525" y="1841500"/>
            <a:ext cx="3924935" cy="2882265"/>
          </a:xfrm>
          <a:prstGeom prst="round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圆角矩形 2"/>
          <p:cNvSpPr/>
          <p:nvPr/>
        </p:nvSpPr>
        <p:spPr>
          <a:xfrm>
            <a:off x="1163955" y="1823085"/>
            <a:ext cx="4065905" cy="2900680"/>
          </a:xfrm>
          <a:prstGeom prst="round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)</a:t>
            </a:r>
            <a:endParaRPr lang="en-US" altLang="zh-CN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US" dirty="0">
                <a:solidFill>
                  <a:srgbClr val="373B48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  <a:sym typeface="+mn-ea"/>
              </a:rPr>
              <a:t>研究内容一：关联性验证</a:t>
            </a:r>
            <a:endParaRPr lang="zh-CN" altLang="en-US"/>
          </a:p>
        </p:txBody>
      </p:sp>
      <p:sp>
        <p:nvSpPr>
          <p:cNvPr id="2" name="Text 2"/>
          <p:cNvSpPr/>
          <p:nvPr/>
        </p:nvSpPr>
        <p:spPr>
          <a:xfrm>
            <a:off x="1428790" y="2011442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p>
            <a:pPr marL="0" indent="0" algn="l">
              <a:lnSpc>
                <a:spcPts val="2750"/>
              </a:lnSpc>
              <a:buNone/>
            </a:pPr>
            <a:r>
              <a:rPr lang="zh-CN" altLang="en-US" sz="2200" dirty="0">
                <a:solidFill>
                  <a:srgbClr val="373B48"/>
                </a:solidFill>
                <a:latin typeface="微软雅黑" panose="020B0503020204020204" charset="-122"/>
                <a:ea typeface="微软雅黑" panose="020B0503020204020204" charset="-122"/>
                <a:cs typeface="Mona Sans Semi Bold" pitchFamily="34" charset="-120"/>
              </a:rPr>
              <a:t>数据</a:t>
            </a:r>
            <a:r>
              <a:rPr lang="en-US" sz="2200" dirty="0">
                <a:solidFill>
                  <a:srgbClr val="373B48"/>
                </a:solidFill>
                <a:latin typeface="微软雅黑" panose="020B0503020204020204" charset="-122"/>
                <a:ea typeface="微软雅黑" panose="020B0503020204020204" charset="-122"/>
                <a:cs typeface="Mona Sans Semi Bold" pitchFamily="34" charset="-120"/>
              </a:rPr>
              <a:t>分布层面</a:t>
            </a:r>
            <a:endParaRPr lang="en-US" sz="2200" dirty="0">
              <a:solidFill>
                <a:srgbClr val="373B48"/>
              </a:solidFill>
              <a:latin typeface="微软雅黑" panose="020B0503020204020204" charset="-122"/>
              <a:ea typeface="微软雅黑" panose="020B0503020204020204" charset="-122"/>
              <a:cs typeface="Mona Sans Semi Bold" pitchFamily="34" charset="-120"/>
            </a:endParaRPr>
          </a:p>
        </p:txBody>
      </p:sp>
      <p:sp>
        <p:nvSpPr>
          <p:cNvPr id="6" name="Text 3"/>
          <p:cNvSpPr/>
          <p:nvPr/>
        </p:nvSpPr>
        <p:spPr>
          <a:xfrm>
            <a:off x="1428790" y="2592586"/>
            <a:ext cx="3501509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258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考察不同数据场景下各PEFT方法表现</a:t>
            </a:r>
            <a:endParaRPr lang="en-US" sz="1750" dirty="0">
              <a:solidFill>
                <a:srgbClr val="5258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 5"/>
          <p:cNvSpPr/>
          <p:nvPr/>
        </p:nvSpPr>
        <p:spPr>
          <a:xfrm>
            <a:off x="1428750" y="3477260"/>
            <a:ext cx="3686810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2586B"/>
                </a:solidFill>
                <a:latin typeface="微软雅黑" panose="020B0503020204020204" charset="-122"/>
                <a:ea typeface="微软雅黑" panose="020B0503020204020204" charset="-122"/>
                <a:cs typeface="Funnel Sans" pitchFamily="34" charset="-120"/>
              </a:rPr>
              <a:t>分析内部表征，探究学习机制异同</a:t>
            </a:r>
            <a:endParaRPr lang="en-US" sz="1750" dirty="0">
              <a:solidFill>
                <a:srgbClr val="52586B"/>
              </a:solidFill>
              <a:latin typeface="微软雅黑" panose="020B0503020204020204" charset="-122"/>
              <a:ea typeface="微软雅黑" panose="020B0503020204020204" charset="-122"/>
              <a:cs typeface="Funnel Sans" pitchFamily="34" charset="-120"/>
            </a:endParaRPr>
          </a:p>
        </p:txBody>
      </p:sp>
      <p:sp>
        <p:nvSpPr>
          <p:cNvPr id="10" name="Text 6"/>
          <p:cNvSpPr/>
          <p:nvPr/>
        </p:nvSpPr>
        <p:spPr>
          <a:xfrm>
            <a:off x="5948521" y="2011442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73B48"/>
                </a:solidFill>
                <a:latin typeface="微软雅黑" panose="020B0503020204020204" charset="-122"/>
                <a:ea typeface="微软雅黑" panose="020B0503020204020204" charset="-122"/>
                <a:cs typeface="Mona Sans Semi Bold" pitchFamily="34" charset="-120"/>
              </a:rPr>
              <a:t>样本层面</a:t>
            </a:r>
            <a:endParaRPr lang="en-US" sz="2200" dirty="0">
              <a:solidFill>
                <a:srgbClr val="373B48"/>
              </a:solidFill>
              <a:latin typeface="微软雅黑" panose="020B0503020204020204" charset="-122"/>
              <a:ea typeface="微软雅黑" panose="020B0503020204020204" charset="-122"/>
              <a:cs typeface="Mona Sans Semi Bold" pitchFamily="34" charset="-120"/>
            </a:endParaRPr>
          </a:p>
        </p:txBody>
      </p:sp>
      <p:sp>
        <p:nvSpPr>
          <p:cNvPr id="11" name="Text 7"/>
          <p:cNvSpPr/>
          <p:nvPr/>
        </p:nvSpPr>
        <p:spPr>
          <a:xfrm>
            <a:off x="5948521" y="2592586"/>
            <a:ext cx="3501509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2586B"/>
                </a:solidFill>
                <a:latin typeface="微软雅黑" panose="020B0503020204020204" charset="-122"/>
                <a:ea typeface="微软雅黑" panose="020B0503020204020204" charset="-122"/>
                <a:cs typeface="Funnel Sans" pitchFamily="34" charset="-120"/>
              </a:rPr>
              <a:t>用多种指标衡量样本重要性</a:t>
            </a:r>
            <a:endParaRPr lang="en-US" sz="1750" dirty="0">
              <a:solidFill>
                <a:srgbClr val="52586B"/>
              </a:solidFill>
              <a:latin typeface="微软雅黑" panose="020B0503020204020204" charset="-122"/>
              <a:ea typeface="微软雅黑" panose="020B0503020204020204" charset="-122"/>
              <a:cs typeface="Funnel Sans" pitchFamily="34" charset="-120"/>
            </a:endParaRPr>
          </a:p>
        </p:txBody>
      </p:sp>
      <p:sp>
        <p:nvSpPr>
          <p:cNvPr id="14" name="Text 8"/>
          <p:cNvSpPr/>
          <p:nvPr/>
        </p:nvSpPr>
        <p:spPr>
          <a:xfrm>
            <a:off x="5948680" y="3034665"/>
            <a:ext cx="3501390" cy="529590"/>
          </a:xfrm>
          <a:prstGeom prst="rect">
            <a:avLst/>
          </a:prstGeom>
          <a:noFill/>
        </p:spPr>
        <p:txBody>
          <a:bodyPr wrap="square" lIns="0" tIns="0" rIns="0" bIns="0" rtlCol="0" anchor="t"/>
          <a:p>
            <a:pPr indent="0" algn="l">
              <a:lnSpc>
                <a:spcPts val="2850"/>
              </a:lnSpc>
              <a:buSzPct val="100000"/>
              <a:buNone/>
            </a:pPr>
            <a:r>
              <a:rPr lang="zh-CN" altLang="en-US" sz="1750" dirty="0">
                <a:solidFill>
                  <a:srgbClr val="52586B"/>
                </a:solidFill>
                <a:latin typeface="微软雅黑" panose="020B0503020204020204" charset="-122"/>
                <a:ea typeface="微软雅黑" panose="020B0503020204020204" charset="-122"/>
                <a:cs typeface="Funnel Sans" pitchFamily="34" charset="-120"/>
              </a:rPr>
              <a:t>（</a:t>
            </a:r>
            <a:r>
              <a:rPr lang="en-US" sz="1750" dirty="0">
                <a:solidFill>
                  <a:srgbClr val="52586B"/>
                </a:solidFill>
                <a:latin typeface="微软雅黑" panose="020B0503020204020204" charset="-122"/>
                <a:ea typeface="微软雅黑" panose="020B0503020204020204" charset="-122"/>
                <a:cs typeface="Funnel Sans" pitchFamily="34" charset="-120"/>
              </a:rPr>
              <a:t>不确定性、影响力、训练动态等</a:t>
            </a:r>
            <a:r>
              <a:rPr lang="zh-CN" altLang="en-US" sz="1750" dirty="0">
                <a:solidFill>
                  <a:srgbClr val="52586B"/>
                </a:solidFill>
                <a:latin typeface="微软雅黑" panose="020B0503020204020204" charset="-122"/>
                <a:ea typeface="微软雅黑" panose="020B0503020204020204" charset="-122"/>
                <a:cs typeface="Funnel Sans" pitchFamily="34" charset="-120"/>
              </a:rPr>
              <a:t>）</a:t>
            </a:r>
            <a:endParaRPr lang="zh-CN" altLang="en-US" sz="1750" dirty="0">
              <a:solidFill>
                <a:srgbClr val="52586B"/>
              </a:solidFill>
              <a:latin typeface="微软雅黑" panose="020B0503020204020204" charset="-122"/>
              <a:ea typeface="微软雅黑" panose="020B0503020204020204" charset="-122"/>
              <a:cs typeface="Funnel Sans" pitchFamily="34" charset="-120"/>
            </a:endParaRPr>
          </a:p>
        </p:txBody>
      </p:sp>
      <p:sp>
        <p:nvSpPr>
          <p:cNvPr id="15" name="Text 9"/>
          <p:cNvSpPr/>
          <p:nvPr/>
        </p:nvSpPr>
        <p:spPr>
          <a:xfrm>
            <a:off x="5940901" y="3564930"/>
            <a:ext cx="3501509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258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分析不同PEFT方法认为"重要"样本的重合度</a:t>
            </a:r>
            <a:endParaRPr lang="en-US" sz="1750" dirty="0">
              <a:solidFill>
                <a:srgbClr val="5258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Shape 10"/>
          <p:cNvSpPr/>
          <p:nvPr/>
        </p:nvSpPr>
        <p:spPr>
          <a:xfrm>
            <a:off x="1657350" y="5144135"/>
            <a:ext cx="7556500" cy="1156335"/>
          </a:xfrm>
          <a:prstGeom prst="roundRect">
            <a:avLst>
              <a:gd name="adj" fmla="val 9884"/>
            </a:avLst>
          </a:prstGeom>
          <a:solidFill>
            <a:srgbClr val="B6D6FC"/>
          </a:solidFill>
        </p:spPr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4204" y="5484892"/>
            <a:ext cx="283488" cy="226814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2394506" y="5370314"/>
            <a:ext cx="6592491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核心问题：不同PEFT方法受到不同数据分布的影响是否不同？</a:t>
            </a:r>
            <a:endParaRPr lang="en-US" sz="1750" dirty="0">
              <a:solidFill>
                <a:srgbClr val="000000"/>
              </a:solidFill>
              <a:latin typeface="Funnel Sans" pitchFamily="34" charset="0"/>
              <a:ea typeface="Funnel Sans" pitchFamily="34" charset="-122"/>
              <a:cs typeface="Funnel Sans" pitchFamily="34" charset="-120"/>
            </a:endParaRPr>
          </a:p>
          <a:p>
            <a:pPr marL="914400" lvl="2" indent="45720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  <a:sym typeface="+mn-ea"/>
              </a:rPr>
              <a:t>不同PEFT方法</a:t>
            </a:r>
            <a:r>
              <a:rPr lang="en-US" sz="1750" dirty="0">
                <a:solidFill>
                  <a:srgbClr val="00000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数据偏好是否存在显著差异？</a:t>
            </a:r>
            <a:endParaRPr lang="en-US" sz="1750" dirty="0">
              <a:solidFill>
                <a:srgbClr val="000000"/>
              </a:solidFill>
              <a:latin typeface="Funnel Sans" pitchFamily="34" charset="0"/>
              <a:ea typeface="Funnel Sans" pitchFamily="34" charset="-122"/>
              <a:cs typeface="Funnel Sans" pitchFamily="34" charset="-120"/>
            </a:endParaRPr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fade/>
      </p:transition>
    </mc:Choice>
    <mc:Fallback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8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US" dirty="0">
                <a:solidFill>
                  <a:srgbClr val="373B48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  <a:sym typeface="+mn-ea"/>
              </a:rPr>
              <a:t>研究内容一：关联性验证</a:t>
            </a:r>
            <a:endParaRPr lang="zh-CN" altLang="en-US"/>
          </a:p>
        </p:txBody>
      </p:sp>
      <p:pic>
        <p:nvPicPr>
          <p:cNvPr id="7" name="图片 6" descr="lora_vs_prefix_on_hellaswa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555" y="1555115"/>
            <a:ext cx="3044190" cy="2435860"/>
          </a:xfrm>
          <a:prstGeom prst="rect">
            <a:avLst/>
          </a:prstGeom>
        </p:spPr>
      </p:pic>
      <p:pic>
        <p:nvPicPr>
          <p:cNvPr id="8" name="图片 7" descr="lora_vs_prefix_on_lambad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7710" y="1588135"/>
            <a:ext cx="2825115" cy="2402840"/>
          </a:xfrm>
          <a:prstGeom prst="rect">
            <a:avLst/>
          </a:prstGeom>
        </p:spPr>
      </p:pic>
      <p:pic>
        <p:nvPicPr>
          <p:cNvPr id="12" name="图片 11" descr="lora_vs_prefix_on_squa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1690" y="1588135"/>
            <a:ext cx="2807970" cy="2371090"/>
          </a:xfrm>
          <a:prstGeom prst="rect">
            <a:avLst/>
          </a:prstGeom>
        </p:spPr>
      </p:pic>
      <p:pic>
        <p:nvPicPr>
          <p:cNvPr id="13" name="图片 12" descr="influence_if_e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6495" y="4406265"/>
            <a:ext cx="2264410" cy="2264410"/>
          </a:xfrm>
          <a:prstGeom prst="rect">
            <a:avLst/>
          </a:prstGeom>
        </p:spPr>
      </p:pic>
      <p:pic>
        <p:nvPicPr>
          <p:cNvPr id="19" name="图片 18" descr="influence_if_e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71620" y="4361815"/>
            <a:ext cx="2072640" cy="2264410"/>
          </a:xfrm>
          <a:prstGeom prst="rect">
            <a:avLst/>
          </a:prstGeom>
        </p:spPr>
      </p:pic>
      <p:sp>
        <p:nvSpPr>
          <p:cNvPr id="20" name="文本框 19"/>
          <p:cNvSpPr txBox="1"/>
          <p:nvPr/>
        </p:nvSpPr>
        <p:spPr>
          <a:xfrm>
            <a:off x="8486775" y="1953895"/>
            <a:ext cx="3434080" cy="1337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fontAlgn="auto">
              <a:lnSpc>
                <a:spcPct val="150000"/>
              </a:lnSpc>
            </a:pPr>
            <a:r>
              <a:rPr lang="en-US" altLang="zh-CN"/>
              <a:t>R</a:t>
            </a:r>
            <a:r>
              <a:rPr lang="en-US" altLang="en-US"/>
              <a:t>²</a:t>
            </a:r>
            <a:r>
              <a:rPr lang="en-US" altLang="zh-CN"/>
              <a:t>≈0.46–0.59 </a:t>
            </a:r>
            <a:r>
              <a:rPr lang="zh-CN" altLang="en-US"/>
              <a:t>证明共享因素</a:t>
            </a:r>
            <a:r>
              <a:rPr lang="en-US" altLang="zh-CN"/>
              <a:t>+</a:t>
            </a:r>
            <a:r>
              <a:rPr lang="zh-CN" altLang="en-US"/>
              <a:t>方法差异并存，符合关于</a:t>
            </a:r>
            <a:r>
              <a:rPr lang="en-US" altLang="zh-CN"/>
              <a:t>“</a:t>
            </a:r>
            <a:r>
              <a:rPr lang="zh-CN" altLang="en-US"/>
              <a:t>内在关联</a:t>
            </a:r>
            <a:r>
              <a:rPr lang="en-US" altLang="zh-CN"/>
              <a:t>+</a:t>
            </a:r>
            <a:r>
              <a:rPr lang="zh-CN" altLang="en-US"/>
              <a:t>不一致关注</a:t>
            </a:r>
            <a:r>
              <a:rPr lang="en-US" altLang="zh-CN"/>
              <a:t>”</a:t>
            </a:r>
            <a:r>
              <a:rPr lang="zh-CN" altLang="en-US"/>
              <a:t>的研究假设。</a:t>
            </a:r>
            <a:endParaRPr lang="zh-CN" altLang="en-US"/>
          </a:p>
        </p:txBody>
      </p:sp>
      <p:cxnSp>
        <p:nvCxnSpPr>
          <p:cNvPr id="21" name="直接连接符 20"/>
          <p:cNvCxnSpPr/>
          <p:nvPr/>
        </p:nvCxnSpPr>
        <p:spPr>
          <a:xfrm flipV="1">
            <a:off x="77470" y="4169410"/>
            <a:ext cx="12037060" cy="14605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3" name="文本框 22"/>
          <p:cNvSpPr txBox="1"/>
          <p:nvPr/>
        </p:nvSpPr>
        <p:spPr>
          <a:xfrm>
            <a:off x="7339965" y="4565650"/>
            <a:ext cx="4064000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fontAlgn="auto">
              <a:lnSpc>
                <a:spcPct val="150000"/>
              </a:lnSpc>
            </a:pPr>
            <a:r>
              <a:rPr lang="zh-CN" altLang="en-US"/>
              <a:t>两方法在</a:t>
            </a:r>
            <a:r>
              <a:rPr lang="en-US" altLang="zh-CN"/>
              <a:t>“</a:t>
            </a:r>
            <a:r>
              <a:rPr lang="zh-CN" altLang="en-US"/>
              <a:t>样本对目标损失的边际贡献</a:t>
            </a:r>
            <a:r>
              <a:rPr lang="en-US" altLang="zh-CN"/>
              <a:t>/</a:t>
            </a:r>
            <a:r>
              <a:rPr lang="zh-CN" altLang="en-US"/>
              <a:t>影响</a:t>
            </a:r>
            <a:r>
              <a:rPr lang="en-US" altLang="zh-CN"/>
              <a:t>”</a:t>
            </a:r>
            <a:r>
              <a:rPr lang="zh-CN" altLang="en-US"/>
              <a:t>上分歧更大，表现出明显的方法特异性；直接把某一方法的</a:t>
            </a:r>
            <a:r>
              <a:rPr lang="en-US" altLang="zh-CN"/>
              <a:t> influence </a:t>
            </a:r>
            <a:r>
              <a:rPr lang="zh-CN" altLang="en-US"/>
              <a:t>得分迁移到另一方法做选择并不稳健。</a:t>
            </a:r>
            <a:endParaRPr lang="zh-CN" altLang="en-US"/>
          </a:p>
        </p:txBody>
      </p:sp>
    </p:spTree>
    <p:custDataLst>
      <p:tags r:id="rId7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fade/>
      </p:transition>
    </mc:Choice>
    <mc:Fallback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8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US" dirty="0">
                <a:solidFill>
                  <a:srgbClr val="373B48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  <a:sym typeface="+mn-ea"/>
              </a:rPr>
              <a:t>研究内容</a:t>
            </a:r>
            <a:r>
              <a:rPr lang="zh-CN" altLang="en-US" dirty="0">
                <a:solidFill>
                  <a:srgbClr val="373B48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  <a:sym typeface="+mn-ea"/>
              </a:rPr>
              <a:t>二</a:t>
            </a:r>
            <a:r>
              <a:rPr lang="en-US" dirty="0">
                <a:solidFill>
                  <a:srgbClr val="373B48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  <a:sym typeface="+mn-ea"/>
              </a:rPr>
              <a:t>：</a:t>
            </a:r>
            <a:r>
              <a:rPr lang="zh-CN" altLang="en-US" dirty="0">
                <a:solidFill>
                  <a:srgbClr val="373B48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  <a:sym typeface="+mn-ea"/>
              </a:rPr>
              <a:t>跨</a:t>
            </a:r>
            <a:r>
              <a:rPr lang="en-US" altLang="zh-CN" dirty="0">
                <a:solidFill>
                  <a:srgbClr val="373B48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PEFT</a:t>
            </a:r>
            <a:r>
              <a:rPr lang="zh-CN" altLang="en-US" dirty="0">
                <a:solidFill>
                  <a:srgbClr val="373B48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  <a:sym typeface="+mn-ea"/>
              </a:rPr>
              <a:t>泛用的数据选择</a:t>
            </a:r>
            <a:r>
              <a:rPr lang="zh-CN" altLang="en-US" dirty="0">
                <a:solidFill>
                  <a:srgbClr val="373B48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  <a:sym typeface="+mn-ea"/>
              </a:rPr>
              <a:t>算法</a:t>
            </a:r>
            <a:endParaRPr lang="zh-CN" altLang="en-US" dirty="0">
              <a:solidFill>
                <a:srgbClr val="373B48"/>
              </a:solidFill>
              <a:latin typeface="Mona Sans Semi Bold" pitchFamily="34" charset="0"/>
              <a:ea typeface="Mona Sans Semi Bold" pitchFamily="34" charset="-122"/>
              <a:cs typeface="Mona Sans Semi Bold" pitchFamily="34" charset="-120"/>
              <a:sym typeface="+mn-ea"/>
            </a:endParaRPr>
          </a:p>
        </p:txBody>
      </p:sp>
      <p:sp>
        <p:nvSpPr>
          <p:cNvPr id="3" name="Text 1"/>
          <p:cNvSpPr/>
          <p:nvPr/>
        </p:nvSpPr>
        <p:spPr>
          <a:xfrm>
            <a:off x="482005" y="1554559"/>
            <a:ext cx="13042821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rgbClr val="5258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"</a:t>
            </a:r>
            <a:r>
              <a:rPr lang="en-US" sz="2000" dirty="0">
                <a:solidFill>
                  <a:srgbClr val="5258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跨PEFT泛用"的数据选择算法设计 - </a:t>
            </a:r>
            <a:r>
              <a:rPr lang="en-US" sz="2000" b="1" dirty="0">
                <a:solidFill>
                  <a:srgbClr val="373B4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数据维度创新</a:t>
            </a:r>
            <a:endParaRPr lang="en-US" sz="2000" b="1" dirty="0">
              <a:solidFill>
                <a:srgbClr val="373B4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Shape 2"/>
          <p:cNvSpPr/>
          <p:nvPr/>
        </p:nvSpPr>
        <p:spPr>
          <a:xfrm>
            <a:off x="196850" y="2392045"/>
            <a:ext cx="3764280" cy="2421255"/>
          </a:xfrm>
          <a:prstGeom prst="roundRect">
            <a:avLst>
              <a:gd name="adj" fmla="val 4652"/>
            </a:avLst>
          </a:prstGeom>
          <a:solidFill>
            <a:srgbClr val="E2E4E9"/>
          </a:solidFill>
          <a:ln w="7620">
            <a:solidFill>
              <a:srgbClr val="C8CAC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31324" y="2626757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2586B"/>
                </a:solidFill>
                <a:latin typeface="微软雅黑" panose="020B0503020204020204" charset="-122"/>
                <a:ea typeface="微软雅黑" panose="020B0503020204020204" charset="-122"/>
                <a:cs typeface="Mona Sans Semi Bold" pitchFamily="34" charset="-120"/>
              </a:rPr>
              <a:t>目标</a:t>
            </a:r>
            <a:endParaRPr lang="en-US" sz="2200" dirty="0">
              <a:solidFill>
                <a:srgbClr val="52586B"/>
              </a:solidFill>
              <a:latin typeface="微软雅黑" panose="020B0503020204020204" charset="-122"/>
              <a:ea typeface="微软雅黑" panose="020B0503020204020204" charset="-122"/>
              <a:cs typeface="Mona Sans Semi Bold" pitchFamily="34" charset="-120"/>
            </a:endParaRPr>
          </a:p>
        </p:txBody>
      </p:sp>
      <p:sp>
        <p:nvSpPr>
          <p:cNvPr id="6" name="Text 4"/>
          <p:cNvSpPr/>
          <p:nvPr/>
        </p:nvSpPr>
        <p:spPr>
          <a:xfrm>
            <a:off x="431165" y="3117215"/>
            <a:ext cx="3432175" cy="1089025"/>
          </a:xfrm>
          <a:prstGeom prst="rect">
            <a:avLst/>
          </a:prstGeom>
          <a:noFill/>
        </p:spPr>
        <p:txBody>
          <a:bodyPr wrap="square" lIns="0" tIns="0" rIns="0" bIns="0" rtlCol="0" anchor="t"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258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设计通用性更强的数据筛选算法，在不确定最终PEFT方法时，提前筛选出"公认的好样本"</a:t>
            </a:r>
            <a:endParaRPr lang="en-US" sz="1750" dirty="0">
              <a:solidFill>
                <a:srgbClr val="5258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293870" y="2392045"/>
            <a:ext cx="7754620" cy="2420620"/>
          </a:xfrm>
          <a:prstGeom prst="roundRect">
            <a:avLst>
              <a:gd name="adj" fmla="val 4652"/>
            </a:avLst>
          </a:prstGeom>
          <a:solidFill>
            <a:srgbClr val="E2E4E9"/>
          </a:solidFill>
          <a:ln w="7620">
            <a:solidFill>
              <a:srgbClr val="C8CAC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43346" y="2626757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p>
            <a:pPr marL="0" indent="0" algn="l">
              <a:lnSpc>
                <a:spcPts val="2750"/>
              </a:lnSpc>
              <a:buNone/>
            </a:pPr>
            <a:r>
              <a:rPr lang="zh-CN" altLang="en-US" sz="2200" dirty="0">
                <a:solidFill>
                  <a:srgbClr val="52586B"/>
                </a:solidFill>
                <a:latin typeface="微软雅黑" panose="020B0503020204020204" charset="-122"/>
                <a:ea typeface="微软雅黑" panose="020B0503020204020204" charset="-122"/>
                <a:cs typeface="Mona Sans Semi Bold" pitchFamily="34" charset="-120"/>
              </a:rPr>
              <a:t>可能的实现</a:t>
            </a:r>
            <a:r>
              <a:rPr lang="en-US" sz="2200" dirty="0">
                <a:solidFill>
                  <a:srgbClr val="52586B"/>
                </a:solidFill>
                <a:latin typeface="微软雅黑" panose="020B0503020204020204" charset="-122"/>
                <a:ea typeface="微软雅黑" panose="020B0503020204020204" charset="-122"/>
                <a:cs typeface="Mona Sans Semi Bold" pitchFamily="34" charset="-120"/>
              </a:rPr>
              <a:t>方法</a:t>
            </a:r>
            <a:endParaRPr lang="en-US" sz="2200" dirty="0">
              <a:solidFill>
                <a:srgbClr val="52586B"/>
              </a:solidFill>
              <a:latin typeface="微软雅黑" panose="020B0503020204020204" charset="-122"/>
              <a:ea typeface="微软雅黑" panose="020B0503020204020204" charset="-122"/>
              <a:cs typeface="Mona Sans Semi Bold" pitchFamily="34" charset="-120"/>
            </a:endParaRPr>
          </a:p>
        </p:txBody>
      </p:sp>
      <p:sp>
        <p:nvSpPr>
          <p:cNvPr id="2" name="Text 7"/>
          <p:cNvSpPr/>
          <p:nvPr/>
        </p:nvSpPr>
        <p:spPr>
          <a:xfrm>
            <a:off x="4543425" y="3124835"/>
            <a:ext cx="7398385" cy="1089025"/>
          </a:xfrm>
          <a:prstGeom prst="rect">
            <a:avLst/>
          </a:prstGeom>
          <a:noFill/>
        </p:spPr>
        <p:txBody>
          <a:bodyPr wrap="square" lIns="0" tIns="0" rIns="0" bIns="0" rtlCol="0" anchor="t"/>
          <a:p>
            <a:pPr marL="0" indent="0" algn="l">
              <a:lnSpc>
                <a:spcPts val="2850"/>
              </a:lnSpc>
              <a:buNone/>
            </a:pPr>
            <a:r>
              <a:rPr lang="zh-CN" altLang="en-US" sz="1750" dirty="0">
                <a:solidFill>
                  <a:srgbClr val="5258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由于在数据筛选过程中常常需要兼顾样本质量与多样性，我们可以考虑指标筛选与融合：基于第一阶段的发现，筛选出在多种</a:t>
            </a:r>
            <a:r>
              <a:rPr lang="en-US" altLang="zh-CN" sz="1750" dirty="0">
                <a:solidFill>
                  <a:srgbClr val="5258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PEFT</a:t>
            </a:r>
            <a:r>
              <a:rPr lang="zh-CN" altLang="en-US" sz="1750" dirty="0">
                <a:solidFill>
                  <a:srgbClr val="5258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方法下都表现稳定的样本指标，进一步设计出新的融合指标，最后再加上多样性约束，实现一个高效的数据筛选算法。</a:t>
            </a:r>
            <a:r>
              <a:rPr lang="en-US" altLang="zh-CN" sz="1750" dirty="0">
                <a:solidFill>
                  <a:srgbClr val="5258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endParaRPr lang="en-US" altLang="zh-CN" sz="1750" dirty="0">
              <a:solidFill>
                <a:srgbClr val="5258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247650" y="5272405"/>
            <a:ext cx="11324590" cy="963930"/>
          </a:xfrm>
          <a:prstGeom prst="roundRect">
            <a:avLst>
              <a:gd name="adj" fmla="val 9884"/>
            </a:avLst>
          </a:prstGeom>
          <a:solidFill>
            <a:srgbClr val="B6D6FC"/>
          </a:solidFill>
        </p:spPr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504" y="5624393"/>
            <a:ext cx="283488" cy="226814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984885" y="5556250"/>
            <a:ext cx="10250805" cy="363220"/>
          </a:xfrm>
          <a:prstGeom prst="rect">
            <a:avLst/>
          </a:prstGeom>
          <a:noFill/>
        </p:spPr>
        <p:txBody>
          <a:bodyPr wrap="none" lIns="0" tIns="0" rIns="0" bIns="0" rtlCol="0" anchor="t"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核心问题：是否存在一种能够横跨多种PEFT方法的通用数据重要性度量？如何基于它设计算法？</a:t>
            </a:r>
            <a:endParaRPr lang="en-US" sz="1750" dirty="0"/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fade/>
      </p:transition>
    </mc:Choice>
    <mc:Fallback>
      <p:transition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8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US" dirty="0">
                <a:solidFill>
                  <a:srgbClr val="373B48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  <a:sym typeface="+mn-ea"/>
              </a:rPr>
              <a:t>研究内容</a:t>
            </a:r>
            <a:r>
              <a:rPr lang="zh-CN" altLang="en-US" dirty="0">
                <a:solidFill>
                  <a:srgbClr val="373B48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  <a:sym typeface="+mn-ea"/>
              </a:rPr>
              <a:t>三</a:t>
            </a:r>
            <a:r>
              <a:rPr lang="en-US" dirty="0">
                <a:solidFill>
                  <a:srgbClr val="373B48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  <a:sym typeface="+mn-ea"/>
              </a:rPr>
              <a:t>：</a:t>
            </a:r>
            <a:r>
              <a:rPr lang="en-US" dirty="0">
                <a:solidFill>
                  <a:srgbClr val="373B48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数据自适应的动态</a:t>
            </a:r>
            <a:r>
              <a:rPr lang="en-US" dirty="0">
                <a:solidFill>
                  <a:srgbClr val="373B48"/>
                </a:solidFill>
                <a:latin typeface="Times New Roman" panose="02020603050405020304" charset="0"/>
                <a:ea typeface="Mona Sans Semi Bold" pitchFamily="34" charset="-122"/>
                <a:cs typeface="Times New Roman" panose="02020603050405020304" charset="0"/>
              </a:rPr>
              <a:t>PEFT</a:t>
            </a:r>
            <a:r>
              <a:rPr lang="en-US" dirty="0">
                <a:solidFill>
                  <a:srgbClr val="373B48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路由或构建方法</a:t>
            </a:r>
            <a:endParaRPr lang="zh-CN" alt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875" y="3065145"/>
            <a:ext cx="2743835" cy="90741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14170" y="4140835"/>
            <a:ext cx="2423160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2586B"/>
                </a:solidFill>
                <a:latin typeface="微软雅黑" panose="020B0503020204020204" charset="-122"/>
                <a:ea typeface="微软雅黑" panose="020B0503020204020204" charset="-122"/>
                <a:cs typeface="Mona Sans Semi Bold" pitchFamily="34" charset="-120"/>
              </a:rPr>
              <a:t>数据特</a:t>
            </a:r>
            <a:r>
              <a:rPr lang="zh-CN" altLang="en-US" sz="2200" dirty="0">
                <a:solidFill>
                  <a:srgbClr val="52586B"/>
                </a:solidFill>
                <a:latin typeface="微软雅黑" panose="020B0503020204020204" charset="-122"/>
                <a:ea typeface="微软雅黑" panose="020B0503020204020204" charset="-122"/>
                <a:cs typeface="Mona Sans Semi Bold" pitchFamily="34" charset="-120"/>
              </a:rPr>
              <a:t>性</a:t>
            </a:r>
            <a:r>
              <a:rPr lang="en-US" sz="2200" dirty="0">
                <a:solidFill>
                  <a:srgbClr val="52586B"/>
                </a:solidFill>
                <a:latin typeface="微软雅黑" panose="020B0503020204020204" charset="-122"/>
                <a:ea typeface="微软雅黑" panose="020B0503020204020204" charset="-122"/>
                <a:cs typeface="Mona Sans Semi Bold" pitchFamily="34" charset="-120"/>
              </a:rPr>
              <a:t>分析</a:t>
            </a:r>
            <a:endParaRPr lang="en-US" sz="2200" dirty="0">
              <a:solidFill>
                <a:srgbClr val="52586B"/>
              </a:solidFill>
              <a:latin typeface="微软雅黑" panose="020B0503020204020204" charset="-122"/>
              <a:ea typeface="微软雅黑" panose="020B0503020204020204" charset="-122"/>
              <a:cs typeface="Mona Sans Semi Bold" pitchFamily="34" charset="-120"/>
            </a:endParaRPr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0840" y="2346325"/>
            <a:ext cx="2521585" cy="90741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862320" y="3342005"/>
            <a:ext cx="2423160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2586B"/>
                </a:solidFill>
                <a:latin typeface="微软雅黑" panose="020B0503020204020204" charset="-122"/>
                <a:ea typeface="微软雅黑" panose="020B0503020204020204" charset="-122"/>
                <a:cs typeface="Mona Sans Semi Bold" pitchFamily="34" charset="-120"/>
              </a:rPr>
              <a:t>动态路由决策</a:t>
            </a:r>
            <a:endParaRPr lang="en-US" sz="2200" dirty="0">
              <a:solidFill>
                <a:srgbClr val="52586B"/>
              </a:solidFill>
              <a:latin typeface="微软雅黑" panose="020B0503020204020204" charset="-122"/>
              <a:ea typeface="微软雅黑" panose="020B0503020204020204" charset="-122"/>
              <a:cs typeface="Mona Sans Semi Bold" pitchFamily="34" charset="-120"/>
            </a:endParaRPr>
          </a:p>
        </p:txBody>
      </p:sp>
      <p:sp>
        <p:nvSpPr>
          <p:cNvPr id="2" name="Text 5"/>
          <p:cNvSpPr/>
          <p:nvPr/>
        </p:nvSpPr>
        <p:spPr>
          <a:xfrm>
            <a:off x="8567420" y="2437130"/>
            <a:ext cx="2245995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258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根据数据特征决定</a:t>
            </a:r>
            <a:r>
              <a:rPr lang="zh-CN" altLang="en-US" sz="1750" dirty="0">
                <a:solidFill>
                  <a:srgbClr val="5258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使用哪种已有</a:t>
            </a:r>
            <a:r>
              <a:rPr lang="en-US" sz="1750" dirty="0">
                <a:solidFill>
                  <a:srgbClr val="5258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PEFT方法</a:t>
            </a:r>
            <a:endParaRPr lang="en-US" sz="1750" dirty="0">
              <a:solidFill>
                <a:srgbClr val="5258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50840" y="4152265"/>
            <a:ext cx="2662555" cy="90741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076950" y="5110480"/>
            <a:ext cx="2423160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2586B"/>
                </a:solidFill>
                <a:latin typeface="微软雅黑" panose="020B0503020204020204" charset="-122"/>
                <a:ea typeface="微软雅黑" panose="020B0503020204020204" charset="-122"/>
                <a:cs typeface="Mona Sans Semi Bold" pitchFamily="34" charset="-120"/>
              </a:rPr>
              <a:t>自适应构建</a:t>
            </a:r>
            <a:endParaRPr lang="en-US" sz="2200" dirty="0">
              <a:solidFill>
                <a:srgbClr val="52586B"/>
              </a:solidFill>
              <a:latin typeface="微软雅黑" panose="020B0503020204020204" charset="-122"/>
              <a:ea typeface="微软雅黑" panose="020B0503020204020204" charset="-122"/>
              <a:cs typeface="Mona Sans Semi Bold" pitchFamily="34" charset="-120"/>
            </a:endParaRPr>
          </a:p>
        </p:txBody>
      </p:sp>
      <p:sp>
        <p:nvSpPr>
          <p:cNvPr id="12" name="Text 7"/>
          <p:cNvSpPr/>
          <p:nvPr/>
        </p:nvSpPr>
        <p:spPr>
          <a:xfrm>
            <a:off x="8630920" y="4305935"/>
            <a:ext cx="2182495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258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自动</a:t>
            </a:r>
            <a:r>
              <a:rPr lang="zh-CN" altLang="en-US" sz="1750" dirty="0">
                <a:solidFill>
                  <a:srgbClr val="5258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构建</a:t>
            </a:r>
            <a:r>
              <a:rPr lang="en-US" sz="1750" dirty="0">
                <a:solidFill>
                  <a:srgbClr val="5258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最优PEFT架构，实现"量身定制"</a:t>
            </a:r>
            <a:endParaRPr lang="en-US" sz="1750" dirty="0">
              <a:solidFill>
                <a:srgbClr val="5258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5" name="直接箭头连接符 14"/>
          <p:cNvCxnSpPr/>
          <p:nvPr/>
        </p:nvCxnSpPr>
        <p:spPr>
          <a:xfrm flipV="1">
            <a:off x="4138930" y="2832735"/>
            <a:ext cx="948690" cy="6654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6" name="直接箭头连接符 15"/>
          <p:cNvCxnSpPr/>
          <p:nvPr/>
        </p:nvCxnSpPr>
        <p:spPr>
          <a:xfrm>
            <a:off x="4126230" y="3498215"/>
            <a:ext cx="961390" cy="80772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7" name="Text 1"/>
          <p:cNvSpPr/>
          <p:nvPr/>
        </p:nvSpPr>
        <p:spPr>
          <a:xfrm>
            <a:off x="482005" y="1554559"/>
            <a:ext cx="13042821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rgbClr val="5258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数据自适应的动态PEFT路由或构建方法</a:t>
            </a:r>
            <a:r>
              <a:rPr lang="en-US" sz="2000" dirty="0">
                <a:solidFill>
                  <a:srgbClr val="5258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- </a:t>
            </a:r>
            <a:r>
              <a:rPr lang="zh-CN" altLang="en-US" sz="2000" b="1" dirty="0">
                <a:solidFill>
                  <a:srgbClr val="5258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</a:t>
            </a:r>
            <a:r>
              <a:rPr lang="en-US" sz="2000" b="1" dirty="0">
                <a:solidFill>
                  <a:srgbClr val="373B4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维度创新</a:t>
            </a:r>
            <a:endParaRPr lang="en-US" sz="2000" b="1" dirty="0">
              <a:solidFill>
                <a:srgbClr val="373B4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Shape 11"/>
          <p:cNvSpPr/>
          <p:nvPr/>
        </p:nvSpPr>
        <p:spPr>
          <a:xfrm>
            <a:off x="382905" y="5614670"/>
            <a:ext cx="11324590" cy="963930"/>
          </a:xfrm>
          <a:prstGeom prst="roundRect">
            <a:avLst>
              <a:gd name="adj" fmla="val 9884"/>
            </a:avLst>
          </a:prstGeom>
          <a:solidFill>
            <a:srgbClr val="B6D6FC"/>
          </a:solidFill>
        </p:spPr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6119" y="5822513"/>
            <a:ext cx="283488" cy="226814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1245235" y="5730240"/>
            <a:ext cx="10250805" cy="732155"/>
          </a:xfrm>
          <a:prstGeom prst="rect">
            <a:avLst/>
          </a:prstGeom>
          <a:noFill/>
        </p:spPr>
        <p:txBody>
          <a:bodyPr wrap="none" lIns="0" tIns="0" rIns="0" bIns="0" rtlCol="0" anchor="t"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核心问题：如何设计一种新机制，使其能够根据给定数据的特性，</a:t>
            </a:r>
            <a:endParaRPr lang="en-US" sz="1750" dirty="0">
              <a:solidFill>
                <a:srgbClr val="000000"/>
              </a:solidFill>
              <a:latin typeface="Funnel Sans" pitchFamily="34" charset="0"/>
              <a:ea typeface="Funnel Sans" pitchFamily="34" charset="-122"/>
              <a:cs typeface="Funnel Sans" pitchFamily="34" charset="-120"/>
            </a:endParaRPr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           自动地路由到特定的PEFT方法，或者动态地“组装”出一个最优的PEFT架构？</a:t>
            </a:r>
            <a:endParaRPr lang="en-US" sz="1750" dirty="0">
              <a:solidFill>
                <a:srgbClr val="000000"/>
              </a:solidFill>
              <a:latin typeface="Funnel Sans" pitchFamily="34" charset="0"/>
              <a:ea typeface="Funnel Sans" pitchFamily="34" charset="-122"/>
              <a:cs typeface="Funnel Sans" pitchFamily="34" charset="-120"/>
            </a:endParaRPr>
          </a:p>
        </p:txBody>
      </p:sp>
    </p:spTree>
    <p:custDataLst>
      <p:tags r:id="rId6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fade/>
      </p:transition>
    </mc:Choice>
    <mc:Fallback>
      <p:transition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8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US" dirty="0">
                <a:solidFill>
                  <a:srgbClr val="373B48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  <a:sym typeface="+mn-ea"/>
              </a:rPr>
              <a:t>研究内容</a:t>
            </a:r>
            <a:r>
              <a:rPr lang="zh-CN" altLang="en-US" dirty="0">
                <a:solidFill>
                  <a:srgbClr val="373B48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  <a:sym typeface="+mn-ea"/>
              </a:rPr>
              <a:t>三</a:t>
            </a:r>
            <a:r>
              <a:rPr lang="en-US" dirty="0">
                <a:solidFill>
                  <a:srgbClr val="373B48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  <a:sym typeface="+mn-ea"/>
              </a:rPr>
              <a:t>：</a:t>
            </a:r>
            <a:r>
              <a:rPr lang="en-US" dirty="0">
                <a:solidFill>
                  <a:srgbClr val="373B48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数据自适应的动态</a:t>
            </a:r>
            <a:r>
              <a:rPr lang="en-US" dirty="0">
                <a:solidFill>
                  <a:srgbClr val="373B48"/>
                </a:solidFill>
                <a:latin typeface="Times New Roman" panose="02020603050405020304" charset="0"/>
                <a:ea typeface="Mona Sans Semi Bold" pitchFamily="34" charset="-122"/>
                <a:cs typeface="Times New Roman" panose="02020603050405020304" charset="0"/>
              </a:rPr>
              <a:t>PEFT</a:t>
            </a:r>
            <a:r>
              <a:rPr lang="en-US" dirty="0">
                <a:solidFill>
                  <a:srgbClr val="373B48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路由或构建方法</a:t>
            </a:r>
            <a:endParaRPr lang="zh-CN" altLang="en-US"/>
          </a:p>
        </p:txBody>
      </p:sp>
      <p:sp>
        <p:nvSpPr>
          <p:cNvPr id="18" name="Shape 11"/>
          <p:cNvSpPr/>
          <p:nvPr/>
        </p:nvSpPr>
        <p:spPr>
          <a:xfrm>
            <a:off x="382905" y="5614670"/>
            <a:ext cx="11324590" cy="963930"/>
          </a:xfrm>
          <a:prstGeom prst="roundRect">
            <a:avLst>
              <a:gd name="adj" fmla="val 9884"/>
            </a:avLst>
          </a:prstGeom>
          <a:solidFill>
            <a:srgbClr val="B6D6FC"/>
          </a:solidFill>
        </p:spPr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119" y="5822513"/>
            <a:ext cx="283488" cy="226814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1245235" y="5730240"/>
            <a:ext cx="10250805" cy="732155"/>
          </a:xfrm>
          <a:prstGeom prst="rect">
            <a:avLst/>
          </a:prstGeom>
          <a:noFill/>
        </p:spPr>
        <p:txBody>
          <a:bodyPr wrap="none" lIns="0" tIns="0" rIns="0" bIns="0" rtlCol="0" anchor="t"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核心问题：如何设计一种新机制，使其能够根据给定数据的特性，</a:t>
            </a:r>
            <a:endParaRPr lang="en-US" sz="1750" dirty="0">
              <a:solidFill>
                <a:srgbClr val="000000"/>
              </a:solidFill>
              <a:latin typeface="Funnel Sans" pitchFamily="34" charset="0"/>
              <a:ea typeface="Funnel Sans" pitchFamily="34" charset="-122"/>
              <a:cs typeface="Funnel Sans" pitchFamily="34" charset="-120"/>
            </a:endParaRPr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           自动地路由到特定的PEFT方法，或者动态地“组装”出一个最优的PEFT架构？</a:t>
            </a:r>
            <a:endParaRPr lang="en-US" sz="1750" dirty="0">
              <a:solidFill>
                <a:srgbClr val="000000"/>
              </a:solidFill>
              <a:latin typeface="Funnel Sans" pitchFamily="34" charset="0"/>
              <a:ea typeface="Funnel Sans" pitchFamily="34" charset="-122"/>
              <a:cs typeface="Funnel Sans" pitchFamily="34" charset="-12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90855" y="1600835"/>
            <a:ext cx="613029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/>
              <a:t>论文</a:t>
            </a:r>
            <a:r>
              <a:rPr lang="zh-CN" altLang="en-US"/>
              <a:t>：</a:t>
            </a:r>
            <a:r>
              <a:rPr lang="en-US" altLang="zh-CN">
                <a:sym typeface="+mn-ea"/>
              </a:rPr>
              <a:t>TOWARDS A UNIFIED VIEW OF PARAMETER-EFFICIENT TRANSFER LEARNING</a:t>
            </a:r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8244840" y="1529715"/>
            <a:ext cx="3357880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fontAlgn="auto">
              <a:lnSpc>
                <a:spcPct val="150000"/>
              </a:lnSpc>
            </a:pPr>
            <a:r>
              <a:rPr lang="zh-CN" altLang="en-US" sz="2000">
                <a:sym typeface="+mn-ea"/>
              </a:rPr>
              <a:t>提出了统一框架，沿着一组共享的设计维度分解了各类</a:t>
            </a:r>
            <a:r>
              <a:rPr lang="en-US" altLang="zh-CN" sz="2000">
                <a:sym typeface="+mn-ea"/>
              </a:rPr>
              <a:t>PEFT</a:t>
            </a:r>
            <a:r>
              <a:rPr lang="zh-CN" altLang="en-US" sz="2000">
                <a:sym typeface="+mn-ea"/>
              </a:rPr>
              <a:t>方法</a:t>
            </a:r>
            <a:endParaRPr lang="zh-CN" altLang="en-US" sz="2000" b="1">
              <a:sym typeface="+mn-ea"/>
            </a:endParaRPr>
          </a:p>
        </p:txBody>
      </p:sp>
      <p:sp>
        <p:nvSpPr>
          <p:cNvPr id="14" name="右箭头 13"/>
          <p:cNvSpPr/>
          <p:nvPr/>
        </p:nvSpPr>
        <p:spPr>
          <a:xfrm>
            <a:off x="7113270" y="2157095"/>
            <a:ext cx="1073785" cy="483235"/>
          </a:xfrm>
          <a:prstGeom prst="rightArrow">
            <a:avLst/>
          </a:prstGeom>
          <a:solidFill>
            <a:schemeClr val="tx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9" name="矩形: 圆角 48"/>
          <p:cNvSpPr/>
          <p:nvPr>
            <p:custDataLst>
              <p:tags r:id="rId3"/>
            </p:custDataLst>
          </p:nvPr>
        </p:nvSpPr>
        <p:spPr>
          <a:xfrm>
            <a:off x="336550" y="1381760"/>
            <a:ext cx="6609080" cy="1972310"/>
          </a:xfrm>
          <a:prstGeom prst="roundRect">
            <a:avLst>
              <a:gd name="adj" fmla="val 5124"/>
            </a:avLst>
          </a:prstGeom>
          <a:gradFill>
            <a:gsLst>
              <a:gs pos="0">
                <a:srgbClr val="376FFF">
                  <a:lumMod val="5000"/>
                  <a:lumOff val="95000"/>
                  <a:alpha val="0"/>
                </a:srgbClr>
              </a:gs>
              <a:gs pos="100000">
                <a:srgbClr val="376FFF">
                  <a:lumMod val="20000"/>
                  <a:lumOff val="80000"/>
                  <a:alpha val="20000"/>
                </a:srgbClr>
              </a:gs>
            </a:gsLst>
            <a:lin ang="0" scaled="0"/>
          </a:gradFill>
          <a:ln w="9525">
            <a:gradFill flip="none" rotWithShape="1">
              <a:gsLst>
                <a:gs pos="0">
                  <a:srgbClr val="376FFF">
                    <a:lumMod val="20000"/>
                    <a:lumOff val="80000"/>
                  </a:srgbClr>
                </a:gs>
                <a:gs pos="100000">
                  <a:srgbClr val="376FFF">
                    <a:lumMod val="60000"/>
                    <a:lumOff val="40000"/>
                  </a:srgbClr>
                </a:gs>
              </a:gsLst>
              <a:lin ang="10800000" scaled="1"/>
              <a:tileRect/>
            </a:gradFill>
            <a:round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490855" y="2360930"/>
            <a:ext cx="6096000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fontAlgn="auto">
              <a:lnSpc>
                <a:spcPct val="150000"/>
              </a:lnSpc>
            </a:pPr>
            <a:r>
              <a:rPr lang="zh-CN" altLang="en-US" b="1">
                <a:sym typeface="+mn-ea"/>
              </a:rPr>
              <a:t>核心视角：</a:t>
            </a:r>
            <a:r>
              <a:rPr lang="zh-CN" altLang="en-US">
                <a:sym typeface="+mn-ea"/>
              </a:rPr>
              <a:t>将各种</a:t>
            </a:r>
            <a:r>
              <a:rPr lang="en-US" altLang="zh-CN">
                <a:sym typeface="+mn-ea"/>
              </a:rPr>
              <a:t> PEFT </a:t>
            </a:r>
            <a:r>
              <a:rPr lang="zh-CN" altLang="en-US">
                <a:sym typeface="+mn-ea"/>
              </a:rPr>
              <a:t>方法都看作对</a:t>
            </a:r>
            <a:r>
              <a:rPr lang="en-US" altLang="zh-CN">
                <a:sym typeface="+mn-ea"/>
              </a:rPr>
              <a:t>“</a:t>
            </a:r>
            <a:r>
              <a:rPr lang="zh-CN" altLang="en-US">
                <a:sym typeface="+mn-ea"/>
              </a:rPr>
              <a:t>预训练模型某些隐藏状态</a:t>
            </a:r>
            <a:r>
              <a:rPr lang="en-US" altLang="zh-CN">
                <a:sym typeface="+mn-ea"/>
              </a:rPr>
              <a:t>”</a:t>
            </a:r>
            <a:r>
              <a:rPr lang="zh-CN" altLang="en-US">
                <a:sym typeface="+mn-ea"/>
              </a:rPr>
              <a:t>的修改</a:t>
            </a:r>
            <a:r>
              <a:rPr lang="en-US" altLang="zh-CN">
                <a:sym typeface="+mn-ea"/>
              </a:rPr>
              <a:t>”</a:t>
            </a:r>
            <a:endParaRPr lang="en-US" altLang="zh-CN">
              <a:sym typeface="+mn-ea"/>
            </a:endParaRPr>
          </a:p>
        </p:txBody>
      </p:sp>
      <p:sp>
        <p:nvSpPr>
          <p:cNvPr id="23" name="Shape 5"/>
          <p:cNvSpPr/>
          <p:nvPr/>
        </p:nvSpPr>
        <p:spPr>
          <a:xfrm>
            <a:off x="490855" y="3655060"/>
            <a:ext cx="11162665" cy="1658620"/>
          </a:xfrm>
          <a:prstGeom prst="roundRect">
            <a:avLst>
              <a:gd name="adj" fmla="val 4652"/>
            </a:avLst>
          </a:prstGeom>
          <a:solidFill>
            <a:srgbClr val="E2E4E9"/>
          </a:solidFill>
          <a:ln w="7620">
            <a:solidFill>
              <a:srgbClr val="C8CACF"/>
            </a:solidFill>
            <a:prstDash val="solid"/>
          </a:ln>
        </p:spPr>
      </p:sp>
      <p:sp>
        <p:nvSpPr>
          <p:cNvPr id="24" name="Text 6"/>
          <p:cNvSpPr/>
          <p:nvPr/>
        </p:nvSpPr>
        <p:spPr>
          <a:xfrm>
            <a:off x="589280" y="3691890"/>
            <a:ext cx="5247640" cy="287020"/>
          </a:xfrm>
          <a:prstGeom prst="rect">
            <a:avLst/>
          </a:prstGeom>
          <a:noFill/>
        </p:spPr>
        <p:txBody>
          <a:bodyPr wrap="none" lIns="0" tIns="0" rIns="0" bIns="0" rtlCol="0" anchor="t"/>
          <a:p>
            <a:pPr marL="0" indent="0" algn="l">
              <a:lnSpc>
                <a:spcPts val="2750"/>
              </a:lnSpc>
              <a:buNone/>
            </a:pPr>
            <a:r>
              <a:rPr lang="zh-CN" altLang="en-US" sz="2200" b="1" dirty="0">
                <a:solidFill>
                  <a:srgbClr val="52586B"/>
                </a:solidFill>
                <a:latin typeface="微软雅黑" panose="020B0503020204020204" charset="-122"/>
                <a:ea typeface="微软雅黑" panose="020B0503020204020204" charset="-122"/>
                <a:cs typeface="Mona Sans Semi Bold" pitchFamily="34" charset="-120"/>
              </a:rPr>
              <a:t>可能的实现</a:t>
            </a:r>
            <a:r>
              <a:rPr lang="en-US" sz="2200" b="1" dirty="0">
                <a:solidFill>
                  <a:srgbClr val="52586B"/>
                </a:solidFill>
                <a:latin typeface="微软雅黑" panose="020B0503020204020204" charset="-122"/>
                <a:ea typeface="微软雅黑" panose="020B0503020204020204" charset="-122"/>
                <a:cs typeface="Mona Sans Semi Bold" pitchFamily="34" charset="-120"/>
              </a:rPr>
              <a:t>方法</a:t>
            </a:r>
            <a:endParaRPr lang="en-US" sz="2200" b="1" dirty="0">
              <a:solidFill>
                <a:srgbClr val="52586B"/>
              </a:solidFill>
              <a:latin typeface="微软雅黑" panose="020B0503020204020204" charset="-122"/>
              <a:ea typeface="微软雅黑" panose="020B0503020204020204" charset="-122"/>
              <a:cs typeface="Mona Sans Semi Bold" pitchFamily="34" charset="-120"/>
            </a:endParaRPr>
          </a:p>
        </p:txBody>
      </p:sp>
      <p:sp>
        <p:nvSpPr>
          <p:cNvPr id="25" name="Text 7"/>
          <p:cNvSpPr/>
          <p:nvPr/>
        </p:nvSpPr>
        <p:spPr>
          <a:xfrm>
            <a:off x="589280" y="4101465"/>
            <a:ext cx="10906760" cy="882015"/>
          </a:xfrm>
          <a:prstGeom prst="rect">
            <a:avLst/>
          </a:prstGeom>
          <a:noFill/>
        </p:spPr>
        <p:txBody>
          <a:bodyPr wrap="square" lIns="0" tIns="0" rIns="0" bIns="0" rtlCol="0" anchor="t"/>
          <a:p>
            <a:pPr marL="0" indent="0" algn="l">
              <a:lnSpc>
                <a:spcPts val="2850"/>
              </a:lnSpc>
              <a:buNone/>
            </a:pPr>
            <a:r>
              <a:rPr lang="zh-CN" altLang="en-US" sz="1750" dirty="0">
                <a:solidFill>
                  <a:srgbClr val="5258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我们可以考虑构建一个强化学习智能体，这个智能体的</a:t>
            </a:r>
            <a:r>
              <a:rPr lang="en-US" altLang="zh-CN" sz="1750" dirty="0">
                <a:solidFill>
                  <a:srgbClr val="5258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</a:t>
            </a:r>
            <a:r>
              <a:rPr lang="zh-CN" altLang="en-US" sz="1750" dirty="0">
                <a:solidFill>
                  <a:srgbClr val="5258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动作空间</a:t>
            </a:r>
            <a:r>
              <a:rPr lang="en-US" altLang="zh-CN" sz="1750" dirty="0">
                <a:solidFill>
                  <a:srgbClr val="5258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  <a:r>
              <a:rPr lang="zh-CN" altLang="en-US" sz="1750" dirty="0">
                <a:solidFill>
                  <a:srgbClr val="5258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就是统一框架下的</a:t>
            </a:r>
            <a:r>
              <a:rPr lang="en-US" altLang="zh-CN" sz="1750" dirty="0">
                <a:solidFill>
                  <a:srgbClr val="5258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PEFT</a:t>
            </a:r>
            <a:r>
              <a:rPr lang="zh-CN" altLang="en-US" sz="1750" dirty="0">
                <a:solidFill>
                  <a:srgbClr val="5258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组件，</a:t>
            </a:r>
            <a:r>
              <a:rPr lang="en-US" altLang="zh-CN" sz="1750" dirty="0">
                <a:solidFill>
                  <a:srgbClr val="5258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</a:t>
            </a:r>
            <a:r>
              <a:rPr lang="zh-CN" altLang="en-US" sz="1750" dirty="0">
                <a:solidFill>
                  <a:srgbClr val="5258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状态空间</a:t>
            </a:r>
            <a:r>
              <a:rPr lang="en-US" altLang="zh-CN" sz="1750" dirty="0">
                <a:solidFill>
                  <a:srgbClr val="5258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  <a:r>
              <a:rPr lang="zh-CN" altLang="en-US" sz="1750" dirty="0">
                <a:solidFill>
                  <a:srgbClr val="5258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是输入数据的特征，</a:t>
            </a:r>
            <a:r>
              <a:rPr lang="en-US" altLang="zh-CN" sz="1750" dirty="0">
                <a:solidFill>
                  <a:srgbClr val="5258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</a:t>
            </a:r>
            <a:r>
              <a:rPr lang="zh-CN" altLang="en-US" sz="1750" dirty="0">
                <a:solidFill>
                  <a:srgbClr val="5258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奖励</a:t>
            </a:r>
            <a:r>
              <a:rPr lang="en-US" altLang="zh-CN" sz="1750" dirty="0">
                <a:solidFill>
                  <a:srgbClr val="5258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  <a:r>
              <a:rPr lang="zh-CN" altLang="en-US" sz="1750" dirty="0">
                <a:solidFill>
                  <a:srgbClr val="5258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则是微调后的模型在验证集上的性能。动态构建：通过训练，这个智能体就能学会</a:t>
            </a:r>
            <a:r>
              <a:rPr lang="en-US" altLang="zh-CN" sz="1750" dirty="0">
                <a:solidFill>
                  <a:srgbClr val="5258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</a:t>
            </a:r>
            <a:r>
              <a:rPr lang="zh-CN" altLang="en-US" sz="1750" dirty="0">
                <a:solidFill>
                  <a:srgbClr val="5258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看到什么样的数据，就使用怎么样的</a:t>
            </a:r>
            <a:r>
              <a:rPr lang="en-US" altLang="zh-CN" sz="1750" dirty="0">
                <a:solidFill>
                  <a:srgbClr val="5258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PEFT</a:t>
            </a:r>
            <a:r>
              <a:rPr lang="zh-CN" altLang="en-US" sz="1750" dirty="0">
                <a:solidFill>
                  <a:srgbClr val="5258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设置</a:t>
            </a:r>
            <a:r>
              <a:rPr lang="en-US" altLang="zh-CN" sz="1750" dirty="0">
                <a:solidFill>
                  <a:srgbClr val="5258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  <a:r>
              <a:rPr lang="zh-CN" altLang="en-US" sz="1750" dirty="0">
                <a:solidFill>
                  <a:srgbClr val="5258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lang="zh-CN" altLang="en-US" sz="1750" dirty="0">
              <a:solidFill>
                <a:srgbClr val="5258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  <p:custDataLst>
      <p:tags r:id="rId4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fade/>
      </p:transition>
    </mc:Choice>
    <mc:Fallback>
      <p:transition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/>
              <a:t>总结</a:t>
            </a:r>
            <a:endParaRPr lang="zh-CN" altLang="en-US"/>
          </a:p>
        </p:txBody>
      </p:sp>
      <p:sp>
        <p:nvSpPr>
          <p:cNvPr id="6" name="节编号"/>
          <p:cNvSpPr>
            <a:spLocks noGrp="1"/>
          </p:cNvSpPr>
          <p:nvPr>
            <p:ph type="body" sz="quarter" idx="13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/>
              <a:t>0</a:t>
            </a:r>
            <a:r>
              <a:rPr lang="en-US" altLang="zh-CN"/>
              <a:t>4</a:t>
            </a:r>
            <a:endParaRPr lang="en-US" altLang="zh-CN"/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fade/>
      </p:transition>
    </mc:Choice>
    <mc:Fallback>
      <p:transition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1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/>
              <a:t>总结</a:t>
            </a:r>
            <a:endParaRPr lang="zh-CN" altLang="en-US"/>
          </a:p>
        </p:txBody>
      </p:sp>
      <p:sp>
        <p:nvSpPr>
          <p:cNvPr id="3" name="Text 0"/>
          <p:cNvSpPr/>
          <p:nvPr/>
        </p:nvSpPr>
        <p:spPr>
          <a:xfrm>
            <a:off x="762675" y="2721213"/>
            <a:ext cx="5670590" cy="708779"/>
          </a:xfrm>
          <a:prstGeom prst="rect">
            <a:avLst/>
          </a:prstGeom>
          <a:noFill/>
        </p:spPr>
        <p:txBody>
          <a:bodyPr wrap="none" lIns="0" tIns="0" rIns="0" bIns="0" rtlCol="0" anchor="t"/>
          <a:p>
            <a:pPr marL="0" indent="0" algn="l">
              <a:lnSpc>
                <a:spcPts val="5550"/>
              </a:lnSpc>
              <a:buNone/>
            </a:pPr>
            <a:r>
              <a:rPr lang="zh-CN" altLang="en-US" sz="2400" b="1" dirty="0">
                <a:solidFill>
                  <a:srgbClr val="373B48"/>
                </a:solidFill>
                <a:latin typeface="微软雅黑" panose="020B0503020204020204" charset="-122"/>
                <a:ea typeface="微软雅黑" panose="020B0503020204020204" charset="-122"/>
                <a:cs typeface="Mona Sans Semi Bold" pitchFamily="34" charset="-120"/>
              </a:rPr>
              <a:t>研究</a:t>
            </a:r>
            <a:r>
              <a:rPr lang="en-US" sz="2400" b="1" dirty="0">
                <a:solidFill>
                  <a:srgbClr val="373B48"/>
                </a:solidFill>
                <a:latin typeface="微软雅黑" panose="020B0503020204020204" charset="-122"/>
                <a:ea typeface="微软雅黑" panose="020B0503020204020204" charset="-122"/>
                <a:cs typeface="Mona Sans Semi Bold" pitchFamily="34" charset="-120"/>
              </a:rPr>
              <a:t>创新点</a:t>
            </a:r>
            <a:endParaRPr lang="en-US" sz="2400" b="1" dirty="0">
              <a:solidFill>
                <a:srgbClr val="373B48"/>
              </a:solidFill>
              <a:latin typeface="微软雅黑" panose="020B0503020204020204" charset="-122"/>
              <a:ea typeface="微软雅黑" panose="020B0503020204020204" charset="-122"/>
              <a:cs typeface="Mona Sans Semi Bold" pitchFamily="34" charset="-120"/>
            </a:endParaRPr>
          </a:p>
        </p:txBody>
      </p:sp>
      <p:sp>
        <p:nvSpPr>
          <p:cNvPr id="19" name="Shape 1"/>
          <p:cNvSpPr/>
          <p:nvPr/>
        </p:nvSpPr>
        <p:spPr>
          <a:xfrm>
            <a:off x="322580" y="3537585"/>
            <a:ext cx="3683000" cy="2457450"/>
          </a:xfrm>
          <a:prstGeom prst="roundRect">
            <a:avLst>
              <a:gd name="adj" fmla="val 3878"/>
            </a:avLst>
          </a:prstGeom>
          <a:solidFill>
            <a:srgbClr val="FFFFFF">
              <a:alpha val="95000"/>
            </a:srgbClr>
          </a:solidFill>
          <a:ln w="30480">
            <a:solidFill>
              <a:srgbClr val="C8CACF"/>
            </a:solidFill>
            <a:prstDash val="solid"/>
          </a:ln>
        </p:spPr>
      </p:sp>
      <p:sp>
        <p:nvSpPr>
          <p:cNvPr id="20" name="Shape 2"/>
          <p:cNvSpPr/>
          <p:nvPr/>
        </p:nvSpPr>
        <p:spPr>
          <a:xfrm>
            <a:off x="322580" y="3537585"/>
            <a:ext cx="124460" cy="2447290"/>
          </a:xfrm>
          <a:prstGeom prst="roundRect">
            <a:avLst>
              <a:gd name="adj" fmla="val 78139"/>
            </a:avLst>
          </a:prstGeom>
          <a:solidFill>
            <a:srgbClr val="373B48"/>
          </a:solidFill>
        </p:spPr>
      </p:sp>
      <p:sp>
        <p:nvSpPr>
          <p:cNvPr id="21" name="Text 3"/>
          <p:cNvSpPr/>
          <p:nvPr/>
        </p:nvSpPr>
        <p:spPr>
          <a:xfrm>
            <a:off x="701675" y="3794760"/>
            <a:ext cx="2900045" cy="353060"/>
          </a:xfrm>
          <a:prstGeom prst="rect">
            <a:avLst/>
          </a:prstGeom>
          <a:noFill/>
        </p:spPr>
        <p:txBody>
          <a:bodyPr wrap="none" lIns="0" tIns="0" rIns="0" bIns="0" rtlCol="0" anchor="t"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2586B"/>
                </a:solidFill>
                <a:latin typeface="微软雅黑" panose="020B0503020204020204" charset="-122"/>
                <a:ea typeface="微软雅黑" panose="020B0503020204020204" charset="-122"/>
                <a:cs typeface="Mona Sans Semi Bold" pitchFamily="34" charset="-120"/>
              </a:rPr>
              <a:t>视角创新</a:t>
            </a:r>
            <a:endParaRPr lang="en-US" sz="2200" dirty="0">
              <a:solidFill>
                <a:srgbClr val="52586B"/>
              </a:solidFill>
              <a:latin typeface="微软雅黑" panose="020B0503020204020204" charset="-122"/>
              <a:ea typeface="微软雅黑" panose="020B0503020204020204" charset="-122"/>
              <a:cs typeface="Mona Sans Semi Bold" pitchFamily="34" charset="-120"/>
            </a:endParaRPr>
          </a:p>
        </p:txBody>
      </p:sp>
      <p:sp>
        <p:nvSpPr>
          <p:cNvPr id="22" name="Text 4"/>
          <p:cNvSpPr/>
          <p:nvPr/>
        </p:nvSpPr>
        <p:spPr>
          <a:xfrm>
            <a:off x="701675" y="4284980"/>
            <a:ext cx="3227705" cy="1085215"/>
          </a:xfrm>
          <a:prstGeom prst="rect">
            <a:avLst/>
          </a:prstGeom>
          <a:noFill/>
        </p:spPr>
        <p:txBody>
          <a:bodyPr wrap="square" lIns="0" tIns="0" rIns="0" bIns="0" rtlCol="0" anchor="t"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258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首次将PEFT与DEFT置于统一框架下进行系统性交叉研究，打破以往将二者割裂看待的局限</a:t>
            </a:r>
            <a:endParaRPr lang="en-US" sz="1750" dirty="0">
              <a:solidFill>
                <a:srgbClr val="5258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Shape 5"/>
          <p:cNvSpPr/>
          <p:nvPr/>
        </p:nvSpPr>
        <p:spPr>
          <a:xfrm>
            <a:off x="4324350" y="3550920"/>
            <a:ext cx="3869055" cy="2438400"/>
          </a:xfrm>
          <a:prstGeom prst="roundRect">
            <a:avLst>
              <a:gd name="adj" fmla="val 3878"/>
            </a:avLst>
          </a:prstGeom>
          <a:solidFill>
            <a:srgbClr val="FFFFFF">
              <a:alpha val="95000"/>
            </a:srgbClr>
          </a:solidFill>
          <a:ln w="30480">
            <a:solidFill>
              <a:srgbClr val="C8CACF"/>
            </a:solidFill>
            <a:prstDash val="solid"/>
          </a:ln>
        </p:spPr>
      </p:sp>
      <p:sp>
        <p:nvSpPr>
          <p:cNvPr id="24" name="Shape 6"/>
          <p:cNvSpPr/>
          <p:nvPr/>
        </p:nvSpPr>
        <p:spPr>
          <a:xfrm>
            <a:off x="4313555" y="3556635"/>
            <a:ext cx="124460" cy="2447290"/>
          </a:xfrm>
          <a:prstGeom prst="roundRect">
            <a:avLst>
              <a:gd name="adj" fmla="val 78139"/>
            </a:avLst>
          </a:prstGeom>
          <a:solidFill>
            <a:srgbClr val="373B48"/>
          </a:solidFill>
        </p:spPr>
      </p:sp>
      <p:sp>
        <p:nvSpPr>
          <p:cNvPr id="25" name="Text 7"/>
          <p:cNvSpPr/>
          <p:nvPr/>
        </p:nvSpPr>
        <p:spPr>
          <a:xfrm>
            <a:off x="4745990" y="3794760"/>
            <a:ext cx="2900045" cy="353060"/>
          </a:xfrm>
          <a:prstGeom prst="rect">
            <a:avLst/>
          </a:prstGeom>
          <a:noFill/>
        </p:spPr>
        <p:txBody>
          <a:bodyPr wrap="none" lIns="0" tIns="0" rIns="0" bIns="0" rtlCol="0" anchor="t"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2586B"/>
                </a:solidFill>
                <a:latin typeface="微软雅黑" panose="020B0503020204020204" charset="-122"/>
                <a:ea typeface="微软雅黑" panose="020B0503020204020204" charset="-122"/>
                <a:cs typeface="Mona Sans Semi Bold" pitchFamily="34" charset="-120"/>
              </a:rPr>
              <a:t>机理探索</a:t>
            </a:r>
            <a:endParaRPr lang="en-US" sz="2200" dirty="0">
              <a:solidFill>
                <a:srgbClr val="52586B"/>
              </a:solidFill>
              <a:latin typeface="微软雅黑" panose="020B0503020204020204" charset="-122"/>
              <a:ea typeface="微软雅黑" panose="020B0503020204020204" charset="-122"/>
              <a:cs typeface="Mona Sans Semi Bold" pitchFamily="34" charset="-120"/>
            </a:endParaRPr>
          </a:p>
        </p:txBody>
      </p:sp>
      <p:sp>
        <p:nvSpPr>
          <p:cNvPr id="26" name="Text 8"/>
          <p:cNvSpPr/>
          <p:nvPr/>
        </p:nvSpPr>
        <p:spPr>
          <a:xfrm>
            <a:off x="4746625" y="4217670"/>
            <a:ext cx="3352165" cy="1446530"/>
          </a:xfrm>
          <a:prstGeom prst="rect">
            <a:avLst/>
          </a:prstGeom>
          <a:noFill/>
        </p:spPr>
        <p:txBody>
          <a:bodyPr wrap="square" lIns="0" tIns="0" rIns="0" bIns="0" rtlCol="0" anchor="t"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258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不再将PEFT方法视为同质化的"黑盒"，从数据感知角度深入探究其内在学习机制和偏好差异，为高效微调领域提供全新分析维度</a:t>
            </a:r>
            <a:endParaRPr lang="en-US" sz="1750" dirty="0">
              <a:solidFill>
                <a:srgbClr val="5258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Shape 9"/>
          <p:cNvSpPr/>
          <p:nvPr/>
        </p:nvSpPr>
        <p:spPr>
          <a:xfrm>
            <a:off x="8547100" y="3537585"/>
            <a:ext cx="3507740" cy="2447290"/>
          </a:xfrm>
          <a:prstGeom prst="roundRect">
            <a:avLst>
              <a:gd name="adj" fmla="val 3878"/>
            </a:avLst>
          </a:prstGeom>
          <a:solidFill>
            <a:srgbClr val="FFFFFF">
              <a:alpha val="95000"/>
            </a:srgbClr>
          </a:solidFill>
          <a:ln w="30480">
            <a:solidFill>
              <a:srgbClr val="C8CACF"/>
            </a:solidFill>
            <a:prstDash val="solid"/>
          </a:ln>
        </p:spPr>
      </p:sp>
      <p:sp>
        <p:nvSpPr>
          <p:cNvPr id="28" name="Shape 10"/>
          <p:cNvSpPr/>
          <p:nvPr/>
        </p:nvSpPr>
        <p:spPr>
          <a:xfrm>
            <a:off x="8558530" y="3542030"/>
            <a:ext cx="124460" cy="2447290"/>
          </a:xfrm>
          <a:prstGeom prst="roundRect">
            <a:avLst>
              <a:gd name="adj" fmla="val 78139"/>
            </a:avLst>
          </a:prstGeom>
          <a:solidFill>
            <a:srgbClr val="373B48"/>
          </a:solidFill>
        </p:spPr>
      </p:sp>
      <p:sp>
        <p:nvSpPr>
          <p:cNvPr id="29" name="Text 11"/>
          <p:cNvSpPr/>
          <p:nvPr/>
        </p:nvSpPr>
        <p:spPr>
          <a:xfrm>
            <a:off x="8991600" y="3794760"/>
            <a:ext cx="2900045" cy="353060"/>
          </a:xfrm>
          <a:prstGeom prst="rect">
            <a:avLst/>
          </a:prstGeom>
          <a:noFill/>
        </p:spPr>
        <p:txBody>
          <a:bodyPr wrap="none" lIns="0" tIns="0" rIns="0" bIns="0" rtlCol="0" anchor="t"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2586B"/>
                </a:solidFill>
                <a:latin typeface="微软雅黑" panose="020B0503020204020204" charset="-122"/>
                <a:ea typeface="微软雅黑" panose="020B0503020204020204" charset="-122"/>
                <a:cs typeface="Mona Sans Semi Bold" pitchFamily="34" charset="-120"/>
              </a:rPr>
              <a:t>方法创新</a:t>
            </a:r>
            <a:endParaRPr lang="en-US" sz="2200" dirty="0">
              <a:solidFill>
                <a:srgbClr val="52586B"/>
              </a:solidFill>
              <a:latin typeface="微软雅黑" panose="020B0503020204020204" charset="-122"/>
              <a:ea typeface="微软雅黑" panose="020B0503020204020204" charset="-122"/>
              <a:cs typeface="Mona Sans Semi Bold" pitchFamily="34" charset="-120"/>
            </a:endParaRPr>
          </a:p>
        </p:txBody>
      </p:sp>
      <p:sp>
        <p:nvSpPr>
          <p:cNvPr id="30" name="Text 12"/>
          <p:cNvSpPr/>
          <p:nvPr/>
        </p:nvSpPr>
        <p:spPr>
          <a:xfrm>
            <a:off x="8839835" y="4398010"/>
            <a:ext cx="2894965" cy="1085215"/>
          </a:xfrm>
          <a:prstGeom prst="rect">
            <a:avLst/>
          </a:prstGeom>
          <a:noFill/>
        </p:spPr>
        <p:txBody>
          <a:bodyPr wrap="square" lIns="0" tIns="0" rIns="0" bIns="0" rtlCol="0" anchor="t"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258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探索从"静态组合"走向"动态协同"的微调新范式，让微调过程更加自动化和智能化</a:t>
            </a:r>
            <a:endParaRPr lang="en-US" sz="1750" dirty="0">
              <a:solidFill>
                <a:srgbClr val="5258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762635" y="1413510"/>
            <a:ext cx="1014476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fontAlgn="auto">
              <a:lnSpc>
                <a:spcPct val="150000"/>
              </a:lnSpc>
            </a:pPr>
            <a:r>
              <a:rPr lang="zh-CN" altLang="en-US" sz="2400" dirty="0">
                <a:solidFill>
                  <a:srgbClr val="373B48"/>
                </a:solidFill>
                <a:latin typeface="微软雅黑" panose="020B0503020204020204" charset="-122"/>
                <a:ea typeface="微软雅黑" panose="020B0503020204020204" charset="-122"/>
                <a:cs typeface="Mona Sans Semi Bold" pitchFamily="34" charset="-120"/>
              </a:rPr>
              <a:t>本研究旨在建立一个更具实际意义的高效微调理论与方法，为大语言模型的实际应用提供指导。</a:t>
            </a:r>
            <a:endParaRPr lang="zh-CN" altLang="en-US" sz="2400" dirty="0">
              <a:solidFill>
                <a:srgbClr val="373B48"/>
              </a:solidFill>
              <a:latin typeface="微软雅黑" panose="020B0503020204020204" charset="-122"/>
              <a:ea typeface="微软雅黑" panose="020B0503020204020204" charset="-122"/>
              <a:cs typeface="Mona Sans Semi Bold" pitchFamily="34" charset="-120"/>
            </a:endParaRPr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fade/>
      </p:transition>
    </mc:Choice>
    <mc:Fallback>
      <p:transition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>
            <a:normAutofit fontScale="90000"/>
          </a:bodyPr>
          <a:lstStyle/>
          <a:p>
            <a:r>
              <a:rPr lang="zh-CN" altLang="en-US"/>
              <a:t>感</a:t>
            </a:r>
            <a:r>
              <a:rPr lang="en-US" altLang="zh-CN"/>
              <a:t>谢</a:t>
            </a:r>
            <a:r>
              <a:rPr lang="zh-CN" altLang="en-US"/>
              <a:t>各位老师的批评</a:t>
            </a:r>
            <a:r>
              <a:rPr lang="zh-CN" altLang="en-US"/>
              <a:t>指正</a:t>
            </a:r>
            <a:endParaRPr lang="zh-CN" altLang="en-US"/>
          </a:p>
        </p:txBody>
      </p:sp>
      <p:sp>
        <p:nvSpPr>
          <p:cNvPr id="10" name="署名"/>
          <p:cNvSpPr>
            <a:spLocks noGrp="1"/>
          </p:cNvSpPr>
          <p:nvPr>
            <p:ph type="body" sz="quarter" idx="17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/>
              <a:t>汇报人: 林肯</a:t>
            </a:r>
            <a:r>
              <a:rPr lang="zh-CN" altLang="en-US"/>
              <a:t>达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fade/>
      </p:transition>
    </mc:Choice>
    <mc:Fallback>
      <p:transition>
        <p:fade/>
      </p:transition>
    </mc:Fallback>
  </mc:AlternateContent>
</p:sld>
</file>

<file path=ppt/tags/tag1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1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1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.xml><?xml version="1.0" encoding="utf-8"?>
<p:tagLst xmlns:p="http://schemas.openxmlformats.org/presentationml/2006/main">
  <p:tag name="KSO_WM_UNIT_TYPE" val="i"/>
  <p:tag name="KSO_WM_UNIT_INDEX" val="5"/>
  <p:tag name="KSO_WM_BEAUTIFY_FLAG" val="#wm#"/>
  <p:tag name="KSO_WM_TAG_VERSION" val="3.0"/>
  <p:tag name="KSO_WM_UNIT_ID" val="_1*i*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  <p:tag name="KSO_WM_UNIT_ID" val="_1*i*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D" val="_1*i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1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编辑母版标题"/>
  <p:tag name="KSO_WM_UNIT_ID" val="_1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13"/>
</p:tagLst>
</file>

<file path=ppt/tags/tag11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  <p:tag name="KSO_WM_UNIT_PRESET_TEXT" val="单击此处编辑副标题"/>
  <p:tag name="KSO_WM_UNIT_ID" val="_1*b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7"/>
</p:tagLst>
</file>

<file path=ppt/tags/tag12.xml><?xml version="1.0" encoding="utf-8"?>
<p:tagLst xmlns:p="http://schemas.openxmlformats.org/presentationml/2006/main">
  <p:tag name="KSO_WM_UNIT_TYPE" val="f"/>
  <p:tag name="KSO_WM_UNIT_SUBTYPE" val="b"/>
  <p:tag name="KSO_WM_UNIT_INDEX" val="1"/>
  <p:tag name="KSO_WM_BEAUTIFY_FLAG" val="#wm#"/>
  <p:tag name="KSO_WM_TAG_VERSION" val="3.0"/>
  <p:tag name="KSO_WM_UNIT_PRESET_TEXT" val="署名"/>
  <p:tag name="KSO_WM_UNIT_ID" val="_1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VALUE" val="16"/>
</p:tagLst>
</file>

<file path=ppt/tags/tag13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2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9"/>
</p:tagLst>
</file>

<file path=ppt/tags/tag14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2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5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6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7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8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9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0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1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3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2.xml><?xml version="1.0" encoding="utf-8"?>
<p:tagLst xmlns:p="http://schemas.openxmlformats.org/presentationml/2006/main">
  <p:tag name="KSO_WM_UNIT_TYPE" val="i"/>
  <p:tag name="KSO_WM_UNIT_INDEX" val="5"/>
  <p:tag name="KSO_WM_BEAUTIFY_FLAG" val="#wm#"/>
  <p:tag name="KSO_WM_TAG_VERSION" val="3.0"/>
  <p:tag name="KSO_WM_UNIT_ID" val="_3*i*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3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  <p:tag name="KSO_WM_UNIT_ID" val="_3*i*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4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3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5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3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6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D" val="_3*i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7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标题"/>
  <p:tag name="KSO_WM_UNIT_ID" val="_3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1"/>
  <p:tag name="KSO_WM_UNIT_VALUE" val="3"/>
</p:tagLst>
</file>

<file path=ppt/tags/tag28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9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0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1.xml><?xml version="1.0" encoding="utf-8"?>
<p:tagLst xmlns:p="http://schemas.openxmlformats.org/presentationml/2006/main">
  <p:tag name="KSO_WM_UNIT_TYPE" val="i"/>
  <p:tag name="KSO_WM_UNIT_INDEX" val="5"/>
  <p:tag name="KSO_WM_BEAUTIFY_FLAG" val="#wm#"/>
  <p:tag name="KSO_WM_TAG_VERSION" val="3.0"/>
  <p:tag name="KSO_WM_UNIT_ID" val="_4*i*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2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  <p:tag name="KSO_WM_UNIT_ID" val="_4*i*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3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D" val="_4*i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4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4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5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4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6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4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7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4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18"/>
</p:tagLst>
</file>

<file path=ppt/tags/tag38.xml><?xml version="1.0" encoding="utf-8"?>
<p:tagLst xmlns:p="http://schemas.openxmlformats.org/presentationml/2006/main">
  <p:tag name="KSO_WM_UNIT_TYPE" val="e"/>
  <p:tag name="KSO_WM_UNIT_INDEX" val="1"/>
  <p:tag name="KSO_WM_BEAUTIFY_FLAG" val="#wm#"/>
  <p:tag name="KSO_WM_TAG_VERSION" val="3.0"/>
  <p:tag name="KSO_WM_UNIT_PRESET_TEXT" val="编号"/>
  <p:tag name="KSO_WM_UNIT_ID" val="_4*e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VALUE" val="2"/>
</p:tagLst>
</file>

<file path=ppt/tags/tag39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5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40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5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1.xml><?xml version="1.0" encoding="utf-8"?>
<p:tagLst xmlns:p="http://schemas.openxmlformats.org/presentationml/2006/main">
  <p:tag name="KSO_WM_UNIT_TYPE" val="f"/>
  <p:tag name="KSO_WM_UNIT_SUBTYPE" val="a"/>
  <p:tag name="KSO_WM_UNIT_INDEX" val="2"/>
  <p:tag name="KSO_WM_BEAUTIFY_FLAG" val="#wm#"/>
  <p:tag name="KSO_WM_TAG_VERSION" val="3.0"/>
  <p:tag name="KSO_WM_UNIT_PRESET_TEXT" val="单击此处编辑母版文本样式&#10;第二级&#10;第三级&#10;第四级&#10;第五级"/>
  <p:tag name="KSO_WM_UNIT_ID" val="_5*f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2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3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4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5.xml><?xml version="1.0" encoding="utf-8"?>
<p:tagLst xmlns:p="http://schemas.openxmlformats.org/presentationml/2006/main">
  <p:tag name="KSO_WM_UNIT_TYPE" val="h_a"/>
  <p:tag name="KSO_WM_UNIT_INDEX" val="1_1"/>
  <p:tag name="KSO_WM_BEAUTIFY_FLAG" val="#wm#"/>
  <p:tag name="KSO_WM_TAG_VERSION" val="3.0"/>
  <p:tag name="KSO_WM_UNIT_PRESET_TEXT" val="单击此处编辑母版标题样式"/>
  <p:tag name="KSO_WM_UNIT_ID" val="_6*h_a*1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  <p:tag name="KSO_WM_UNIT_ISCONTENTSTITLE" val="0"/>
</p:tagLst>
</file>

<file path=ppt/tags/tag46.xml><?xml version="1.0" encoding="utf-8"?>
<p:tagLst xmlns:p="http://schemas.openxmlformats.org/presentationml/2006/main">
  <p:tag name="KSO_WM_UNIT_TYPE" val="h_f"/>
  <p:tag name="KSO_WM_UNIT_SUBTYPE" val="a"/>
  <p:tag name="KSO_WM_UNIT_INDEX" val="1_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6*h_f*1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</p:tagLst>
</file>

<file path=ppt/tags/tag47.xml><?xml version="1.0" encoding="utf-8"?>
<p:tagLst xmlns:p="http://schemas.openxmlformats.org/presentationml/2006/main">
  <p:tag name="KSO_WM_UNIT_TYPE" val="h_a"/>
  <p:tag name="KSO_WM_UNIT_INDEX" val="2_1"/>
  <p:tag name="KSO_WM_BEAUTIFY_FLAG" val="#wm#"/>
  <p:tag name="KSO_WM_TAG_VERSION" val="3.0"/>
  <p:tag name="KSO_WM_UNIT_PRESET_TEXT" val="单击此处编辑母版标题样式"/>
  <p:tag name="KSO_WM_UNIT_ID" val="_6*h_a*2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  <p:tag name="KSO_WM_UNIT_ISCONTENTSTITLE" val="0"/>
</p:tagLst>
</file>

<file path=ppt/tags/tag48.xml><?xml version="1.0" encoding="utf-8"?>
<p:tagLst xmlns:p="http://schemas.openxmlformats.org/presentationml/2006/main">
  <p:tag name="KSO_WM_UNIT_TYPE" val="h_f"/>
  <p:tag name="KSO_WM_UNIT_SUBTYPE" val="a"/>
  <p:tag name="KSO_WM_UNIT_INDEX" val="2_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6*h_f*2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</p:tagLst>
</file>

<file path=ppt/tags/tag49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0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1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2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6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53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7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54.xml><?xml version="1.0" encoding="utf-8"?>
<p:tagLst xmlns:p="http://schemas.openxmlformats.org/presentationml/2006/main">
  <p:tag name="KSO_WM_UNIT_ID" val="_7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5.xml><?xml version="1.0" encoding="utf-8"?>
<p:tagLst xmlns:p="http://schemas.openxmlformats.org/presentationml/2006/main">
  <p:tag name="KSO_WM_UNIT_ID" val="_7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6.xml><?xml version="1.0" encoding="utf-8"?>
<p:tagLst xmlns:p="http://schemas.openxmlformats.org/presentationml/2006/main">
  <p:tag name="KSO_WM_UNIT_ID" val="_7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7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8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9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0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9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1.xml><?xml version="1.0" encoding="utf-8"?>
<p:tagLst xmlns:p="http://schemas.openxmlformats.org/presentationml/2006/main">
  <p:tag name="KSO_WM_UNIT_ID" val="_9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2.xml><?xml version="1.0" encoding="utf-8"?>
<p:tagLst xmlns:p="http://schemas.openxmlformats.org/presentationml/2006/main">
  <p:tag name="KSO_WM_UNIT_ID" val="_9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3.xml><?xml version="1.0" encoding="utf-8"?>
<p:tagLst xmlns:p="http://schemas.openxmlformats.org/presentationml/2006/main">
  <p:tag name="KSO_WM_UNIT_ID" val="_9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4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  <p:tag name="KSO_WM_UNIT_PRESET_TEXT" val="单击此处编辑副标题"/>
  <p:tag name="KSO_WM_UNIT_ID" val="_10*b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41"/>
</p:tagLst>
</file>

<file path=ppt/tags/tag65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6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7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8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10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9"/>
</p:tagLst>
</file>

<file path=ppt/tags/tag69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11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0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11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1.xml><?xml version="1.0" encoding="utf-8"?>
<p:tagLst xmlns:p="http://schemas.openxmlformats.org/presentationml/2006/main">
  <p:tag name="KSO_WM_UNIT_TYPE" val="i"/>
  <p:tag name="KSO_WM_UNIT_INDEX" val="5"/>
  <p:tag name="KSO_WM_BEAUTIFY_FLAG" val="#wm#"/>
  <p:tag name="KSO_WM_TAG_VERSION" val="3.0"/>
  <p:tag name="KSO_WM_UNIT_ID" val="_11*i*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2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  <p:tag name="KSO_WM_UNIT_ID" val="_11*i*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3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D" val="_11*i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4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11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5.xml><?xml version="1.0" encoding="utf-8"?>
<p:tagLst xmlns:p="http://schemas.openxmlformats.org/presentationml/2006/main">
  <p:tag name="KSO_WM_UNIT_ID" val="_1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6.xml><?xml version="1.0" encoding="utf-8"?>
<p:tagLst xmlns:p="http://schemas.openxmlformats.org/presentationml/2006/main">
  <p:tag name="KSO_WM_UNIT_ID" val="_1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7.xml><?xml version="1.0" encoding="utf-8"?>
<p:tagLst xmlns:p="http://schemas.openxmlformats.org/presentationml/2006/main">
  <p:tag name="KSO_WM_UNIT_ID" val="_1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8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编辑母版标题"/>
  <p:tag name="KSO_WM_UNIT_ID" val="_11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10"/>
</p:tagLst>
</file>

<file path=ppt/tags/tag79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  <p:tag name="KSO_WM_UNIT_PRESET_TEXT" val="单击此处编辑副标题"/>
  <p:tag name="KSO_WM_UNIT_ID" val="_11*b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5"/>
</p:tagLst>
</file>

<file path=ppt/tags/tag80.xml><?xml version="1.0" encoding="utf-8"?>
<p:tagLst xmlns:p="http://schemas.openxmlformats.org/presentationml/2006/main">
  <p:tag name="KSO_WM_UNIT_TYPE" val="f"/>
  <p:tag name="KSO_WM_UNIT_SUBTYPE" val="b"/>
  <p:tag name="KSO_WM_UNIT_INDEX" val="1"/>
  <p:tag name="KSO_WM_BEAUTIFY_FLAG" val="#wm#"/>
  <p:tag name="KSO_WM_TAG_VERSION" val="3.0"/>
  <p:tag name="KSO_WM_UNIT_PRESET_TEXT" val="署名"/>
  <p:tag name="KSO_WM_UNIT_ID" val="_11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VALUE" val="10"/>
</p:tagLst>
</file>

<file path=ppt/tags/tag81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1.0"/>
  <p:tag name="KSO_WM_UNIT_PRESET_TEXT" val="单击此处编辑母版标题样式"/>
  <p:tag name="KSO_WM_UNIT_ID" val="_0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TEMPLATE_CATEGORY" val="custom"/>
  <p:tag name="KSO_WM_TEMPLATE_INDEX" val="20238601"/>
</p:tagLst>
</file>

<file path=ppt/tags/tag82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1.0"/>
  <p:tag name="KSO_WM_UNIT_PRESET_TEXT" val="单击此处编辑母版文本样式&#10;第二级&#10;第三级&#10;第四级&#10;第五级"/>
  <p:tag name="KSO_WM_UNIT_ID" val="_0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CATEGORY" val="custom"/>
  <p:tag name="KSO_WM_TEMPLATE_INDEX" val="20238601"/>
</p:tagLst>
</file>

<file path=ppt/tags/tag83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4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5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6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0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7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0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8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0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9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D" val="_0*i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0.xml><?xml version="1.0" encoding="utf-8"?>
<p:tagLst xmlns:p="http://schemas.openxmlformats.org/presentationml/2006/main">
  <p:tag name="KSO_WM_TEMPLATE_SUBCATEGORY" val="29"/>
  <p:tag name="KSO_WM_TEMPLATE_COLOR_TYPE" val="0"/>
  <p:tag name="KSO_WM_TAG_VERSION" val="3.0"/>
  <p:tag name="KSO_WM_TEMPLATE_THUMBS_INDEX" val="1、9"/>
  <p:tag name="KSO_WM_BEAUTIFY_FLAG" val="#wm#"/>
  <p:tag name="KSO_WM_TEMPLATE_INDEX" val="20238601"/>
  <p:tag name="KSO_WM_TEMPLATE_CATEGORY" val="custom"/>
  <p:tag name="KSO_WM_TEMPLATE_MASTER_TYPE" val="0"/>
</p:tagLst>
</file>

<file path=ppt/tags/tag91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ID" val="custom20238601_1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8601"/>
  <p:tag name="KSO_WM_TEMPLATE_CATEGORY" val="custom"/>
  <p:tag name="KSO_WM_UNIT_ISCONTENTSTITLE" val="0"/>
  <p:tag name="KSO_WM_UNIT_PRESET_TEXT" val="单击此处添加文档标题"/>
  <p:tag name="KSO_WM_UNIT_TEXT_TYPE" val="1"/>
</p:tagLst>
</file>

<file path=ppt/tags/tag92.xml><?xml version="1.0" encoding="utf-8"?>
<p:tagLst xmlns:p="http://schemas.openxmlformats.org/presentationml/2006/main">
  <p:tag name="KSO_WM_UNIT_TYPE" val="f"/>
  <p:tag name="KSO_WM_UNIT_SUBTYPE" val="b"/>
  <p:tag name="KSO_WM_UNIT_INDEX" val="1"/>
  <p:tag name="KSO_WM_BEAUTIFY_FLAG" val="#wm#"/>
  <p:tag name="KSO_WM_TAG_VERSION" val="3.0"/>
  <p:tag name="KSO_WM_UNIT_ID" val="custom20238601_1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8601"/>
  <p:tag name="KSO_WM_TEMPLATE_CATEGORY" val="custom"/>
</p:tagLst>
</file>

<file path=ppt/tags/tag93.xml><?xml version="1.0" encoding="utf-8"?>
<p:tagLst xmlns:p="http://schemas.openxmlformats.org/presentationml/2006/main">
  <p:tag name="KSO_WM_SLIDE_TYPE" val="title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TEMPLATE_THUMBS_INDEX" val="1、9"/>
  <p:tag name="KSO_WM_BEAUTIFY_FLAG" val="#wm#"/>
  <p:tag name="KSO_WM_TEMPLATE_INDEX" val="20238601"/>
  <p:tag name="KSO_WM_TEMPLATE_CATEGORY" val="custom"/>
  <p:tag name="KSO_WM_SLIDE_INDEX" val="1"/>
  <p:tag name="KSO_WM_SLIDE_ID" val="custom20238601_1"/>
  <p:tag name="KSO_WM_TEMPLATE_MASTER_TYPE" val="0"/>
  <p:tag name="KSO_WM_SLIDE_LAYOUT" val="a_b_f"/>
  <p:tag name="KSO_WM_SLIDE_LAYOUT_CNT" val="1_1_1"/>
</p:tagLst>
</file>

<file path=ppt/tags/tag94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ISCONTENTSTITLE" val="1"/>
  <p:tag name="KSO_WM_DIAGRAM_GROUP_CODE" val="l1-1"/>
  <p:tag name="KSO_WM_DIAGRAM_COLOR_TRICK" val="1"/>
  <p:tag name="KSO_WM_DIAGRAM_COLOR_TEXT_CAN_REMOVE" val="n"/>
  <p:tag name="KSO_WM_UNIT_ID" val="custom20238601_5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8601"/>
  <p:tag name="KSO_WM_TEMPLATE_CATEGORY" val="custom"/>
  <p:tag name="KSO_WM_UNIT_TEXT_FILL_FORE_SCHEMECOLOR_INDEX" val="13"/>
  <p:tag name="KSO_WM_UNIT_TEXT_FILL_TYPE" val="1"/>
  <p:tag name="KSO_WM_UNIT_USESOURCEFORMAT_APPLY" val="0"/>
</p:tagLst>
</file>

<file path=ppt/tags/tag95.xml><?xml version="1.0" encoding="utf-8"?>
<p:tagLst xmlns:p="http://schemas.openxmlformats.org/presentationml/2006/main">
  <p:tag name="KSO_WM_UNIT_TYPE" val="l_h_i"/>
  <p:tag name="KSO_WM_UNIT_SUBTYPE" val="d"/>
  <p:tag name="KSO_WM_UNIT_INDEX" val="1_1_1"/>
  <p:tag name="KSO_WM_BEAUTIFY_FLAG" val="#wm#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20238601_5*l_h_i*1_1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8601"/>
  <p:tag name="KSO_WM_TEMPLATE_CATEGORY" val="custom"/>
  <p:tag name="KSO_WM_DIAGRAM_MAX_ITEMCNT" val="6"/>
  <p:tag name="KSO_WM_DIAGRAM_MIN_ITEMCNT" val="2"/>
  <p:tag name="KSO_WM_DIAGRAM_VIRTUALLY_FRAME" val="{&quot;height&quot;:435.77197265625,&quot;left&quot;:409.29701397753144,&quot;top&quot;:52.114013671875,&quot;width&quot;:480.29998779296875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.400000005960464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5"/>
  <p:tag name="KSO_WM_UNIT_LINE_FILL_TYPE" val="2"/>
  <p:tag name="KSO_WM_UNIT_TEXT_FILL_FORE_SCHEMECOLOR_INDEX" val="13"/>
  <p:tag name="KSO_WM_UNIT_TEXT_FILL_TYPE" val="1"/>
  <p:tag name="KSO_WM_UNIT_USESOURCEFORMAT_APPLY" val="0"/>
</p:tagLst>
</file>

<file path=ppt/tags/tag96.xml><?xml version="1.0" encoding="utf-8"?>
<p:tagLst xmlns:p="http://schemas.openxmlformats.org/presentationml/2006/main">
  <p:tag name="KSO_WM_UNIT_TYPE" val="l_h_f"/>
  <p:tag name="KSO_WM_UNIT_INDEX" val="1_1_1"/>
  <p:tag name="KSO_WM_BEAUTIFY_FLAG" val="#wm#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20238601_5*l_h_f*1_1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8601"/>
  <p:tag name="KSO_WM_TEMPLATE_CATEGORY" val="custom"/>
  <p:tag name="KSO_WM_UNIT_SUBTYPE" val="a"/>
  <p:tag name="KSO_WM_UNIT_PRESET_TEXT" val="单击此处添加目录项标题"/>
  <p:tag name="KSO_WM_UNIT_TEXT_TYPE" val="1"/>
  <p:tag name="KSO_WM_DIAGRAM_MAX_ITEMCNT" val="6"/>
  <p:tag name="KSO_WM_DIAGRAM_MIN_ITEMCNT" val="2"/>
  <p:tag name="KSO_WM_DIAGRAM_VIRTUALLY_FRAME" val="{&quot;height&quot;:435.77197265625,&quot;left&quot;:409.29701397753144,&quot;top&quot;:52.114013671875,&quot;width&quot;:480.299987792968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3"/>
  <p:tag name="KSO_WM_UNIT_TEXT_FILL_TYPE" val="1"/>
  <p:tag name="KSO_WM_UNIT_USESOURCEFORMAT_APPLY" val="0"/>
</p:tagLst>
</file>

<file path=ppt/tags/tag97.xml><?xml version="1.0" encoding="utf-8"?>
<p:tagLst xmlns:p="http://schemas.openxmlformats.org/presentationml/2006/main">
  <p:tag name="KSO_WM_UNIT_TYPE" val="l_h_i"/>
  <p:tag name="KSO_WM_UNIT_SUBTYPE" val="d"/>
  <p:tag name="KSO_WM_UNIT_INDEX" val="1_2_1"/>
  <p:tag name="KSO_WM_BEAUTIFY_FLAG" val="#wm#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20238601_5*l_h_i*1_2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8601"/>
  <p:tag name="KSO_WM_TEMPLATE_CATEGORY" val="custom"/>
  <p:tag name="KSO_WM_DIAGRAM_MAX_ITEMCNT" val="6"/>
  <p:tag name="KSO_WM_DIAGRAM_MIN_ITEMCNT" val="2"/>
  <p:tag name="KSO_WM_DIAGRAM_VIRTUALLY_FRAME" val="{&quot;height&quot;:435.77197265625,&quot;left&quot;:409.29701397753144,&quot;top&quot;:52.114013671875,&quot;width&quot;:480.29998779296875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.400000005960464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5"/>
  <p:tag name="KSO_WM_UNIT_LINE_FILL_TYPE" val="2"/>
  <p:tag name="KSO_WM_UNIT_TEXT_FILL_FORE_SCHEMECOLOR_INDEX" val="13"/>
  <p:tag name="KSO_WM_UNIT_TEXT_FILL_TYPE" val="1"/>
  <p:tag name="KSO_WM_UNIT_USESOURCEFORMAT_APPLY" val="0"/>
</p:tagLst>
</file>

<file path=ppt/tags/tag98.xml><?xml version="1.0" encoding="utf-8"?>
<p:tagLst xmlns:p="http://schemas.openxmlformats.org/presentationml/2006/main">
  <p:tag name="KSO_WM_UNIT_TYPE" val="l_h_f"/>
  <p:tag name="KSO_WM_UNIT_INDEX" val="1_2_1"/>
  <p:tag name="KSO_WM_BEAUTIFY_FLAG" val="#wm#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20238601_5*l_h_f*1_2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8601"/>
  <p:tag name="KSO_WM_TEMPLATE_CATEGORY" val="custom"/>
  <p:tag name="KSO_WM_UNIT_SUBTYPE" val="a"/>
  <p:tag name="KSO_WM_UNIT_PRESET_TEXT" val="单击此处添加目录项标题"/>
  <p:tag name="KSO_WM_UNIT_TEXT_TYPE" val="1"/>
  <p:tag name="KSO_WM_DIAGRAM_MAX_ITEMCNT" val="6"/>
  <p:tag name="KSO_WM_DIAGRAM_MIN_ITEMCNT" val="2"/>
  <p:tag name="KSO_WM_DIAGRAM_VIRTUALLY_FRAME" val="{&quot;height&quot;:435.77197265625,&quot;left&quot;:409.29701397753144,&quot;top&quot;:52.114013671875,&quot;width&quot;:480.299987792968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3"/>
  <p:tag name="KSO_WM_UNIT_TEXT_FILL_TYPE" val="1"/>
  <p:tag name="KSO_WM_UNIT_USESOURCEFORMAT_APPLY" val="0"/>
</p:tagLst>
</file>

<file path=ppt/tags/tag99.xml><?xml version="1.0" encoding="utf-8"?>
<p:tagLst xmlns:p="http://schemas.openxmlformats.org/presentationml/2006/main">
  <p:tag name="KSO_WM_UNIT_TYPE" val="l_h_i"/>
  <p:tag name="KSO_WM_UNIT_SUBTYPE" val="d"/>
  <p:tag name="KSO_WM_UNIT_INDEX" val="1_3_1"/>
  <p:tag name="KSO_WM_BEAUTIFY_FLAG" val="#wm#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20238601_5*l_h_i*1_3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8601"/>
  <p:tag name="KSO_WM_TEMPLATE_CATEGORY" val="custom"/>
  <p:tag name="KSO_WM_DIAGRAM_MAX_ITEMCNT" val="6"/>
  <p:tag name="KSO_WM_DIAGRAM_MIN_ITEMCNT" val="2"/>
  <p:tag name="KSO_WM_DIAGRAM_VIRTUALLY_FRAME" val="{&quot;height&quot;:435.77197265625,&quot;left&quot;:409.29701397753144,&quot;top&quot;:52.114013671875,&quot;width&quot;:480.29998779296875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.400000005960464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5"/>
  <p:tag name="KSO_WM_UNIT_LINE_FILL_TYPE" val="2"/>
  <p:tag name="KSO_WM_UNIT_TEXT_FILL_FORE_SCHEMECOLOR_INDEX" val="13"/>
  <p:tag name="KSO_WM_UNIT_TEXT_FILL_TYPE" val="1"/>
  <p:tag name="KSO_WM_UNIT_USESOURCEFORMAT_APPLY" val="0"/>
</p:tagLst>
</file>

<file path=ppt/tags/tag100.xml><?xml version="1.0" encoding="utf-8"?>
<p:tagLst xmlns:p="http://schemas.openxmlformats.org/presentationml/2006/main">
  <p:tag name="KSO_WM_UNIT_TYPE" val="l_h_f"/>
  <p:tag name="KSO_WM_UNIT_INDEX" val="1_3_1"/>
  <p:tag name="KSO_WM_BEAUTIFY_FLAG" val="#wm#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20238601_5*l_h_f*1_3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8601"/>
  <p:tag name="KSO_WM_TEMPLATE_CATEGORY" val="custom"/>
  <p:tag name="KSO_WM_UNIT_SUBTYPE" val="a"/>
  <p:tag name="KSO_WM_UNIT_PRESET_TEXT" val="单击此处添加目录项标题"/>
  <p:tag name="KSO_WM_UNIT_TEXT_TYPE" val="1"/>
  <p:tag name="KSO_WM_DIAGRAM_MAX_ITEMCNT" val="6"/>
  <p:tag name="KSO_WM_DIAGRAM_MIN_ITEMCNT" val="2"/>
  <p:tag name="KSO_WM_DIAGRAM_VIRTUALLY_FRAME" val="{&quot;height&quot;:435.77197265625,&quot;left&quot;:409.29701397753144,&quot;top&quot;:52.114013671875,&quot;width&quot;:480.299987792968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3"/>
  <p:tag name="KSO_WM_UNIT_TEXT_FILL_TYPE" val="1"/>
  <p:tag name="KSO_WM_UNIT_USESOURCEFORMAT_APPLY" val="0"/>
</p:tagLst>
</file>

<file path=ppt/tags/tag101.xml><?xml version="1.0" encoding="utf-8"?>
<p:tagLst xmlns:p="http://schemas.openxmlformats.org/presentationml/2006/main">
  <p:tag name="KSO_WM_UNIT_TYPE" val="l_h_i"/>
  <p:tag name="KSO_WM_UNIT_SUBTYPE" val="d"/>
  <p:tag name="KSO_WM_UNIT_INDEX" val="1_5_1"/>
  <p:tag name="KSO_WM_BEAUTIFY_FLAG" val="#wm#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20238601_5*l_h_i*1_5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8601"/>
  <p:tag name="KSO_WM_TEMPLATE_CATEGORY" val="custom"/>
  <p:tag name="KSO_WM_DIAGRAM_MAX_ITEMCNT" val="6"/>
  <p:tag name="KSO_WM_DIAGRAM_MIN_ITEMCNT" val="2"/>
  <p:tag name="KSO_WM_DIAGRAM_VIRTUALLY_FRAME" val="{&quot;height&quot;:435.77197265625,&quot;left&quot;:409.29701397753144,&quot;top&quot;:52.114013671875,&quot;width&quot;:480.29998779296875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.400000005960464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5"/>
  <p:tag name="KSO_WM_UNIT_LINE_FILL_TYPE" val="2"/>
  <p:tag name="KSO_WM_UNIT_TEXT_FILL_FORE_SCHEMECOLOR_INDEX" val="13"/>
  <p:tag name="KSO_WM_UNIT_TEXT_FILL_TYPE" val="1"/>
  <p:tag name="KSO_WM_UNIT_USESOURCEFORMAT_APPLY" val="0"/>
</p:tagLst>
</file>

<file path=ppt/tags/tag102.xml><?xml version="1.0" encoding="utf-8"?>
<p:tagLst xmlns:p="http://schemas.openxmlformats.org/presentationml/2006/main">
  <p:tag name="KSO_WM_UNIT_TYPE" val="l_h_f"/>
  <p:tag name="KSO_WM_UNIT_INDEX" val="1_5_1"/>
  <p:tag name="KSO_WM_BEAUTIFY_FLAG" val="#wm#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20238601_5*l_h_f*1_5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8601"/>
  <p:tag name="KSO_WM_TEMPLATE_CATEGORY" val="custom"/>
  <p:tag name="KSO_WM_UNIT_SUBTYPE" val="a"/>
  <p:tag name="KSO_WM_UNIT_PRESET_TEXT" val="单击此处添加目录项标题"/>
  <p:tag name="KSO_WM_UNIT_TEXT_TYPE" val="1"/>
  <p:tag name="KSO_WM_DIAGRAM_MAX_ITEMCNT" val="6"/>
  <p:tag name="KSO_WM_DIAGRAM_MIN_ITEMCNT" val="2"/>
  <p:tag name="KSO_WM_DIAGRAM_VIRTUALLY_FRAME" val="{&quot;height&quot;:435.77197265625,&quot;left&quot;:409.29701397753144,&quot;top&quot;:52.114013671875,&quot;width&quot;:480.299987792968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3"/>
  <p:tag name="KSO_WM_UNIT_TEXT_FILL_TYPE" val="1"/>
  <p:tag name="KSO_WM_UNIT_USESOURCEFORMAT_APPLY" val="0"/>
</p:tagLst>
</file>

<file path=ppt/tags/tag103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DIAGRAM_GROUP_CODE" val="l1-1"/>
  <p:tag name="KSO_WM_DIAGRAM_COLOR_TRICK" val="1"/>
  <p:tag name="KSO_WM_DIAGRAM_COLOR_TEXT_CAN_REMOVE" val="n"/>
  <p:tag name="KSO_WM_UNIT_ID" val="custom20238601_5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8601"/>
  <p:tag name="KSO_WM_TEMPLATE_CATEGORY" val="custom"/>
  <p:tag name="KSO_WM_UNIT_FILL_FORE_SCHEMECOLOR_INDEX" val="13"/>
  <p:tag name="KSO_WM_UNIT_FILL_TYPE" val="1"/>
  <p:tag name="KSO_WM_UNIT_TEXT_FILL_FORE_SCHEMECOLOR_INDEX" val="2"/>
  <p:tag name="KSO_WM_UNIT_TEXT_FILL_TYPE" val="1"/>
  <p:tag name="KSO_WM_UNIT_USESOURCEFORMAT_APPLY" val="0"/>
</p:tagLst>
</file>

<file path=ppt/tags/tag104.xml><?xml version="1.0" encoding="utf-8"?>
<p:tagLst xmlns:p="http://schemas.openxmlformats.org/presentationml/2006/main">
  <p:tag name="KSO_WM_SLIDE_TYPE" val="contents"/>
  <p:tag name="KSO_WM_TEMPLATE_SUBCATEGORY" val="29"/>
  <p:tag name="KSO_WM_TEMPLATE_COLOR_TYPE" val="0"/>
  <p:tag name="KSO_WM_TAG_VERSION" val="3.0"/>
  <p:tag name="KSO_WM_SLIDE_SUBTYPE" val="diag"/>
  <p:tag name="KSO_WM_SLIDE_ITEM_CNT" val="5"/>
  <p:tag name="KSO_WM_DIAGRAM_GROUP_CODE" val="l1-1"/>
  <p:tag name="KSO_WM_BEAUTIFY_FLAG" val="#wm#"/>
  <p:tag name="KSO_WM_TEMPLATE_INDEX" val="20238601"/>
  <p:tag name="KSO_WM_TEMPLATE_CATEGORY" val="custom"/>
  <p:tag name="KSO_WM_SLIDE_INDEX" val="5"/>
  <p:tag name="KSO_WM_SLIDE_ID" val="custom20238601_5"/>
  <p:tag name="KSO_WM_TEMPLATE_MASTER_TYPE" val="0"/>
  <p:tag name="KSO_WM_SLIDE_LAYOUT" val="a_l"/>
  <p:tag name="KSO_WM_SLIDE_LAYOUT_CNT" val="1_1"/>
  <p:tag name="KSO_WM_SLIDE_DIAGTYPE" val="l"/>
</p:tagLst>
</file>

<file path=ppt/tags/tag105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ID" val="custom20238601_7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8601"/>
  <p:tag name="KSO_WM_TEMPLATE_CATEGORY" val="custom"/>
  <p:tag name="KSO_WM_UNIT_ISCONTENTSTITLE" val="0"/>
  <p:tag name="KSO_WM_UNIT_PRESET_TEXT" val="单击此处&#10;添加章节标题"/>
  <p:tag name="KSO_WM_UNIT_TEXT_TYPE" val="1"/>
</p:tagLst>
</file>

<file path=ppt/tags/tag106.xml><?xml version="1.0" encoding="utf-8"?>
<p:tagLst xmlns:p="http://schemas.openxmlformats.org/presentationml/2006/main">
  <p:tag name="KSO_WM_UNIT_TYPE" val="e"/>
  <p:tag name="KSO_WM_UNIT_INDEX" val="1"/>
  <p:tag name="KSO_WM_BEAUTIFY_FLAG" val="#wm#"/>
  <p:tag name="KSO_WM_TAG_VERSION" val="3.0"/>
  <p:tag name="KSO_WM_UNIT_ID" val="custom20238601_7*e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8601"/>
  <p:tag name="KSO_WM_TEMPLATE_CATEGORY" val="custom"/>
</p:tagLst>
</file>

<file path=ppt/tags/tag107.xml><?xml version="1.0" encoding="utf-8"?>
<p:tagLst xmlns:p="http://schemas.openxmlformats.org/presentationml/2006/main">
  <p:tag name="KSO_WM_SLIDE_TYPE" val="sectionTitle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BEAUTIFY_FLAG" val="#wm#"/>
  <p:tag name="KSO_WM_TEMPLATE_INDEX" val="20238601"/>
  <p:tag name="KSO_WM_TEMPLATE_CATEGORY" val="custom"/>
  <p:tag name="KSO_WM_SLIDE_INDEX" val="7"/>
  <p:tag name="KSO_WM_SLIDE_ID" val="custom20238601_7"/>
  <p:tag name="KSO_WM_TEMPLATE_MASTER_TYPE" val="0"/>
  <p:tag name="KSO_WM_SLIDE_LAYOUT" val="a_e"/>
  <p:tag name="KSO_WM_SLIDE_LAYOUT_CNT" val="1_1"/>
</p:tagLst>
</file>

<file path=ppt/tags/tag108.xml><?xml version="1.0" encoding="utf-8"?>
<p:tagLst xmlns:p="http://schemas.openxmlformats.org/presentationml/2006/main">
  <p:tag name="KSO_WM_DIAGRAM_VIRTUALLY_FRAME" val="{&quot;height&quot;:300.4,&quot;left&quot;:378.3,&quot;top&quot;:168.45,&quot;width&quot;:711.1968503937009}"/>
</p:tagLst>
</file>

<file path=ppt/tags/tag109.xml><?xml version="1.0" encoding="utf-8"?>
<p:tagLst xmlns:p="http://schemas.openxmlformats.org/presentationml/2006/main">
  <p:tag name="KSO_WM_DIAGRAM_VIRTUALLY_FRAME" val="{&quot;height&quot;:300.4,&quot;left&quot;:378.3,&quot;top&quot;:168.45,&quot;width&quot;:711.1968503937009}"/>
</p:tagLst>
</file>

<file path=ppt/tags/tag110.xml><?xml version="1.0" encoding="utf-8"?>
<p:tagLst xmlns:p="http://schemas.openxmlformats.org/presentationml/2006/main">
  <p:tag name="KSO_WM_DIAGRAM_VIRTUALLY_FRAME" val="{&quot;height&quot;:300.4,&quot;left&quot;:378.3,&quot;top&quot;:168.45,&quot;width&quot;:711.1968503937009}"/>
</p:tagLst>
</file>

<file path=ppt/tags/tag111.xml><?xml version="1.0" encoding="utf-8"?>
<p:tagLst xmlns:p="http://schemas.openxmlformats.org/presentationml/2006/main">
  <p:tag name="KSO_WM_DIAGRAM_VIRTUALLY_FRAME" val="{&quot;height&quot;:300.4,&quot;left&quot;:378.3,&quot;top&quot;:168.45,&quot;width&quot;:711.1968503937009}"/>
</p:tagLst>
</file>

<file path=ppt/tags/tag112.xml><?xml version="1.0" encoding="utf-8"?>
<p:tagLst xmlns:p="http://schemas.openxmlformats.org/presentationml/2006/main">
  <p:tag name="KSO_WM_DIAGRAM_VIRTUALLY_FRAME" val="{&quot;height&quot;:300.4,&quot;left&quot;:378.3,&quot;top&quot;:168.45,&quot;width&quot;:711.1968503937009}"/>
</p:tagLst>
</file>

<file path=ppt/tags/tag113.xml><?xml version="1.0" encoding="utf-8"?>
<p:tagLst xmlns:p="http://schemas.openxmlformats.org/presentationml/2006/main">
  <p:tag name="KSO_WM_DIAGRAM_VIRTUALLY_FRAME" val="{&quot;height&quot;:300.4,&quot;left&quot;:378.3,&quot;top&quot;:168.45,&quot;width&quot;:711.1968503937009}"/>
</p:tagLst>
</file>

<file path=ppt/tags/tag114.xml><?xml version="1.0" encoding="utf-8"?>
<p:tagLst xmlns:p="http://schemas.openxmlformats.org/presentationml/2006/main">
  <p:tag name="KSO_WM_BEAUTIFY_FLAG" val="#wm#"/>
  <p:tag name="KSO_WM_TEMPLATE_CATEGORY" val="custom"/>
  <p:tag name="KSO_WM_TEMPLATE_MASTER_TYPE" val="0"/>
  <p:tag name="KSO_WM_TEMPLATE_COLOR_TYPE" val="0"/>
  <p:tag name="KSO_WM_DIAGRAM_GROUP_CODE" val="l1-1"/>
  <p:tag name="KSO_WM_SLIDE_DIAGTYPE" val="l"/>
  <p:tag name="KSO_WM_SLIDE_LAYOUT" val="a_d_l"/>
  <p:tag name="KSO_WM_SLIDE_LAYOUT_CNT" val="1_1_1"/>
  <p:tag name="KSO_WM_SLIDE_TYPE" val="text"/>
  <p:tag name="KSO_WM_SLIDE_SUBTYPE" val="picTxt"/>
  <p:tag name="KSO_WM_SLIDE_SIZE" val="408.05*186.55"/>
  <p:tag name="KSO_WM_SLIDE_POSITION" val="87.8997*272.733"/>
  <p:tag name="KSO_WM_TEMPLATE_INDEX" val="20238601"/>
  <p:tag name="KSO_WM_TEMPLATE_SUBCATEGORY" val="0"/>
  <p:tag name="KSO_WM_SLIDE_INDEX" val="1"/>
  <p:tag name="KSO_WM_TAG_VERSION" val="3.0"/>
  <p:tag name="KSO_WM_SLIDE_ID" val="custom20233256_1"/>
  <p:tag name="KSO_WM_SLIDE_ITEM_CNT" val="4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2"/>
  <p:tag name="KSO_WM_UNIT_ID" val="diagram20231638_1*l_h_i*1_2_2"/>
  <p:tag name="KSO_WM_TEMPLATE_CATEGORY" val="diagram"/>
  <p:tag name="KSO_WM_TEMPLATE_INDEX" val="20231638"/>
  <p:tag name="KSO_WM_UNIT_LAYERLEVEL" val="1_1_1"/>
  <p:tag name="KSO_WM_TAG_VERSION" val="3.0"/>
  <p:tag name="KSO_WM_DIAGRAM_MAX_ITEMCNT" val="3"/>
  <p:tag name="KSO_WM_DIAGRAM_MIN_ITEMCNT" val="2"/>
  <p:tag name="KSO_WM_DIAGRAM_VIRTUALLY_FRAME" val="{&quot;height&quot;:528.15,&quot;left&quot;:0.39998779296875,&quot;top&quot;:31.15,&quot;width&quot;:908.5000244140625}"/>
  <p:tag name="KSO_WM_DIAGRAM_COLOR_MATCH_VALUE" val="{&quot;shape&quot;:{&quot;fill&quot;:{&quot;gradient&quot;:[{&quot;brightness&quot;:0.949999988079071,&quot;colorType&quot;:1,&quot;foreColorIndex&quot;:5,&quot;pos&quot;:0,&quot;transparency&quot;:1},{&quot;brightness&quot;:0.800000011920929,&quot;colorType&quot;:1,&quot;foreColorIndex&quot;:5,&quot;pos&quot;:1,&quot;transparency&quot;:0.800000011920929}],&quot;type&quot;:3},&quot;glow&quot;:{&quot;colorType&quot;:0},&quot;line&quot;:{&quot;gradient&quot;:[{&quot;brightness&quot;:0.800000011920929,&quot;colorType&quot;:1,&quot;foreColorIndex&quot;:5,&quot;pos&quot;:0,&quot;transparency&quot;:0},{&quot;brightness&quot;:0.4000000059604645,&quot;colorType&quot;:1,&quot;foreColorIndex&quot;:5,&quot;pos&quot;:1,&quot;transparency&quot;:0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FILL_TYPE" val="3"/>
  <p:tag name="KSO_WM_DIAGRAM_USE_COLOR_VALUE" val="{&quot;color_scheme&quot;:1,&quot;color_type&quot;:1,&quot;theme_color_indexes&quot;:[]}"/>
</p:tagLst>
</file>

<file path=ppt/tags/tag116.xml><?xml version="1.0" encoding="utf-8"?>
<p:tagLst xmlns:p="http://schemas.openxmlformats.org/presentationml/2006/main">
  <p:tag name="KSO_WM_BEAUTIFY_FLAG" val="#wm#"/>
  <p:tag name="KSO_WM_TEMPLATE_CATEGORY" val="custom"/>
  <p:tag name="KSO_WM_TEMPLATE_MASTER_TYPE" val="0"/>
  <p:tag name="KSO_WM_TEMPLATE_COLOR_TYPE" val="0"/>
  <p:tag name="KSO_WM_DIAGRAM_GROUP_CODE" val="l1-1"/>
  <p:tag name="KSO_WM_SLIDE_DIAGTYPE" val="l"/>
  <p:tag name="KSO_WM_SLIDE_LAYOUT" val="a_d_l"/>
  <p:tag name="KSO_WM_SLIDE_LAYOUT_CNT" val="1_1_1"/>
  <p:tag name="KSO_WM_SLIDE_TYPE" val="text"/>
  <p:tag name="KSO_WM_SLIDE_SUBTYPE" val="picTxt"/>
  <p:tag name="KSO_WM_SLIDE_SIZE" val="408.05*186.55"/>
  <p:tag name="KSO_WM_SLIDE_POSITION" val="87.8997*272.733"/>
  <p:tag name="KSO_WM_TEMPLATE_INDEX" val="20238601"/>
  <p:tag name="KSO_WM_TEMPLATE_SUBCATEGORY" val="0"/>
  <p:tag name="KSO_WM_SLIDE_INDEX" val="1"/>
  <p:tag name="KSO_WM_TAG_VERSION" val="3.0"/>
  <p:tag name="KSO_WM_SLIDE_ID" val="custom20233256_1"/>
  <p:tag name="KSO_WM_SLIDE_ITEM_CNT" val="4"/>
</p:tagLst>
</file>

<file path=ppt/tags/tag117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3"/>
  <p:tag name="KSO_WM_UNIT_ID" val="diagram20231973_2*l_h_i*1_1_3"/>
  <p:tag name="KSO_WM_TEMPLATE_CATEGORY" val="diagram"/>
  <p:tag name="KSO_WM_TEMPLATE_INDEX" val="20231973"/>
  <p:tag name="KSO_WM_UNIT_LAYERLEVEL" val="1_1_1"/>
  <p:tag name="KSO_WM_TAG_VERSION" val="3.0"/>
  <p:tag name="KSO_WM_BEAUTIFY_FLAG" val="#wm#"/>
  <p:tag name="KSO_WM_DIAGRAM_MAX_ITEMCNT" val="5"/>
  <p:tag name="KSO_WM_DIAGRAM_MIN_ITEMCNT" val="2"/>
  <p:tag name="KSO_WM_DIAGRAM_VIRTUALLY_FRAME" val="{&quot;height&quot;:332.1500332665631,&quot;left&quot;:48.6,&quot;top&quot;:165.37500610351563,&quot;width&quot;:856.6}"/>
  <p:tag name="KSO_WM_DIAGRAM_COLOR_MATCH_VALUE" val="{&quot;shape&quot;:{&quot;fill&quot;:{&quot;solid&quot;:{&quot;brightness&quot;:0.6000000238418579,&quot;colorType&quot;:1,&quot;foreColorIndex&quot;:13,&quot;transparency&quot;:0.8500000238418579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4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13"/>
  <p:tag name="KSO_WM_UNIT_FILL_FORE_SCHEMECOLOR_INDEX_BRIGHTNESS" val="0.6"/>
  <p:tag name="KSO_WM_DIAGRAM_USE_COLOR_VALUE" val="{&quot;color_scheme&quot;:1,&quot;color_type&quot;:1,&quot;theme_color_indexes&quot;:[5,6,5,6,5,6]}"/>
</p:tagLst>
</file>

<file path=ppt/tags/tag118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diagram20231973_2*l_h_f*1_1_1"/>
  <p:tag name="KSO_WM_TEMPLATE_CATEGORY" val="diagram"/>
  <p:tag name="KSO_WM_TEMPLATE_INDEX" val="20231973"/>
  <p:tag name="KSO_WM_UNIT_LAYERLEVEL" val="1_1_1"/>
  <p:tag name="KSO_WM_TAG_VERSION" val="3.0"/>
  <p:tag name="KSO_WM_BEAUTIFY_FLAG" val="#wm#"/>
  <p:tag name="KSO_WM_DIAGRAM_MAX_ITEMCNT" val="5"/>
  <p:tag name="KSO_WM_DIAGRAM_MIN_ITEMCNT" val="2"/>
  <p:tag name="KSO_WM_DIAGRAM_VIRTUALLY_FRAME" val="{&quot;height&quot;:332.1500332665631,&quot;left&quot;:48.6,&quot;top&quot;:165.37500610351563,&quot;width&quot;:856.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VALUE" val="52"/>
  <p:tag name="KSO_WM_UNIT_TEXT_TYPE" val="1"/>
  <p:tag name="KSO_WM_UNIT_TEXT_LAYER_COUNT" val="1"/>
  <p:tag name="KSO_WM_UNIT_PRESET_TEXT" val="单击此处添加文本具体内容，简明扼要地阐述您的观点。根据需要可酌情增减文字，单击此处添加文本具体内容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119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1_1"/>
  <p:tag name="KSO_WM_UNIT_ID" val="diagram20231973_2*l_h_i*1_1_1"/>
  <p:tag name="KSO_WM_TEMPLATE_CATEGORY" val="diagram"/>
  <p:tag name="KSO_WM_TEMPLATE_INDEX" val="20231973"/>
  <p:tag name="KSO_WM_UNIT_LAYERLEVEL" val="1_1_1"/>
  <p:tag name="KSO_WM_TAG_VERSION" val="3.0"/>
  <p:tag name="KSO_WM_BEAUTIFY_FLAG" val="#wm#"/>
  <p:tag name="KSO_WM_DIAGRAM_MAX_ITEMCNT" val="5"/>
  <p:tag name="KSO_WM_DIAGRAM_MIN_ITEMCNT" val="2"/>
  <p:tag name="KSO_WM_DIAGRAM_VIRTUALLY_FRAME" val="{&quot;height&quot;:332.1500332665631,&quot;left&quot;:48.6,&quot;top&quot;:165.37500610351563,&quot;width&quot;:856.6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TYPE" val="1"/>
  <p:tag name="KSO_WM_UNIT_PRESET_TEXT" val="01"/>
  <p:tag name="KSO_WM_UNIT_FILL_TYPE" val="1"/>
  <p:tag name="KSO_WM_UNIT_FILL_FORE_SCHEMECOLOR_INDEX" val="5"/>
  <p:tag name="KSO_WM_UNIT_FILL_FORE_SCHEMECOLOR_INDEX_BRIGHTNESS" val="0"/>
  <p:tag name="KSO_WM_DIAGRAM_USE_COLOR_VALUE" val="{&quot;color_scheme&quot;:1,&quot;color_type&quot;:1,&quot;theme_color_indexes&quot;:[5,6,5,6,5,6]}"/>
</p:tagLst>
</file>

<file path=ppt/tags/tag120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1_1"/>
  <p:tag name="KSO_WM_UNIT_ID" val="diagram20231973_2*l_h_a*1_1_1"/>
  <p:tag name="KSO_WM_TEMPLATE_CATEGORY" val="diagram"/>
  <p:tag name="KSO_WM_TEMPLATE_INDEX" val="20231973"/>
  <p:tag name="KSO_WM_UNIT_LAYERLEVEL" val="1_1_1"/>
  <p:tag name="KSO_WM_TAG_VERSION" val="3.0"/>
  <p:tag name="KSO_WM_BEAUTIFY_FLAG" val="#wm#"/>
  <p:tag name="KSO_WM_DIAGRAM_MAX_ITEMCNT" val="5"/>
  <p:tag name="KSO_WM_DIAGRAM_MIN_ITEMCNT" val="2"/>
  <p:tag name="KSO_WM_DIAGRAM_VIRTUALLY_FRAME" val="{&quot;height&quot;:332.1500332665631,&quot;left&quot;:48.6,&quot;top&quot;:165.37500610351563,&quot;width&quot;:856.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VALUE" val="10"/>
  <p:tag name="KSO_WM_UNIT_TEXT_TYPE" val="1"/>
  <p:tag name="KSO_WM_UNIT_PRESET_TEXT" val="添加标题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121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3"/>
  <p:tag name="KSO_WM_UNIT_ID" val="diagram20231973_2*l_h_i*1_2_3"/>
  <p:tag name="KSO_WM_TEMPLATE_CATEGORY" val="diagram"/>
  <p:tag name="KSO_WM_TEMPLATE_INDEX" val="20231973"/>
  <p:tag name="KSO_WM_UNIT_LAYERLEVEL" val="1_1_1"/>
  <p:tag name="KSO_WM_TAG_VERSION" val="3.0"/>
  <p:tag name="KSO_WM_BEAUTIFY_FLAG" val="#wm#"/>
  <p:tag name="KSO_WM_DIAGRAM_MAX_ITEMCNT" val="5"/>
  <p:tag name="KSO_WM_DIAGRAM_MIN_ITEMCNT" val="2"/>
  <p:tag name="KSO_WM_DIAGRAM_VIRTUALLY_FRAME" val="{&quot;height&quot;:332.1500332665631,&quot;left&quot;:48.6,&quot;top&quot;:165.37500610351563,&quot;width&quot;:856.6}"/>
  <p:tag name="KSO_WM_DIAGRAM_COLOR_MATCH_VALUE" val="{&quot;shape&quot;:{&quot;fill&quot;:{&quot;solid&quot;:{&quot;brightness&quot;:0.6000000238418579,&quot;colorType&quot;:1,&quot;foreColorIndex&quot;:13,&quot;transparency&quot;:0.8500000238418579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4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13"/>
  <p:tag name="KSO_WM_UNIT_FILL_FORE_SCHEMECOLOR_INDEX_BRIGHTNESS" val="0.6"/>
  <p:tag name="KSO_WM_DIAGRAM_USE_COLOR_VALUE" val="{&quot;color_scheme&quot;:1,&quot;color_type&quot;:1,&quot;theme_color_indexes&quot;:[5,6,5,6,5,6]}"/>
</p:tagLst>
</file>

<file path=ppt/tags/tag122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2_1"/>
  <p:tag name="KSO_WM_UNIT_ID" val="diagram20231973_2*l_h_f*1_2_1"/>
  <p:tag name="KSO_WM_TEMPLATE_CATEGORY" val="diagram"/>
  <p:tag name="KSO_WM_TEMPLATE_INDEX" val="20231973"/>
  <p:tag name="KSO_WM_UNIT_LAYERLEVEL" val="1_1_1"/>
  <p:tag name="KSO_WM_TAG_VERSION" val="3.0"/>
  <p:tag name="KSO_WM_BEAUTIFY_FLAG" val="#wm#"/>
  <p:tag name="KSO_WM_DIAGRAM_MAX_ITEMCNT" val="5"/>
  <p:tag name="KSO_WM_DIAGRAM_MIN_ITEMCNT" val="2"/>
  <p:tag name="KSO_WM_DIAGRAM_VIRTUALLY_FRAME" val="{&quot;height&quot;:332.1500332665631,&quot;left&quot;:48.6,&quot;top&quot;:165.37500610351563,&quot;width&quot;:856.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UNIT_PRESET_TEXT" val="单击此处添加文本具体内容，简明扼要地阐述您的观点。根据需要可酌情增减文字，单击此处添加文本具体内容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123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2_1"/>
  <p:tag name="KSO_WM_UNIT_ID" val="diagram20231973_2*l_h_i*1_2_1"/>
  <p:tag name="KSO_WM_TEMPLATE_CATEGORY" val="diagram"/>
  <p:tag name="KSO_WM_TEMPLATE_INDEX" val="20231973"/>
  <p:tag name="KSO_WM_UNIT_LAYERLEVEL" val="1_1_1"/>
  <p:tag name="KSO_WM_TAG_VERSION" val="3.0"/>
  <p:tag name="KSO_WM_BEAUTIFY_FLAG" val="#wm#"/>
  <p:tag name="KSO_WM_DIAGRAM_MAX_ITEMCNT" val="5"/>
  <p:tag name="KSO_WM_DIAGRAM_MIN_ITEMCNT" val="2"/>
  <p:tag name="KSO_WM_DIAGRAM_VIRTUALLY_FRAME" val="{&quot;height&quot;:332.1500332665631,&quot;left&quot;:48.6,&quot;top&quot;:165.37500610351563,&quot;width&quot;:856.6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TYPE" val="1"/>
  <p:tag name="KSO_WM_UNIT_PRESET_TEXT" val="02"/>
  <p:tag name="KSO_WM_UNIT_FILL_TYPE" val="1"/>
  <p:tag name="KSO_WM_UNIT_FILL_FORE_SCHEMECOLOR_INDEX" val="5"/>
  <p:tag name="KSO_WM_UNIT_FILL_FORE_SCHEMECOLOR_INDEX_BRIGHTNESS" val="0"/>
  <p:tag name="KSO_WM_DIAGRAM_USE_COLOR_VALUE" val="{&quot;color_scheme&quot;:1,&quot;color_type&quot;:1,&quot;theme_color_indexes&quot;:[5,6,5,6,5,6]}"/>
</p:tagLst>
</file>

<file path=ppt/tags/tag124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2_1"/>
  <p:tag name="KSO_WM_UNIT_ID" val="diagram20231973_2*l_h_a*1_2_1"/>
  <p:tag name="KSO_WM_TEMPLATE_CATEGORY" val="diagram"/>
  <p:tag name="KSO_WM_TEMPLATE_INDEX" val="20231973"/>
  <p:tag name="KSO_WM_UNIT_LAYERLEVEL" val="1_1_1"/>
  <p:tag name="KSO_WM_TAG_VERSION" val="3.0"/>
  <p:tag name="KSO_WM_BEAUTIFY_FLAG" val="#wm#"/>
  <p:tag name="KSO_WM_DIAGRAM_MAX_ITEMCNT" val="5"/>
  <p:tag name="KSO_WM_DIAGRAM_MIN_ITEMCNT" val="2"/>
  <p:tag name="KSO_WM_DIAGRAM_VIRTUALLY_FRAME" val="{&quot;height&quot;:332.1500332665631,&quot;left&quot;:48.6,&quot;top&quot;:165.37500610351563,&quot;width&quot;:856.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VALUE" val="10"/>
  <p:tag name="KSO_WM_UNIT_TEXT_TYPE" val="1"/>
  <p:tag name="KSO_WM_UNIT_PRESET_TEXT" val="添加标题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125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3"/>
  <p:tag name="KSO_WM_UNIT_ID" val="diagram20231973_2*l_h_i*1_3_3"/>
  <p:tag name="KSO_WM_TEMPLATE_CATEGORY" val="diagram"/>
  <p:tag name="KSO_WM_TEMPLATE_INDEX" val="20231973"/>
  <p:tag name="KSO_WM_UNIT_LAYERLEVEL" val="1_1_1"/>
  <p:tag name="KSO_WM_TAG_VERSION" val="3.0"/>
  <p:tag name="KSO_WM_BEAUTIFY_FLAG" val="#wm#"/>
  <p:tag name="KSO_WM_DIAGRAM_MAX_ITEMCNT" val="5"/>
  <p:tag name="KSO_WM_DIAGRAM_MIN_ITEMCNT" val="2"/>
  <p:tag name="KSO_WM_DIAGRAM_VIRTUALLY_FRAME" val="{&quot;height&quot;:332.1500332665631,&quot;left&quot;:48.6,&quot;top&quot;:165.37500610351563,&quot;width&quot;:856.6}"/>
  <p:tag name="KSO_WM_DIAGRAM_COLOR_MATCH_VALUE" val="{&quot;shape&quot;:{&quot;fill&quot;:{&quot;solid&quot;:{&quot;brightness&quot;:0.6000000238418579,&quot;colorType&quot;:1,&quot;foreColorIndex&quot;:13,&quot;transparency&quot;:0.8500000238418579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4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13"/>
  <p:tag name="KSO_WM_UNIT_FILL_FORE_SCHEMECOLOR_INDEX_BRIGHTNESS" val="0.6"/>
  <p:tag name="KSO_WM_DIAGRAM_USE_COLOR_VALUE" val="{&quot;color_scheme&quot;:1,&quot;color_type&quot;:1,&quot;theme_color_indexes&quot;:[5,6,5,6,5,6]}"/>
</p:tagLst>
</file>

<file path=ppt/tags/tag126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3_1"/>
  <p:tag name="KSO_WM_UNIT_ID" val="diagram20231973_2*l_h_f*1_3_1"/>
  <p:tag name="KSO_WM_TEMPLATE_CATEGORY" val="diagram"/>
  <p:tag name="KSO_WM_TEMPLATE_INDEX" val="20231973"/>
  <p:tag name="KSO_WM_UNIT_LAYERLEVEL" val="1_1_1"/>
  <p:tag name="KSO_WM_TAG_VERSION" val="3.0"/>
  <p:tag name="KSO_WM_BEAUTIFY_FLAG" val="#wm#"/>
  <p:tag name="KSO_WM_DIAGRAM_MAX_ITEMCNT" val="5"/>
  <p:tag name="KSO_WM_DIAGRAM_MIN_ITEMCNT" val="2"/>
  <p:tag name="KSO_WM_DIAGRAM_VIRTUALLY_FRAME" val="{&quot;height&quot;:332.1500332665631,&quot;left&quot;:48.6,&quot;top&quot;:165.37500610351563,&quot;width&quot;:856.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UNIT_PRESET_TEXT" val="单击此处添加文本具体内容，简明扼要地阐述您的观点。根据需要可酌情增减文字，单击此处添加文本具体内容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127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3_1"/>
  <p:tag name="KSO_WM_UNIT_ID" val="diagram20231973_2*l_h_i*1_3_1"/>
  <p:tag name="KSO_WM_TEMPLATE_CATEGORY" val="diagram"/>
  <p:tag name="KSO_WM_TEMPLATE_INDEX" val="20231973"/>
  <p:tag name="KSO_WM_UNIT_LAYERLEVEL" val="1_1_1"/>
  <p:tag name="KSO_WM_TAG_VERSION" val="3.0"/>
  <p:tag name="KSO_WM_BEAUTIFY_FLAG" val="#wm#"/>
  <p:tag name="KSO_WM_DIAGRAM_MAX_ITEMCNT" val="5"/>
  <p:tag name="KSO_WM_DIAGRAM_MIN_ITEMCNT" val="2"/>
  <p:tag name="KSO_WM_DIAGRAM_VIRTUALLY_FRAME" val="{&quot;height&quot;:332.1500332665631,&quot;left&quot;:48.6,&quot;top&quot;:165.37500610351563,&quot;width&quot;:856.6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TYPE" val="1"/>
  <p:tag name="KSO_WM_UNIT_PRESET_TEXT" val="03"/>
  <p:tag name="KSO_WM_UNIT_FILL_TYPE" val="1"/>
  <p:tag name="KSO_WM_UNIT_FILL_FORE_SCHEMECOLOR_INDEX" val="5"/>
  <p:tag name="KSO_WM_UNIT_FILL_FORE_SCHEMECOLOR_INDEX_BRIGHTNESS" val="0"/>
  <p:tag name="KSO_WM_DIAGRAM_USE_COLOR_VALUE" val="{&quot;color_scheme&quot;:1,&quot;color_type&quot;:1,&quot;theme_color_indexes&quot;:[5,6,5,6,5,6]}"/>
</p:tagLst>
</file>

<file path=ppt/tags/tag128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2"/>
  <p:tag name="KSO_WM_UNIT_ID" val="diagram20231973_2*l_h_i*1_1_2"/>
  <p:tag name="KSO_WM_TEMPLATE_CATEGORY" val="diagram"/>
  <p:tag name="KSO_WM_TEMPLATE_INDEX" val="20231973"/>
  <p:tag name="KSO_WM_UNIT_LAYERLEVEL" val="1_1_1"/>
  <p:tag name="KSO_WM_TAG_VERSION" val="3.0"/>
  <p:tag name="KSO_WM_BEAUTIFY_FLAG" val="#wm#"/>
  <p:tag name="KSO_WM_DIAGRAM_MAX_ITEMCNT" val="5"/>
  <p:tag name="KSO_WM_DIAGRAM_MIN_ITEMCNT" val="2"/>
  <p:tag name="KSO_WM_DIAGRAM_VIRTUALLY_FRAME" val="{&quot;height&quot;:332.1500332665631,&quot;left&quot;:48.6,&quot;top&quot;:165.37500610351563,&quot;width&quot;:856.6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.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5"/>
  <p:tag name="KSO_WM_DIAGRAM_USE_COLOR_VALUE" val="{&quot;color_scheme&quot;:1,&quot;color_type&quot;:1,&quot;theme_color_indexes&quot;:[5,6,5,6,5,6]}"/>
</p:tagLst>
</file>

<file path=ppt/tags/tag129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2"/>
  <p:tag name="KSO_WM_UNIT_ID" val="diagram20231973_2*l_h_i*1_2_2"/>
  <p:tag name="KSO_WM_TEMPLATE_CATEGORY" val="diagram"/>
  <p:tag name="KSO_WM_TEMPLATE_INDEX" val="20231973"/>
  <p:tag name="KSO_WM_UNIT_LAYERLEVEL" val="1_1_1"/>
  <p:tag name="KSO_WM_TAG_VERSION" val="3.0"/>
  <p:tag name="KSO_WM_BEAUTIFY_FLAG" val="#wm#"/>
  <p:tag name="KSO_WM_DIAGRAM_MAX_ITEMCNT" val="5"/>
  <p:tag name="KSO_WM_DIAGRAM_MIN_ITEMCNT" val="2"/>
  <p:tag name="KSO_WM_DIAGRAM_VIRTUALLY_FRAME" val="{&quot;height&quot;:332.1500332665631,&quot;left&quot;:48.6,&quot;top&quot;:165.37500610351563,&quot;width&quot;:856.6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.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5"/>
  <p:tag name="KSO_WM_DIAGRAM_USE_COLOR_VALUE" val="{&quot;color_scheme&quot;:1,&quot;color_type&quot;:1,&quot;theme_color_indexes&quot;:[5,6,5,6,5,6]}"/>
</p:tagLst>
</file>

<file path=ppt/tags/tag130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2"/>
  <p:tag name="KSO_WM_UNIT_ID" val="diagram20231973_2*l_h_i*1_3_2"/>
  <p:tag name="KSO_WM_TEMPLATE_CATEGORY" val="diagram"/>
  <p:tag name="KSO_WM_TEMPLATE_INDEX" val="20231973"/>
  <p:tag name="KSO_WM_UNIT_LAYERLEVEL" val="1_1_1"/>
  <p:tag name="KSO_WM_TAG_VERSION" val="3.0"/>
  <p:tag name="KSO_WM_BEAUTIFY_FLAG" val="#wm#"/>
  <p:tag name="KSO_WM_DIAGRAM_MAX_ITEMCNT" val="5"/>
  <p:tag name="KSO_WM_DIAGRAM_MIN_ITEMCNT" val="2"/>
  <p:tag name="KSO_WM_DIAGRAM_VIRTUALLY_FRAME" val="{&quot;height&quot;:332.1500332665631,&quot;left&quot;:48.6,&quot;top&quot;:165.37500610351563,&quot;width&quot;:856.6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.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5"/>
  <p:tag name="KSO_WM_DIAGRAM_USE_COLOR_VALUE" val="{&quot;color_scheme&quot;:1,&quot;color_type&quot;:1,&quot;theme_color_indexes&quot;:[5,6,5,6,5,6]}"/>
</p:tagLst>
</file>

<file path=ppt/tags/tag131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3_1"/>
  <p:tag name="KSO_WM_UNIT_ID" val="diagram20231973_2*l_h_a*1_3_1"/>
  <p:tag name="KSO_WM_TEMPLATE_CATEGORY" val="diagram"/>
  <p:tag name="KSO_WM_TEMPLATE_INDEX" val="20231973"/>
  <p:tag name="KSO_WM_UNIT_LAYERLEVEL" val="1_1_1"/>
  <p:tag name="KSO_WM_TAG_VERSION" val="3.0"/>
  <p:tag name="KSO_WM_BEAUTIFY_FLAG" val="#wm#"/>
  <p:tag name="KSO_WM_DIAGRAM_MAX_ITEMCNT" val="5"/>
  <p:tag name="KSO_WM_DIAGRAM_MIN_ITEMCNT" val="2"/>
  <p:tag name="KSO_WM_DIAGRAM_VIRTUALLY_FRAME" val="{&quot;height&quot;:332.1500332665631,&quot;left&quot;:48.6,&quot;top&quot;:165.37500610351563,&quot;width&quot;:856.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VALUE" val="10"/>
  <p:tag name="KSO_WM_UNIT_TEXT_TYPE" val="1"/>
  <p:tag name="KSO_WM_UNIT_PRESET_TEXT" val="添加标题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132.xml><?xml version="1.0" encoding="utf-8"?>
<p:tagLst xmlns:p="http://schemas.openxmlformats.org/presentationml/2006/main">
  <p:tag name="KSO_WM_BEAUTIFY_FLAG" val="#wm#"/>
  <p:tag name="KSO_WM_TEMPLATE_CATEGORY" val="custom"/>
  <p:tag name="KSO_WM_TEMPLATE_MASTER_TYPE" val="0"/>
  <p:tag name="KSO_WM_TEMPLATE_COLOR_TYPE" val="0"/>
  <p:tag name="KSO_WM_DIAGRAM_GROUP_CODE" val="l1-1"/>
  <p:tag name="KSO_WM_SLIDE_DIAGTYPE" val="l"/>
  <p:tag name="KSO_WM_SLIDE_LAYOUT" val="a_d_l"/>
  <p:tag name="KSO_WM_SLIDE_LAYOUT_CNT" val="1_1_1"/>
  <p:tag name="KSO_WM_SLIDE_TYPE" val="text"/>
  <p:tag name="KSO_WM_SLIDE_SUBTYPE" val="picTxt"/>
  <p:tag name="KSO_WM_SLIDE_SIZE" val="408.05*186.55"/>
  <p:tag name="KSO_WM_SLIDE_POSITION" val="87.8997*272.733"/>
  <p:tag name="KSO_WM_TEMPLATE_INDEX" val="20238601"/>
  <p:tag name="KSO_WM_TEMPLATE_SUBCATEGORY" val="0"/>
  <p:tag name="KSO_WM_SLIDE_INDEX" val="1"/>
  <p:tag name="KSO_WM_TAG_VERSION" val="3.0"/>
  <p:tag name="KSO_WM_SLIDE_ID" val="custom20233256_1"/>
  <p:tag name="KSO_WM_SLIDE_ITEM_CNT" val="4"/>
  <p:tag name="resource_record_key" val="{&quot;65&quot;:[20238601],&quot;70&quot;:[3321480]}"/>
</p:tagLst>
</file>

<file path=ppt/tags/tag133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ID" val="custom20238601_7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8601"/>
  <p:tag name="KSO_WM_TEMPLATE_CATEGORY" val="custom"/>
  <p:tag name="KSO_WM_UNIT_ISCONTENTSTITLE" val="0"/>
  <p:tag name="KSO_WM_UNIT_PRESET_TEXT" val="单击此处&#10;添加章节标题"/>
  <p:tag name="KSO_WM_UNIT_TEXT_TYPE" val="1"/>
</p:tagLst>
</file>

<file path=ppt/tags/tag134.xml><?xml version="1.0" encoding="utf-8"?>
<p:tagLst xmlns:p="http://schemas.openxmlformats.org/presentationml/2006/main">
  <p:tag name="KSO_WM_UNIT_TYPE" val="e"/>
  <p:tag name="KSO_WM_UNIT_INDEX" val="1"/>
  <p:tag name="KSO_WM_BEAUTIFY_FLAG" val="#wm#"/>
  <p:tag name="KSO_WM_TAG_VERSION" val="3.0"/>
  <p:tag name="KSO_WM_UNIT_ID" val="custom20238601_7*e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8601"/>
  <p:tag name="KSO_WM_TEMPLATE_CATEGORY" val="custom"/>
</p:tagLst>
</file>

<file path=ppt/tags/tag135.xml><?xml version="1.0" encoding="utf-8"?>
<p:tagLst xmlns:p="http://schemas.openxmlformats.org/presentationml/2006/main">
  <p:tag name="KSO_WM_SLIDE_TYPE" val="sectionTitle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BEAUTIFY_FLAG" val="#wm#"/>
  <p:tag name="KSO_WM_TEMPLATE_INDEX" val="20238601"/>
  <p:tag name="KSO_WM_TEMPLATE_CATEGORY" val="custom"/>
  <p:tag name="KSO_WM_SLIDE_INDEX" val="7"/>
  <p:tag name="KSO_WM_SLIDE_ID" val="custom20238601_7"/>
  <p:tag name="KSO_WM_TEMPLATE_MASTER_TYPE" val="0"/>
  <p:tag name="KSO_WM_SLIDE_LAYOUT" val="a_e"/>
  <p:tag name="KSO_WM_SLIDE_LAYOUT_CNT" val="1_1"/>
</p:tagLst>
</file>

<file path=ppt/tags/tag1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2"/>
  <p:tag name="KSO_WM_UNIT_ID" val="diagram20231638_1*l_h_i*1_1_2"/>
  <p:tag name="KSO_WM_TEMPLATE_CATEGORY" val="diagram"/>
  <p:tag name="KSO_WM_TEMPLATE_INDEX" val="20231638"/>
  <p:tag name="KSO_WM_UNIT_LAYERLEVEL" val="1_1_1"/>
  <p:tag name="KSO_WM_TAG_VERSION" val="3.0"/>
  <p:tag name="KSO_WM_DIAGRAM_MAX_ITEMCNT" val="3"/>
  <p:tag name="KSO_WM_DIAGRAM_MIN_ITEMCNT" val="2"/>
  <p:tag name="KSO_WM_DIAGRAM_VIRTUALLY_FRAME" val="{&quot;height&quot;:398.2500366210937,&quot;left&quot;:0.39998779296875,&quot;top&quot;:92.24996337890624,&quot;width&quot;:908.5000244140625}"/>
  <p:tag name="KSO_WM_DIAGRAM_COLOR_MATCH_VALUE" val="{&quot;shape&quot;:{&quot;fill&quot;:{&quot;gradient&quot;:[{&quot;brightness&quot;:0.949999988079071,&quot;colorType&quot;:1,&quot;foreColorIndex&quot;:5,&quot;pos&quot;:0,&quot;transparency&quot;:1},{&quot;brightness&quot;:0.800000011920929,&quot;colorType&quot;:1,&quot;foreColorIndex&quot;:5,&quot;pos&quot;:1,&quot;transparency&quot;:0.800000011920929}],&quot;type&quot;:3},&quot;glow&quot;:{&quot;colorType&quot;:0},&quot;line&quot;:{&quot;gradient&quot;:[{&quot;brightness&quot;:0.800000011920929,&quot;colorType&quot;:1,&quot;foreColorIndex&quot;:5,&quot;pos&quot;:0,&quot;transparency&quot;:0},{&quot;brightness&quot;:0.4000000059604645,&quot;colorType&quot;:1,&quot;foreColorIndex&quot;:5,&quot;pos&quot;:1,&quot;transparency&quot;:0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DIAGRAM_VERSION" val="3"/>
  <p:tag name="KSO_WM_DIAGRAM_COLOR_TRICK" val="1"/>
  <p:tag name="KSO_WM_DIAGRAM_COLOR_TEXT_CAN_REMOVE" val="n"/>
  <p:tag name="KSO_WM_UNIT_FILL_TYPE" val="3"/>
  <p:tag name="KSO_WM_DIAGRAM_USE_COLOR_VALUE" val="{&quot;color_scheme&quot;:1,&quot;color_type&quot;:1,&quot;theme_color_indexes&quot;:[]}"/>
</p:tagLst>
</file>

<file path=ppt/tags/tag137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1_1"/>
  <p:tag name="KSO_WM_UNIT_ID" val="diagram20231638_1*l_h_a*1_1_1"/>
  <p:tag name="KSO_WM_TEMPLATE_CATEGORY" val="diagram"/>
  <p:tag name="KSO_WM_TEMPLATE_INDEX" val="20231638"/>
  <p:tag name="KSO_WM_UNIT_LAYERLEVEL" val="1_1_1"/>
  <p:tag name="KSO_WM_TAG_VERSION" val="3.0"/>
  <p:tag name="KSO_WM_DIAGRAM_GROUP_CODE" val="l1-1"/>
  <p:tag name="KSO_WM_DIAGRAM_MAX_ITEMCNT" val="3"/>
  <p:tag name="KSO_WM_DIAGRAM_MIN_ITEMCNT" val="2"/>
  <p:tag name="KSO_WM_DIAGRAM_VIRTUALLY_FRAME" val="{&quot;height&quot;:398.2500366210937,&quot;left&quot;:0.39998779296875,&quot;top&quot;:92.24996337890624,&quot;width&quot;:908.50002441406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DIAGRAM_VERSION" val="3"/>
  <p:tag name="KSO_WM_DIAGRAM_COLOR_TRICK" val="1"/>
  <p:tag name="KSO_WM_DIAGRAM_COLOR_TEXT_CAN_REMOVE" val="n"/>
  <p:tag name="KSO_WM_UNIT_TEXT_TYPE" val="1"/>
  <p:tag name="KSO_WM_UNIT_PRESET_TEXT" val="单击此处&#10;添加标题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1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2"/>
  <p:tag name="KSO_WM_UNIT_ID" val="diagram20231638_1*l_h_i*1_2_2"/>
  <p:tag name="KSO_WM_TEMPLATE_CATEGORY" val="diagram"/>
  <p:tag name="KSO_WM_TEMPLATE_INDEX" val="20231638"/>
  <p:tag name="KSO_WM_UNIT_LAYERLEVEL" val="1_1_1"/>
  <p:tag name="KSO_WM_TAG_VERSION" val="3.0"/>
  <p:tag name="KSO_WM_DIAGRAM_MAX_ITEMCNT" val="3"/>
  <p:tag name="KSO_WM_DIAGRAM_MIN_ITEMCNT" val="2"/>
  <p:tag name="KSO_WM_DIAGRAM_VIRTUALLY_FRAME" val="{&quot;height&quot;:398.2500366210937,&quot;left&quot;:0.39998779296875,&quot;top&quot;:92.24996337890624,&quot;width&quot;:908.5000244140625}"/>
  <p:tag name="KSO_WM_DIAGRAM_COLOR_MATCH_VALUE" val="{&quot;shape&quot;:{&quot;fill&quot;:{&quot;gradient&quot;:[{&quot;brightness&quot;:0.949999988079071,&quot;colorType&quot;:1,&quot;foreColorIndex&quot;:5,&quot;pos&quot;:0,&quot;transparency&quot;:1},{&quot;brightness&quot;:0.800000011920929,&quot;colorType&quot;:1,&quot;foreColorIndex&quot;:5,&quot;pos&quot;:1,&quot;transparency&quot;:0.800000011920929}],&quot;type&quot;:3},&quot;glow&quot;:{&quot;colorType&quot;:0},&quot;line&quot;:{&quot;gradient&quot;:[{&quot;brightness&quot;:0.800000011920929,&quot;colorType&quot;:1,&quot;foreColorIndex&quot;:5,&quot;pos&quot;:0,&quot;transparency&quot;:0},{&quot;brightness&quot;:0.4000000059604645,&quot;colorType&quot;:1,&quot;foreColorIndex&quot;:5,&quot;pos&quot;:1,&quot;transparency&quot;:0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DIAGRAM_VERSION" val="3"/>
  <p:tag name="KSO_WM_DIAGRAM_COLOR_TRICK" val="1"/>
  <p:tag name="KSO_WM_DIAGRAM_COLOR_TEXT_CAN_REMOVE" val="n"/>
  <p:tag name="KSO_WM_UNIT_FILL_TYPE" val="3"/>
  <p:tag name="KSO_WM_DIAGRAM_USE_COLOR_VALUE" val="{&quot;color_scheme&quot;:1,&quot;color_type&quot;:1,&quot;theme_color_indexes&quot;:[]}"/>
</p:tagLst>
</file>

<file path=ppt/tags/tag139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2_1"/>
  <p:tag name="KSO_WM_UNIT_ID" val="diagram20231638_1*l_h_a*1_2_1"/>
  <p:tag name="KSO_WM_TEMPLATE_CATEGORY" val="diagram"/>
  <p:tag name="KSO_WM_TEMPLATE_INDEX" val="20231638"/>
  <p:tag name="KSO_WM_UNIT_LAYERLEVEL" val="1_1_1"/>
  <p:tag name="KSO_WM_TAG_VERSION" val="3.0"/>
  <p:tag name="KSO_WM_DIAGRAM_GROUP_CODE" val="l1-1"/>
  <p:tag name="KSO_WM_DIAGRAM_MAX_ITEMCNT" val="3"/>
  <p:tag name="KSO_WM_DIAGRAM_MIN_ITEMCNT" val="2"/>
  <p:tag name="KSO_WM_DIAGRAM_VIRTUALLY_FRAME" val="{&quot;height&quot;:398.2500366210937,&quot;left&quot;:0.39998779296875,&quot;top&quot;:92.24996337890624,&quot;width&quot;:908.50002441406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DIAGRAM_VERSION" val="3"/>
  <p:tag name="KSO_WM_DIAGRAM_COLOR_TRICK" val="1"/>
  <p:tag name="KSO_WM_DIAGRAM_COLOR_TEXT_CAN_REMOVE" val="n"/>
  <p:tag name="KSO_WM_UNIT_TEXT_TYPE" val="1"/>
  <p:tag name="KSO_WM_UNIT_PRESET_TEXT" val="单击此处&#10;添加标题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1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custom20234968_1*i*2"/>
  <p:tag name="KSO_WM_TEMPLATE_CATEGORY" val="custom"/>
  <p:tag name="KSO_WM_TEMPLATE_INDEX" val="20234968"/>
  <p:tag name="KSO_WM_UNIT_LAYERLEVEL" val="1"/>
  <p:tag name="KSO_WM_TAG_VERSION" val="3.0"/>
  <p:tag name="KSO_WM_BEAUTIFY_FLAG" val="#wm#"/>
</p:tagLst>
</file>

<file path=ppt/tags/tag1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7"/>
  <p:tag name="KSO_WM_UNIT_ID" val="custom20234968_1*i*17"/>
  <p:tag name="KSO_WM_TEMPLATE_CATEGORY" val="custom"/>
  <p:tag name="KSO_WM_TEMPLATE_INDEX" val="20234968"/>
  <p:tag name="KSO_WM_UNIT_LAYERLEVEL" val="1"/>
  <p:tag name="KSO_WM_TAG_VERSION" val="3.0"/>
  <p:tag name="KSO_WM_BEAUTIFY_FLAG" val="#wm#"/>
</p:tagLst>
</file>

<file path=ppt/tags/tag142.xml><?xml version="1.0" encoding="utf-8"?>
<p:tagLst xmlns:p="http://schemas.openxmlformats.org/presentationml/2006/main">
  <p:tag name="KSO_WM_BEAUTIFY_FLAG" val="#wm#"/>
  <p:tag name="KSO_WM_TEMPLATE_CATEGORY" val="custom"/>
  <p:tag name="KSO_WM_TEMPLATE_MASTER_TYPE" val="0"/>
  <p:tag name="KSO_WM_TEMPLATE_COLOR_TYPE" val="0"/>
  <p:tag name="KSO_WM_DIAGRAM_GROUP_CODE" val="l1-1"/>
  <p:tag name="KSO_WM_SLIDE_DIAGTYPE" val="l"/>
  <p:tag name="KSO_WM_SLIDE_LAYOUT" val="a_d_l"/>
  <p:tag name="KSO_WM_SLIDE_LAYOUT_CNT" val="1_1_1"/>
  <p:tag name="KSO_WM_SLIDE_TYPE" val="text"/>
  <p:tag name="KSO_WM_SLIDE_SUBTYPE" val="picTxt"/>
  <p:tag name="KSO_WM_SLIDE_SIZE" val="408.05*186.55"/>
  <p:tag name="KSO_WM_SLIDE_POSITION" val="87.8997*272.733"/>
  <p:tag name="KSO_WM_TEMPLATE_INDEX" val="20238601"/>
  <p:tag name="KSO_WM_TEMPLATE_SUBCATEGORY" val="0"/>
  <p:tag name="KSO_WM_SLIDE_INDEX" val="1"/>
  <p:tag name="KSO_WM_TAG_VERSION" val="3.0"/>
  <p:tag name="KSO_WM_SLIDE_ID" val="custom20233256_1"/>
  <p:tag name="KSO_WM_SLIDE_ITEM_CNT" val="4"/>
</p:tagLst>
</file>

<file path=ppt/tags/tag143.xml><?xml version="1.0" encoding="utf-8"?>
<p:tagLst xmlns:p="http://schemas.openxmlformats.org/presentationml/2006/main">
  <p:tag name="KSO_WM_BEAUTIFY_FLAG" val="#wm#"/>
  <p:tag name="KSO_WM_TEMPLATE_CATEGORY" val="custom"/>
  <p:tag name="KSO_WM_TEMPLATE_MASTER_TYPE" val="0"/>
  <p:tag name="KSO_WM_TEMPLATE_COLOR_TYPE" val="0"/>
  <p:tag name="KSO_WM_DIAGRAM_GROUP_CODE" val="l1-1"/>
  <p:tag name="KSO_WM_SLIDE_DIAGTYPE" val="l"/>
  <p:tag name="KSO_WM_SLIDE_LAYOUT" val="a_d_l"/>
  <p:tag name="KSO_WM_SLIDE_LAYOUT_CNT" val="1_1_1"/>
  <p:tag name="KSO_WM_SLIDE_TYPE" val="text"/>
  <p:tag name="KSO_WM_SLIDE_SUBTYPE" val="picTxt"/>
  <p:tag name="KSO_WM_SLIDE_SIZE" val="408.05*186.55"/>
  <p:tag name="KSO_WM_SLIDE_POSITION" val="87.8997*272.733"/>
  <p:tag name="KSO_WM_TEMPLATE_INDEX" val="20238601"/>
  <p:tag name="KSO_WM_TEMPLATE_SUBCATEGORY" val="0"/>
  <p:tag name="KSO_WM_SLIDE_INDEX" val="1"/>
  <p:tag name="KSO_WM_TAG_VERSION" val="3.0"/>
  <p:tag name="KSO_WM_SLIDE_ID" val="custom20233256_1"/>
  <p:tag name="KSO_WM_SLIDE_ITEM_CNT" val="4"/>
</p:tagLst>
</file>

<file path=ppt/tags/tag14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33315_2*a*1"/>
  <p:tag name="KSO_WM_TEMPLATE_CATEGORY" val="diagram"/>
  <p:tag name="KSO_WM_TEMPLATE_INDEX" val="20233315"/>
  <p:tag name="KSO_WM_UNIT_LAYERLEVEL" val="1"/>
  <p:tag name="KSO_WM_TAG_VERSION" val="3.0"/>
  <p:tag name="KSO_WM_BEAUTIFY_FLAG" val="#wm#"/>
  <p:tag name="KSO_WM_DIAGRAM_GROUP_CODE" val="l1-1"/>
  <p:tag name="KSO_WM_UNIT_PRESET_TEXT" val="单击此处添加标题"/>
  <p:tag name="KSO_WM_UNIT_TEXT_TYPE" val="1"/>
  <p:tag name="KSO_WM_UNIT_TEXT_FILL_FORE_SCHEMECOLOR_INDEX" val="13"/>
  <p:tag name="KSO_WM_UNIT_TEXT_FILL_TYPE" val="1"/>
  <p:tag name="KSO_WM_UNIT_USESOURCEFORMAT_APPLY" val="0"/>
</p:tagLst>
</file>

<file path=ppt/tags/tag145.xml><?xml version="1.0" encoding="utf-8"?>
<p:tagLst xmlns:p="http://schemas.openxmlformats.org/presentationml/2006/main">
  <p:tag name="KSO_WM_DIAGRAM_VIRTUALLY_FRAME" val="{&quot;height&quot;:339.3,&quot;left&quot;:143.35,&quot;top&quot;:152,&quot;width&quot;:696.7}"/>
</p:tagLst>
</file>

<file path=ppt/tags/tag146.xml><?xml version="1.0" encoding="utf-8"?>
<p:tagLst xmlns:p="http://schemas.openxmlformats.org/presentationml/2006/main">
  <p:tag name="KSO_WM_DIAGRAM_VIRTUALLY_FRAME" val="{&quot;height&quot;:339.3,&quot;left&quot;:143.35,&quot;top&quot;:152,&quot;width&quot;:696.7}"/>
</p:tagLst>
</file>

<file path=ppt/tags/tag147.xml><?xml version="1.0" encoding="utf-8"?>
<p:tagLst xmlns:p="http://schemas.openxmlformats.org/presentationml/2006/main">
  <p:tag name="KSO_WM_DIAGRAM_VIRTUALLY_FRAME" val="{&quot;height&quot;:339.3,&quot;left&quot;:143.35,&quot;top&quot;:152,&quot;width&quot;:696.7}"/>
</p:tagLst>
</file>

<file path=ppt/tags/tag148.xml><?xml version="1.0" encoding="utf-8"?>
<p:tagLst xmlns:p="http://schemas.openxmlformats.org/presentationml/2006/main">
  <p:tag name="KSO_WM_DIAGRAM_VIRTUALLY_FRAME" val="{&quot;height&quot;:339.3,&quot;left&quot;:143.35,&quot;top&quot;:152,&quot;width&quot;:696.7}"/>
</p:tagLst>
</file>

<file path=ppt/tags/tag149.xml><?xml version="1.0" encoding="utf-8"?>
<p:tagLst xmlns:p="http://schemas.openxmlformats.org/presentationml/2006/main">
  <p:tag name="KSO_WM_DIAGRAM_VIRTUALLY_FRAME" val="{&quot;height&quot;:339.3,&quot;left&quot;:143.35,&quot;top&quot;:152,&quot;width&quot;:696.7}"/>
</p:tagLst>
</file>

<file path=ppt/tags/tag150.xml><?xml version="1.0" encoding="utf-8"?>
<p:tagLst xmlns:p="http://schemas.openxmlformats.org/presentationml/2006/main">
  <p:tag name="KSO_WM_DIAGRAM_VIRTUALLY_FRAME" val="{&quot;height&quot;:339.3,&quot;left&quot;:143.35,&quot;top&quot;:152,&quot;width&quot;:696.7}"/>
</p:tagLst>
</file>

<file path=ppt/tags/tag1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2"/>
  <p:tag name="KSO_WM_UNIT_ID" val="diagram20231638_1*l_h_i*1_1_2"/>
  <p:tag name="KSO_WM_TEMPLATE_CATEGORY" val="diagram"/>
  <p:tag name="KSO_WM_TEMPLATE_INDEX" val="20231638"/>
  <p:tag name="KSO_WM_UNIT_LAYERLEVEL" val="1_1_1"/>
  <p:tag name="KSO_WM_TAG_VERSION" val="3.0"/>
  <p:tag name="KSO_WM_DIAGRAM_MAX_ITEMCNT" val="3"/>
  <p:tag name="KSO_WM_DIAGRAM_MIN_ITEMCNT" val="2"/>
  <p:tag name="KSO_WM_DIAGRAM_VIRTUALLY_FRAME" val="{&quot;height&quot;:398.2500366210937,&quot;left&quot;:0.39998779296875,&quot;top&quot;:92.24996337890624,&quot;width&quot;:908.5000244140625}"/>
  <p:tag name="KSO_WM_DIAGRAM_COLOR_MATCH_VALUE" val="{&quot;shape&quot;:{&quot;fill&quot;:{&quot;gradient&quot;:[{&quot;brightness&quot;:0.949999988079071,&quot;colorType&quot;:1,&quot;foreColorIndex&quot;:5,&quot;pos&quot;:0,&quot;transparency&quot;:1},{&quot;brightness&quot;:0.800000011920929,&quot;colorType&quot;:1,&quot;foreColorIndex&quot;:5,&quot;pos&quot;:1,&quot;transparency&quot;:0.800000011920929}],&quot;type&quot;:3},&quot;glow&quot;:{&quot;colorType&quot;:0},&quot;line&quot;:{&quot;gradient&quot;:[{&quot;brightness&quot;:0.800000011920929,&quot;colorType&quot;:1,&quot;foreColorIndex&quot;:5,&quot;pos&quot;:0,&quot;transparency&quot;:0},{&quot;brightness&quot;:0.4000000059604645,&quot;colorType&quot;:1,&quot;foreColorIndex&quot;:5,&quot;pos&quot;:1,&quot;transparency&quot;:0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FILL_TYPE" val="3"/>
  <p:tag name="KSO_WM_DIAGRAM_USE_COLOR_VALUE" val="{&quot;color_scheme&quot;:1,&quot;color_type&quot;:1,&quot;theme_color_indexes&quot;:[]}"/>
</p:tagLst>
</file>

<file path=ppt/tags/tag1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2"/>
  <p:tag name="KSO_WM_UNIT_ID" val="diagram20231638_1*l_h_i*1_1_2"/>
  <p:tag name="KSO_WM_TEMPLATE_CATEGORY" val="diagram"/>
  <p:tag name="KSO_WM_TEMPLATE_INDEX" val="20231638"/>
  <p:tag name="KSO_WM_UNIT_LAYERLEVEL" val="1_1_1"/>
  <p:tag name="KSO_WM_TAG_VERSION" val="3.0"/>
  <p:tag name="KSO_WM_DIAGRAM_MAX_ITEMCNT" val="3"/>
  <p:tag name="KSO_WM_DIAGRAM_MIN_ITEMCNT" val="2"/>
  <p:tag name="KSO_WM_DIAGRAM_VIRTUALLY_FRAME" val="{&quot;height&quot;:398.2500366210937,&quot;left&quot;:0.39998779296875,&quot;top&quot;:92.24996337890624,&quot;width&quot;:908.5000244140625}"/>
  <p:tag name="KSO_WM_DIAGRAM_COLOR_MATCH_VALUE" val="{&quot;shape&quot;:{&quot;fill&quot;:{&quot;gradient&quot;:[{&quot;brightness&quot;:0.949999988079071,&quot;colorType&quot;:1,&quot;foreColorIndex&quot;:5,&quot;pos&quot;:0,&quot;transparency&quot;:1},{&quot;brightness&quot;:0.800000011920929,&quot;colorType&quot;:1,&quot;foreColorIndex&quot;:5,&quot;pos&quot;:1,&quot;transparency&quot;:0.800000011920929}],&quot;type&quot;:3},&quot;glow&quot;:{&quot;colorType&quot;:0},&quot;line&quot;:{&quot;gradient&quot;:[{&quot;brightness&quot;:0.800000011920929,&quot;colorType&quot;:1,&quot;foreColorIndex&quot;:5,&quot;pos&quot;:0,&quot;transparency&quot;:0},{&quot;brightness&quot;:0.4000000059604645,&quot;colorType&quot;:1,&quot;foreColorIndex&quot;:5,&quot;pos&quot;:1,&quot;transparency&quot;:0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FILL_TYPE" val="3"/>
  <p:tag name="KSO_WM_DIAGRAM_USE_COLOR_VALUE" val="{&quot;color_scheme&quot;:1,&quot;color_type&quot;:1,&quot;theme_color_indexes&quot;:[]}"/>
</p:tagLst>
</file>

<file path=ppt/tags/tag1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2"/>
  <p:tag name="KSO_WM_UNIT_ID" val="diagram20231638_1*l_h_i*1_1_2"/>
  <p:tag name="KSO_WM_TEMPLATE_CATEGORY" val="diagram"/>
  <p:tag name="KSO_WM_TEMPLATE_INDEX" val="20231638"/>
  <p:tag name="KSO_WM_UNIT_LAYERLEVEL" val="1_1_1"/>
  <p:tag name="KSO_WM_TAG_VERSION" val="3.0"/>
  <p:tag name="KSO_WM_DIAGRAM_MAX_ITEMCNT" val="3"/>
  <p:tag name="KSO_WM_DIAGRAM_MIN_ITEMCNT" val="2"/>
  <p:tag name="KSO_WM_DIAGRAM_VIRTUALLY_FRAME" val="{&quot;height&quot;:398.2500366210937,&quot;left&quot;:0.39998779296875,&quot;top&quot;:92.24996337890624,&quot;width&quot;:908.5000244140625}"/>
  <p:tag name="KSO_WM_DIAGRAM_COLOR_MATCH_VALUE" val="{&quot;shape&quot;:{&quot;fill&quot;:{&quot;gradient&quot;:[{&quot;brightness&quot;:0.949999988079071,&quot;colorType&quot;:1,&quot;foreColorIndex&quot;:5,&quot;pos&quot;:0,&quot;transparency&quot;:1},{&quot;brightness&quot;:0.800000011920929,&quot;colorType&quot;:1,&quot;foreColorIndex&quot;:5,&quot;pos&quot;:1,&quot;transparency&quot;:0.800000011920929}],&quot;type&quot;:3},&quot;glow&quot;:{&quot;colorType&quot;:0},&quot;line&quot;:{&quot;gradient&quot;:[{&quot;brightness&quot;:0.800000011920929,&quot;colorType&quot;:1,&quot;foreColorIndex&quot;:5,&quot;pos&quot;:0,&quot;transparency&quot;:0},{&quot;brightness&quot;:0.4000000059604645,&quot;colorType&quot;:1,&quot;foreColorIndex&quot;:5,&quot;pos&quot;:1,&quot;transparency&quot;:0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FILL_TYPE" val="3"/>
  <p:tag name="KSO_WM_DIAGRAM_USE_COLOR_VALUE" val="{&quot;color_scheme&quot;:1,&quot;color_type&quot;:1,&quot;theme_color_indexes&quot;:[]}"/>
</p:tagLst>
</file>

<file path=ppt/tags/tag154.xml><?xml version="1.0" encoding="utf-8"?>
<p:tagLst xmlns:p="http://schemas.openxmlformats.org/presentationml/2006/main">
  <p:tag name="KSO_WM_SLIDE_ID" val="diagram20233315_2"/>
  <p:tag name="KSO_WM_TEMPLATE_SUBCATEGORY" val="0"/>
  <p:tag name="KSO_WM_TEMPLATE_MASTER_TYPE" val="0"/>
  <p:tag name="KSO_WM_TEMPLATE_COLOR_TYPE" val="0"/>
  <p:tag name="KSO_WM_SLIDE_ITEM_CNT" val="4"/>
  <p:tag name="KSO_WM_SLIDE_INDEX" val="2"/>
  <p:tag name="KSO_WM_TAG_VERSION" val="3.0"/>
  <p:tag name="KSO_WM_BEAUTIFY_FLAG" val="#wm#"/>
  <p:tag name="KSO_WM_TEMPLATE_CATEGORY" val="custom"/>
  <p:tag name="KSO_WM_TEMPLATE_INDEX" val="20238601"/>
  <p:tag name="KSO_WM_SLIDE_TYPE" val="text"/>
  <p:tag name="KSO_WM_SLIDE_SUBTYPE" val="diag"/>
  <p:tag name="KSO_WM_SLIDE_SIZE" val="850.394*297.555"/>
  <p:tag name="KSO_WM_SLIDE_POSITION" val="54.8032*139.28"/>
  <p:tag name="KSO_WM_SLIDE_LAYOUT" val="a_l"/>
  <p:tag name="KSO_WM_SLIDE_LAYOUT_CNT" val="1_1"/>
  <p:tag name="KSO_WM_SPECIAL_SOURCE" val="bdnull"/>
  <p:tag name="KSO_WM_DIAGRAM_GROUP_CODE" val="l1-1"/>
  <p:tag name="KSO_WM_SLIDE_DIAGTYPE" val="l"/>
  <p:tag name="resource_record_key" val="{&quot;65&quot;:[20238601],&quot;70&quot;:[3330472,3327015]}"/>
</p:tagLst>
</file>

<file path=ppt/tags/tag155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ID" val="custom20238601_7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8601"/>
  <p:tag name="KSO_WM_TEMPLATE_CATEGORY" val="custom"/>
  <p:tag name="KSO_WM_UNIT_ISCONTENTSTITLE" val="0"/>
  <p:tag name="KSO_WM_UNIT_PRESET_TEXT" val="单击此处&#10;添加章节标题"/>
  <p:tag name="KSO_WM_UNIT_TEXT_TYPE" val="1"/>
</p:tagLst>
</file>

<file path=ppt/tags/tag156.xml><?xml version="1.0" encoding="utf-8"?>
<p:tagLst xmlns:p="http://schemas.openxmlformats.org/presentationml/2006/main">
  <p:tag name="KSO_WM_UNIT_TYPE" val="e"/>
  <p:tag name="KSO_WM_UNIT_INDEX" val="1"/>
  <p:tag name="KSO_WM_BEAUTIFY_FLAG" val="#wm#"/>
  <p:tag name="KSO_WM_TAG_VERSION" val="3.0"/>
  <p:tag name="KSO_WM_UNIT_ID" val="custom20238601_7*e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8601"/>
  <p:tag name="KSO_WM_TEMPLATE_CATEGORY" val="custom"/>
</p:tagLst>
</file>

<file path=ppt/tags/tag157.xml><?xml version="1.0" encoding="utf-8"?>
<p:tagLst xmlns:p="http://schemas.openxmlformats.org/presentationml/2006/main">
  <p:tag name="KSO_WM_SLIDE_TYPE" val="sectionTitle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BEAUTIFY_FLAG" val="#wm#"/>
  <p:tag name="KSO_WM_TEMPLATE_INDEX" val="20238601"/>
  <p:tag name="KSO_WM_TEMPLATE_CATEGORY" val="custom"/>
  <p:tag name="KSO_WM_SLIDE_INDEX" val="7"/>
  <p:tag name="KSO_WM_SLIDE_ID" val="custom20238601_7"/>
  <p:tag name="KSO_WM_TEMPLATE_MASTER_TYPE" val="0"/>
  <p:tag name="KSO_WM_SLIDE_LAYOUT" val="a_e"/>
  <p:tag name="KSO_WM_SLIDE_LAYOUT_CNT" val="1_1"/>
</p:tagLst>
</file>

<file path=ppt/tags/tag158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33335_3*a*1"/>
  <p:tag name="KSO_WM_TEMPLATE_CATEGORY" val="diagram"/>
  <p:tag name="KSO_WM_TEMPLATE_INDEX" val="20233335"/>
  <p:tag name="KSO_WM_UNIT_LAYERLEVEL" val="1"/>
  <p:tag name="KSO_WM_TAG_VERSION" val="3.0"/>
  <p:tag name="KSO_WM_BEAUTIFY_FLAG" val="#wm#"/>
  <p:tag name="KSO_WM_DIAGRAM_GROUP_CODE" val="l1-1"/>
  <p:tag name="KSO_WM_UNIT_PRESET_TEXT" val="单击此处添加标题"/>
  <p:tag name="KSO_WM_UNIT_TEXT_TYPE" val="1"/>
  <p:tag name="KSO_WM_UNIT_TEXT_FILL_FORE_SCHEMECOLOR_INDEX" val="13"/>
  <p:tag name="KSO_WM_UNIT_TEXT_FILL_TYPE" val="1"/>
  <p:tag name="KSO_WM_UNIT_USESOURCEFORMAT_APPLY" val="0"/>
</p:tagLst>
</file>

<file path=ppt/tags/tag1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1_1"/>
  <p:tag name="KSO_WM_UNIT_ID" val="diagram20232462_1*l_h_i*1_1_1"/>
  <p:tag name="KSO_WM_TEMPLATE_CATEGORY" val="diagram"/>
  <p:tag name="KSO_WM_TEMPLATE_INDEX" val="20232462"/>
  <p:tag name="KSO_WM_UNIT_LAYERLEVEL" val="1_1_1"/>
  <p:tag name="KSO_WM_TAG_VERSION" val="3.0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l1-1"/>
  <p:tag name="KSO_WM_DIAGRAM_MAX_ITEMCNT" val="6"/>
  <p:tag name="KSO_WM_DIAGRAM_MIN_ITEMCNT" val="2"/>
  <p:tag name="KSO_WM_DIAGRAM_VIRTUALLY_FRAME" val="{&quot;height&quot;:366.8999938964844,&quot;left&quot;:54.377960205078125,&quot;top&quot;:145.20000305175782,&quot;width&quot;:851.2440795898438}"/>
  <p:tag name="KSO_WM_DIAGRAM_COLOR_MATCH_VALUE" val="{&quot;shape&quot;:{&quot;fill&quot;:{&quot;gradient&quot;:[{&quot;brightness&quot;:0,&quot;colorType&quot;:1,&quot;foreColorIndex&quot;:5,&quot;pos&quot;:0,&quot;transparency&quot;:0},{&quot;brightness&quot;:-0.25,&quot;colorType&quot;:1,&quot;foreColorIndex&quot;:5,&quot;pos&quot;:1,&quot;transparency&quot;:0}],&quot;type&quot;:3},&quot;glow&quot;:{&quot;colorType&quot;:0},&quot;line&quot;:{&quot;type&quot;:0},&quot;shadow&quot;:{&quot;brightness&quot;:0,&quot;colorType&quot;:1,&quot;foreColorIndex&quot;:5,&quot;transparency&quot;:0.75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1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1_1"/>
  <p:tag name="KSO_WM_UNIT_ID" val="diagram20232462_1*l_h_i*1_1_1"/>
  <p:tag name="KSO_WM_TEMPLATE_CATEGORY" val="diagram"/>
  <p:tag name="KSO_WM_TEMPLATE_INDEX" val="20232462"/>
  <p:tag name="KSO_WM_UNIT_LAYERLEVEL" val="1_1_1"/>
  <p:tag name="KSO_WM_TAG_VERSION" val="3.0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l1-1"/>
  <p:tag name="KSO_WM_DIAGRAM_MAX_ITEMCNT" val="6"/>
  <p:tag name="KSO_WM_DIAGRAM_MIN_ITEMCNT" val="2"/>
  <p:tag name="KSO_WM_DIAGRAM_VIRTUALLY_FRAME" val="{&quot;height&quot;:366.8999938964844,&quot;left&quot;:54.377960205078125,&quot;top&quot;:145.20000305175782,&quot;width&quot;:851.2440795898438}"/>
  <p:tag name="KSO_WM_DIAGRAM_COLOR_MATCH_VALUE" val="{&quot;shape&quot;:{&quot;fill&quot;:{&quot;gradient&quot;:[{&quot;brightness&quot;:0,&quot;colorType&quot;:1,&quot;foreColorIndex&quot;:5,&quot;pos&quot;:0,&quot;transparency&quot;:0},{&quot;brightness&quot;:-0.25,&quot;colorType&quot;:1,&quot;foreColorIndex&quot;:5,&quot;pos&quot;:1,&quot;transparency&quot;:0}],&quot;type&quot;:3},&quot;glow&quot;:{&quot;colorType&quot;:0},&quot;line&quot;:{&quot;type&quot;:0},&quot;shadow&quot;:{&quot;brightness&quot;:0,&quot;colorType&quot;:1,&quot;foreColorIndex&quot;:5,&quot;transparency&quot;:0.75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1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1_1"/>
  <p:tag name="KSO_WM_UNIT_ID" val="diagram20232462_1*l_h_i*1_1_1"/>
  <p:tag name="KSO_WM_TEMPLATE_CATEGORY" val="diagram"/>
  <p:tag name="KSO_WM_TEMPLATE_INDEX" val="20232462"/>
  <p:tag name="KSO_WM_UNIT_LAYERLEVEL" val="1_1_1"/>
  <p:tag name="KSO_WM_TAG_VERSION" val="3.0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l1-1"/>
  <p:tag name="KSO_WM_DIAGRAM_MAX_ITEMCNT" val="6"/>
  <p:tag name="KSO_WM_DIAGRAM_MIN_ITEMCNT" val="2"/>
  <p:tag name="KSO_WM_DIAGRAM_VIRTUALLY_FRAME" val="{&quot;height&quot;:366.8999938964844,&quot;left&quot;:54.377960205078125,&quot;top&quot;:145.20000305175782,&quot;width&quot;:851.2440795898438}"/>
  <p:tag name="KSO_WM_DIAGRAM_COLOR_MATCH_VALUE" val="{&quot;shape&quot;:{&quot;fill&quot;:{&quot;gradient&quot;:[{&quot;brightness&quot;:0,&quot;colorType&quot;:1,&quot;foreColorIndex&quot;:5,&quot;pos&quot;:0,&quot;transparency&quot;:0},{&quot;brightness&quot;:-0.25,&quot;colorType&quot;:1,&quot;foreColorIndex&quot;:5,&quot;pos&quot;:1,&quot;transparency&quot;:0}],&quot;type&quot;:3},&quot;glow&quot;:{&quot;colorType&quot;:0},&quot;line&quot;:{&quot;type&quot;:0},&quot;shadow&quot;:{&quot;brightness&quot;:0,&quot;colorType&quot;:1,&quot;foreColorIndex&quot;:5,&quot;transparency&quot;:0.75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162.xml><?xml version="1.0" encoding="utf-8"?>
<p:tagLst xmlns:p="http://schemas.openxmlformats.org/presentationml/2006/main">
  <p:tag name="KSO_WM_SLIDE_ID" val="diagram20233335_3"/>
  <p:tag name="KSO_WM_TEMPLATE_SUBCATEGORY" val="0"/>
  <p:tag name="KSO_WM_TEMPLATE_MASTER_TYPE" val="0"/>
  <p:tag name="KSO_WM_TEMPLATE_COLOR_TYPE" val="0"/>
  <p:tag name="KSO_WM_SLIDE_ITEM_CNT" val="4"/>
  <p:tag name="KSO_WM_SLIDE_INDEX" val="3"/>
  <p:tag name="KSO_WM_TAG_VERSION" val="3.0"/>
  <p:tag name="KSO_WM_BEAUTIFY_FLAG" val="#wm#"/>
  <p:tag name="KSO_WM_TEMPLATE_CATEGORY" val="custom"/>
  <p:tag name="KSO_WM_TEMPLATE_INDEX" val="20238601"/>
  <p:tag name="KSO_WM_SLIDE_TYPE" val="text"/>
  <p:tag name="KSO_WM_SLIDE_SUBTYPE" val="diag"/>
  <p:tag name="KSO_WM_SLIDE_SIZE" val="849.95*352.7"/>
  <p:tag name="KSO_WM_SLIDE_POSITION" val="54.75*140.35"/>
  <p:tag name="KSO_WM_SLIDE_LAYOUT" val="a_l"/>
  <p:tag name="KSO_WM_SLIDE_LAYOUT_CNT" val="1_1"/>
  <p:tag name="KSO_WM_SPECIAL_SOURCE" val="bdnull"/>
  <p:tag name="KSO_WM_DIAGRAM_GROUP_CODE" val="l1-1"/>
  <p:tag name="KSO_WM_SLIDE_DIAGTYPE" val="l"/>
</p:tagLst>
</file>

<file path=ppt/tags/tag1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29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UNIT_ID" val="diagram20231973_1*a*1"/>
  <p:tag name="KSO_WM_TEMPLATE_CATEGORY" val="diagram"/>
  <p:tag name="KSO_WM_TEMPLATE_INDEX" val="20231973"/>
  <p:tag name="KSO_WM_UNIT_LAYERLEVEL" val="1"/>
  <p:tag name="KSO_WM_TAG_VERSION" val="3.0"/>
  <p:tag name="KSO_WM_BEAUTIFY_FLAG" val="#wm#"/>
  <p:tag name="KSO_WM_UNIT_TEXT_TYPE" val="1"/>
  <p:tag name="KSO_WM_UNIT_PRESET_TEXT" val="单击此处添加标题"/>
  <p:tag name="KSO_WM_UNIT_TEXT_FILL_FORE_SCHEMECOLOR_INDEX" val="13"/>
  <p:tag name="KSO_WM_UNIT_TEXT_FILL_TYPE" val="1"/>
  <p:tag name="KSO_WM_UNIT_USESOURCEFORMAT_APPLY" val="0"/>
</p:tagLst>
</file>

<file path=ppt/tags/tag164.xml><?xml version="1.0" encoding="utf-8"?>
<p:tagLst xmlns:p="http://schemas.openxmlformats.org/presentationml/2006/main">
  <p:tag name="KSO_WM_SLIDE_ID" val="diagram20231973_1"/>
  <p:tag name="KSO_WM_TEMPLATE_SUBCATEGORY" val="0"/>
  <p:tag name="KSO_WM_TEMPLATE_MASTER_TYPE" val="0"/>
  <p:tag name="KSO_WM_TEMPLATE_COLOR_TYPE" val="0"/>
  <p:tag name="KSO_WM_SLIDE_TYPE" val="text"/>
  <p:tag name="KSO_WM_SLIDE_SUBTYPE" val="diag"/>
  <p:tag name="KSO_WM_SLIDE_ITEM_CNT" val="2"/>
  <p:tag name="KSO_WM_SLIDE_INDEX" val="1"/>
  <p:tag name="KSO_WM_SLIDE_SIZE" val="850.35*326.55"/>
  <p:tag name="KSO_WM_SLIDE_POSITION" val="54.85*131.9"/>
  <p:tag name="KSO_WM_DIAGRAM_GROUP_CODE" val="l1-1"/>
  <p:tag name="KSO_WM_SLIDE_DIAGTYPE" val="l"/>
  <p:tag name="KSO_WM_TAG_VERSION" val="3.0"/>
  <p:tag name="KSO_WM_BEAUTIFY_FLAG" val="#wm#"/>
  <p:tag name="KSO_WM_TEMPLATE_CATEGORY" val="custom"/>
  <p:tag name="KSO_WM_TEMPLATE_INDEX" val="20238601"/>
  <p:tag name="KSO_WM_SLIDE_LAYOUT" val="a_l"/>
  <p:tag name="KSO_WM_SLIDE_LAYOUT_CNT" val="1_1"/>
  <p:tag name="KSO_WM_SPECIAL_SOURCE" val="bdnull"/>
  <p:tag name="resource_record_key" val="{&quot;29&quot;:[50000076],&quot;65&quot;:[20238601]}"/>
</p:tagLst>
</file>

<file path=ppt/tags/tag165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29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UNIT_ID" val="diagram20231973_1*a*1"/>
  <p:tag name="KSO_WM_TEMPLATE_CATEGORY" val="diagram"/>
  <p:tag name="KSO_WM_TEMPLATE_INDEX" val="20231973"/>
  <p:tag name="KSO_WM_UNIT_LAYERLEVEL" val="1"/>
  <p:tag name="KSO_WM_TAG_VERSION" val="3.0"/>
  <p:tag name="KSO_WM_BEAUTIFY_FLAG" val="#wm#"/>
  <p:tag name="KSO_WM_UNIT_TEXT_TYPE" val="1"/>
  <p:tag name="KSO_WM_UNIT_PRESET_TEXT" val="单击此处添加标题"/>
  <p:tag name="KSO_WM_UNIT_TEXT_FILL_FORE_SCHEMECOLOR_INDEX" val="13"/>
  <p:tag name="KSO_WM_UNIT_TEXT_FILL_TYPE" val="1"/>
  <p:tag name="KSO_WM_UNIT_USESOURCEFORMAT_APPLY" val="0"/>
</p:tagLst>
</file>

<file path=ppt/tags/tag166.xml><?xml version="1.0" encoding="utf-8"?>
<p:tagLst xmlns:p="http://schemas.openxmlformats.org/presentationml/2006/main">
  <p:tag name="KSO_WM_SLIDE_ID" val="diagram20231973_1"/>
  <p:tag name="KSO_WM_TEMPLATE_SUBCATEGORY" val="0"/>
  <p:tag name="KSO_WM_TEMPLATE_MASTER_TYPE" val="0"/>
  <p:tag name="KSO_WM_TEMPLATE_COLOR_TYPE" val="0"/>
  <p:tag name="KSO_WM_SLIDE_TYPE" val="text"/>
  <p:tag name="KSO_WM_SLIDE_SUBTYPE" val="diag"/>
  <p:tag name="KSO_WM_SLIDE_ITEM_CNT" val="2"/>
  <p:tag name="KSO_WM_SLIDE_INDEX" val="1"/>
  <p:tag name="KSO_WM_SLIDE_SIZE" val="850.35*326.55"/>
  <p:tag name="KSO_WM_SLIDE_POSITION" val="54.85*131.9"/>
  <p:tag name="KSO_WM_DIAGRAM_GROUP_CODE" val="l1-1"/>
  <p:tag name="KSO_WM_SLIDE_DIAGTYPE" val="l"/>
  <p:tag name="KSO_WM_TAG_VERSION" val="3.0"/>
  <p:tag name="KSO_WM_BEAUTIFY_FLAG" val="#wm#"/>
  <p:tag name="KSO_WM_TEMPLATE_CATEGORY" val="custom"/>
  <p:tag name="KSO_WM_TEMPLATE_INDEX" val="20238601"/>
  <p:tag name="KSO_WM_SLIDE_LAYOUT" val="a_l"/>
  <p:tag name="KSO_WM_SLIDE_LAYOUT_CNT" val="1_1"/>
  <p:tag name="KSO_WM_SPECIAL_SOURCE" val="bdnull"/>
  <p:tag name="resource_record_key" val="{&quot;29&quot;:[50000076],&quot;65&quot;:[20238601]}"/>
</p:tagLst>
</file>

<file path=ppt/tags/tag167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29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UNIT_ID" val="diagram20231973_1*a*1"/>
  <p:tag name="KSO_WM_TEMPLATE_CATEGORY" val="diagram"/>
  <p:tag name="KSO_WM_TEMPLATE_INDEX" val="20231973"/>
  <p:tag name="KSO_WM_UNIT_LAYERLEVEL" val="1"/>
  <p:tag name="KSO_WM_TAG_VERSION" val="3.0"/>
  <p:tag name="KSO_WM_BEAUTIFY_FLAG" val="#wm#"/>
  <p:tag name="KSO_WM_UNIT_TEXT_TYPE" val="1"/>
  <p:tag name="KSO_WM_UNIT_PRESET_TEXT" val="单击此处添加标题"/>
  <p:tag name="KSO_WM_UNIT_TEXT_FILL_FORE_SCHEMECOLOR_INDEX" val="13"/>
  <p:tag name="KSO_WM_UNIT_TEXT_FILL_TYPE" val="1"/>
  <p:tag name="KSO_WM_UNIT_USESOURCEFORMAT_APPLY" val="0"/>
</p:tagLst>
</file>

<file path=ppt/tags/tag168.xml><?xml version="1.0" encoding="utf-8"?>
<p:tagLst xmlns:p="http://schemas.openxmlformats.org/presentationml/2006/main">
  <p:tag name="KSO_WM_SLIDE_ID" val="diagram20231973_1"/>
  <p:tag name="KSO_WM_TEMPLATE_SUBCATEGORY" val="0"/>
  <p:tag name="KSO_WM_TEMPLATE_MASTER_TYPE" val="0"/>
  <p:tag name="KSO_WM_TEMPLATE_COLOR_TYPE" val="0"/>
  <p:tag name="KSO_WM_SLIDE_TYPE" val="text"/>
  <p:tag name="KSO_WM_SLIDE_SUBTYPE" val="diag"/>
  <p:tag name="KSO_WM_SLIDE_ITEM_CNT" val="2"/>
  <p:tag name="KSO_WM_SLIDE_INDEX" val="1"/>
  <p:tag name="KSO_WM_SLIDE_SIZE" val="850.35*326.55"/>
  <p:tag name="KSO_WM_SLIDE_POSITION" val="54.85*131.9"/>
  <p:tag name="KSO_WM_DIAGRAM_GROUP_CODE" val="l1-1"/>
  <p:tag name="KSO_WM_SLIDE_DIAGTYPE" val="l"/>
  <p:tag name="KSO_WM_TAG_VERSION" val="3.0"/>
  <p:tag name="KSO_WM_BEAUTIFY_FLAG" val="#wm#"/>
  <p:tag name="KSO_WM_TEMPLATE_CATEGORY" val="custom"/>
  <p:tag name="KSO_WM_TEMPLATE_INDEX" val="20238601"/>
  <p:tag name="KSO_WM_SLIDE_LAYOUT" val="a_l"/>
  <p:tag name="KSO_WM_SLIDE_LAYOUT_CNT" val="1_1"/>
  <p:tag name="KSO_WM_SPECIAL_SOURCE" val="bdnull"/>
  <p:tag name="resource_record_key" val="{&quot;29&quot;:[50000076],&quot;65&quot;:[20238601]}"/>
</p:tagLst>
</file>

<file path=ppt/tags/tag169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29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UNIT_ID" val="diagram20231973_1*a*1"/>
  <p:tag name="KSO_WM_TEMPLATE_CATEGORY" val="diagram"/>
  <p:tag name="KSO_WM_TEMPLATE_INDEX" val="20231973"/>
  <p:tag name="KSO_WM_UNIT_LAYERLEVEL" val="1"/>
  <p:tag name="KSO_WM_TAG_VERSION" val="3.0"/>
  <p:tag name="KSO_WM_BEAUTIFY_FLAG" val="#wm#"/>
  <p:tag name="KSO_WM_UNIT_TEXT_TYPE" val="1"/>
  <p:tag name="KSO_WM_UNIT_PRESET_TEXT" val="单击此处添加标题"/>
  <p:tag name="KSO_WM_UNIT_TEXT_FILL_FORE_SCHEMECOLOR_INDEX" val="13"/>
  <p:tag name="KSO_WM_UNIT_TEXT_FILL_TYPE" val="1"/>
  <p:tag name="KSO_WM_UNIT_USESOURCEFORMAT_APPLY" val="0"/>
</p:tagLst>
</file>

<file path=ppt/tags/tag170.xml><?xml version="1.0" encoding="utf-8"?>
<p:tagLst xmlns:p="http://schemas.openxmlformats.org/presentationml/2006/main">
  <p:tag name="KSO_WM_SLIDE_ID" val="diagram20231973_1"/>
  <p:tag name="KSO_WM_TEMPLATE_SUBCATEGORY" val="0"/>
  <p:tag name="KSO_WM_TEMPLATE_MASTER_TYPE" val="0"/>
  <p:tag name="KSO_WM_TEMPLATE_COLOR_TYPE" val="0"/>
  <p:tag name="KSO_WM_SLIDE_TYPE" val="text"/>
  <p:tag name="KSO_WM_SLIDE_SUBTYPE" val="diag"/>
  <p:tag name="KSO_WM_SLIDE_ITEM_CNT" val="2"/>
  <p:tag name="KSO_WM_SLIDE_INDEX" val="1"/>
  <p:tag name="KSO_WM_SLIDE_SIZE" val="850.35*326.55"/>
  <p:tag name="KSO_WM_SLIDE_POSITION" val="54.85*131.9"/>
  <p:tag name="KSO_WM_DIAGRAM_GROUP_CODE" val="l1-1"/>
  <p:tag name="KSO_WM_SLIDE_DIAGTYPE" val="l"/>
  <p:tag name="KSO_WM_TAG_VERSION" val="3.0"/>
  <p:tag name="KSO_WM_BEAUTIFY_FLAG" val="#wm#"/>
  <p:tag name="KSO_WM_TEMPLATE_CATEGORY" val="custom"/>
  <p:tag name="KSO_WM_TEMPLATE_INDEX" val="20238601"/>
  <p:tag name="KSO_WM_SLIDE_LAYOUT" val="a_l"/>
  <p:tag name="KSO_WM_SLIDE_LAYOUT_CNT" val="1_1"/>
  <p:tag name="KSO_WM_SPECIAL_SOURCE" val="bdnull"/>
  <p:tag name="resource_record_key" val="{&quot;29&quot;:[50000076],&quot;65&quot;:[20238601]}"/>
</p:tagLst>
</file>

<file path=ppt/tags/tag171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29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UNIT_ID" val="diagram20231973_1*a*1"/>
  <p:tag name="KSO_WM_TEMPLATE_CATEGORY" val="diagram"/>
  <p:tag name="KSO_WM_TEMPLATE_INDEX" val="20231973"/>
  <p:tag name="KSO_WM_UNIT_LAYERLEVEL" val="1"/>
  <p:tag name="KSO_WM_TAG_VERSION" val="3.0"/>
  <p:tag name="KSO_WM_BEAUTIFY_FLAG" val="#wm#"/>
  <p:tag name="KSO_WM_UNIT_TEXT_TYPE" val="1"/>
  <p:tag name="KSO_WM_UNIT_PRESET_TEXT" val="单击此处添加标题"/>
  <p:tag name="KSO_WM_UNIT_TEXT_FILL_FORE_SCHEMECOLOR_INDEX" val="13"/>
  <p:tag name="KSO_WM_UNIT_TEXT_FILL_TYPE" val="1"/>
  <p:tag name="KSO_WM_UNIT_USESOURCEFORMAT_APPLY" val="0"/>
</p:tagLst>
</file>

<file path=ppt/tags/tag1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2"/>
  <p:tag name="KSO_WM_UNIT_ID" val="diagram20231638_1*l_h_i*1_2_2"/>
  <p:tag name="KSO_WM_TEMPLATE_CATEGORY" val="diagram"/>
  <p:tag name="KSO_WM_TEMPLATE_INDEX" val="20231638"/>
  <p:tag name="KSO_WM_UNIT_LAYERLEVEL" val="1_1_1"/>
  <p:tag name="KSO_WM_TAG_VERSION" val="3.0"/>
  <p:tag name="KSO_WM_DIAGRAM_MAX_ITEMCNT" val="3"/>
  <p:tag name="KSO_WM_DIAGRAM_MIN_ITEMCNT" val="2"/>
  <p:tag name="KSO_WM_DIAGRAM_VIRTUALLY_FRAME" val="{&quot;height&quot;:528.15,&quot;left&quot;:0.39998779296875,&quot;top&quot;:31.15,&quot;width&quot;:908.5000244140625}"/>
  <p:tag name="KSO_WM_DIAGRAM_COLOR_MATCH_VALUE" val="{&quot;shape&quot;:{&quot;fill&quot;:{&quot;gradient&quot;:[{&quot;brightness&quot;:0.949999988079071,&quot;colorType&quot;:1,&quot;foreColorIndex&quot;:5,&quot;pos&quot;:0,&quot;transparency&quot;:1},{&quot;brightness&quot;:0.800000011920929,&quot;colorType&quot;:1,&quot;foreColorIndex&quot;:5,&quot;pos&quot;:1,&quot;transparency&quot;:0.800000011920929}],&quot;type&quot;:3},&quot;glow&quot;:{&quot;colorType&quot;:0},&quot;line&quot;:{&quot;gradient&quot;:[{&quot;brightness&quot;:0.800000011920929,&quot;colorType&quot;:1,&quot;foreColorIndex&quot;:5,&quot;pos&quot;:0,&quot;transparency&quot;:0},{&quot;brightness&quot;:0.4000000059604645,&quot;colorType&quot;:1,&quot;foreColorIndex&quot;:5,&quot;pos&quot;:1,&quot;transparency&quot;:0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FILL_TYPE" val="3"/>
  <p:tag name="KSO_WM_DIAGRAM_USE_COLOR_VALUE" val="{&quot;color_scheme&quot;:1,&quot;color_type&quot;:1,&quot;theme_color_indexes&quot;:[]}"/>
</p:tagLst>
</file>

<file path=ppt/tags/tag173.xml><?xml version="1.0" encoding="utf-8"?>
<p:tagLst xmlns:p="http://schemas.openxmlformats.org/presentationml/2006/main">
  <p:tag name="KSO_WM_SLIDE_ID" val="diagram20231973_1"/>
  <p:tag name="KSO_WM_TEMPLATE_SUBCATEGORY" val="0"/>
  <p:tag name="KSO_WM_TEMPLATE_MASTER_TYPE" val="0"/>
  <p:tag name="KSO_WM_TEMPLATE_COLOR_TYPE" val="0"/>
  <p:tag name="KSO_WM_SLIDE_TYPE" val="text"/>
  <p:tag name="KSO_WM_SLIDE_SUBTYPE" val="diag"/>
  <p:tag name="KSO_WM_SLIDE_ITEM_CNT" val="2"/>
  <p:tag name="KSO_WM_SLIDE_INDEX" val="1"/>
  <p:tag name="KSO_WM_SLIDE_SIZE" val="850.35*326.55"/>
  <p:tag name="KSO_WM_SLIDE_POSITION" val="54.85*131.9"/>
  <p:tag name="KSO_WM_DIAGRAM_GROUP_CODE" val="l1-1"/>
  <p:tag name="KSO_WM_SLIDE_DIAGTYPE" val="l"/>
  <p:tag name="KSO_WM_TAG_VERSION" val="3.0"/>
  <p:tag name="KSO_WM_BEAUTIFY_FLAG" val="#wm#"/>
  <p:tag name="KSO_WM_TEMPLATE_CATEGORY" val="custom"/>
  <p:tag name="KSO_WM_TEMPLATE_INDEX" val="20238601"/>
  <p:tag name="KSO_WM_SLIDE_LAYOUT" val="a_l"/>
  <p:tag name="KSO_WM_SLIDE_LAYOUT_CNT" val="1_1"/>
  <p:tag name="KSO_WM_SPECIAL_SOURCE" val="bdnull"/>
  <p:tag name="resource_record_key" val="{&quot;29&quot;:[50000076],&quot;65&quot;:[20238601]}"/>
</p:tagLst>
</file>

<file path=ppt/tags/tag174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ID" val="custom20238601_7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8601"/>
  <p:tag name="KSO_WM_TEMPLATE_CATEGORY" val="custom"/>
  <p:tag name="KSO_WM_UNIT_ISCONTENTSTITLE" val="0"/>
  <p:tag name="KSO_WM_UNIT_PRESET_TEXT" val="单击此处&#10;添加章节标题"/>
  <p:tag name="KSO_WM_UNIT_TEXT_TYPE" val="1"/>
</p:tagLst>
</file>

<file path=ppt/tags/tag175.xml><?xml version="1.0" encoding="utf-8"?>
<p:tagLst xmlns:p="http://schemas.openxmlformats.org/presentationml/2006/main">
  <p:tag name="KSO_WM_UNIT_TYPE" val="e"/>
  <p:tag name="KSO_WM_UNIT_INDEX" val="1"/>
  <p:tag name="KSO_WM_BEAUTIFY_FLAG" val="#wm#"/>
  <p:tag name="KSO_WM_TAG_VERSION" val="3.0"/>
  <p:tag name="KSO_WM_UNIT_ID" val="custom20238601_7*e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8601"/>
  <p:tag name="KSO_WM_TEMPLATE_CATEGORY" val="custom"/>
</p:tagLst>
</file>

<file path=ppt/tags/tag176.xml><?xml version="1.0" encoding="utf-8"?>
<p:tagLst xmlns:p="http://schemas.openxmlformats.org/presentationml/2006/main">
  <p:tag name="KSO_WM_SLIDE_TYPE" val="sectionTitle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BEAUTIFY_FLAG" val="#wm#"/>
  <p:tag name="KSO_WM_TEMPLATE_INDEX" val="20238601"/>
  <p:tag name="KSO_WM_TEMPLATE_CATEGORY" val="custom"/>
  <p:tag name="KSO_WM_SLIDE_INDEX" val="7"/>
  <p:tag name="KSO_WM_SLIDE_ID" val="custom20238601_7"/>
  <p:tag name="KSO_WM_TEMPLATE_MASTER_TYPE" val="0"/>
  <p:tag name="KSO_WM_SLIDE_LAYOUT" val="a_e"/>
  <p:tag name="KSO_WM_SLIDE_LAYOUT_CNT" val="1_1"/>
</p:tagLst>
</file>

<file path=ppt/tags/tag177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32468_2*a*1"/>
  <p:tag name="KSO_WM_TEMPLATE_CATEGORY" val="diagram"/>
  <p:tag name="KSO_WM_TEMPLATE_INDEX" val="20232468"/>
  <p:tag name="KSO_WM_UNIT_LAYERLEVEL" val="1"/>
  <p:tag name="KSO_WM_TAG_VERSION" val="3.0"/>
  <p:tag name="KSO_WM_BEAUTIFY_FLAG" val="#wm#"/>
  <p:tag name="KSO_WM_DIAGRAM_GROUP_CODE" val="l1-1"/>
  <p:tag name="KSO_WM_UNIT_PRESET_TEXT" val="单击此处添加标题"/>
  <p:tag name="KSO_WM_UNIT_TEXT_TYPE" val="1"/>
  <p:tag name="KSO_WM_UNIT_TEXT_FILL_FORE_SCHEMECOLOR_INDEX" val="13"/>
  <p:tag name="KSO_WM_UNIT_TEXT_FILL_TYPE" val="1"/>
  <p:tag name="KSO_WM_UNIT_USESOURCEFORMAT_APPLY" val="0"/>
</p:tagLst>
</file>

<file path=ppt/tags/tag178.xml><?xml version="1.0" encoding="utf-8"?>
<p:tagLst xmlns:p="http://schemas.openxmlformats.org/presentationml/2006/main">
  <p:tag name="KSO_WM_SLIDE_ID" val="diagram20232468_2"/>
  <p:tag name="KSO_WM_TEMPLATE_SUBCATEGORY" val="0"/>
  <p:tag name="KSO_WM_TEMPLATE_MASTER_TYPE" val="0"/>
  <p:tag name="KSO_WM_TEMPLATE_COLOR_TYPE" val="0"/>
  <p:tag name="KSO_WM_SLIDE_ITEM_CNT" val="3"/>
  <p:tag name="KSO_WM_SLIDE_INDEX" val="2"/>
  <p:tag name="KSO_WM_TAG_VERSION" val="3.0"/>
  <p:tag name="KSO_WM_BEAUTIFY_FLAG" val="#wm#"/>
  <p:tag name="KSO_WM_TEMPLATE_CATEGORY" val="custom"/>
  <p:tag name="KSO_WM_TEMPLATE_INDEX" val="20238601"/>
  <p:tag name="KSO_WM_SLIDE_TYPE" val="text"/>
  <p:tag name="KSO_WM_SLIDE_SUBTYPE" val="diag"/>
  <p:tag name="KSO_WM_SLIDE_SIZE" val="850.352*301.7"/>
  <p:tag name="KSO_WM_SLIDE_POSITION" val="54.89*153.55"/>
  <p:tag name="KSO_WM_SLIDE_LAYOUT" val="a_l"/>
  <p:tag name="KSO_WM_SLIDE_LAYOUT_CNT" val="1_1"/>
  <p:tag name="KSO_WM_SPECIAL_SOURCE" val="bdnull"/>
  <p:tag name="KSO_WM_DIAGRAM_GROUP_CODE" val="l1-1"/>
  <p:tag name="KSO_WM_SLIDE_DIAGTYPE" val="l"/>
</p:tagLst>
</file>

<file path=ppt/tags/tag179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ID" val="custom20238601_9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8601"/>
  <p:tag name="KSO_WM_TEMPLATE_CATEGORY" val="custom"/>
  <p:tag name="KSO_WM_UNIT_ISCONTENTSTITLE" val="0"/>
</p:tagLst>
</file>

<file path=ppt/tags/tag180.xml><?xml version="1.0" encoding="utf-8"?>
<p:tagLst xmlns:p="http://schemas.openxmlformats.org/presentationml/2006/main">
  <p:tag name="KSO_WM_UNIT_TYPE" val="f"/>
  <p:tag name="KSO_WM_UNIT_SUBTYPE" val="b"/>
  <p:tag name="KSO_WM_UNIT_INDEX" val="1"/>
  <p:tag name="KSO_WM_BEAUTIFY_FLAG" val="#wm#"/>
  <p:tag name="KSO_WM_TAG_VERSION" val="3.0"/>
  <p:tag name="KSO_WM_UNIT_ID" val="custom20238601_9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8601"/>
  <p:tag name="KSO_WM_TEMPLATE_CATEGORY" val="custom"/>
</p:tagLst>
</file>

<file path=ppt/tags/tag181.xml><?xml version="1.0" encoding="utf-8"?>
<p:tagLst xmlns:p="http://schemas.openxmlformats.org/presentationml/2006/main">
  <p:tag name="KSO_WM_SLIDE_TYPE" val="endPage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BEAUTIFY_FLAG" val="#wm#"/>
  <p:tag name="KSO_WM_TEMPLATE_INDEX" val="20238601"/>
  <p:tag name="KSO_WM_TEMPLATE_CATEGORY" val="custom"/>
  <p:tag name="KSO_WM_SLIDE_INDEX" val="9"/>
  <p:tag name="KSO_WM_SLIDE_ID" val="custom20238601_9"/>
  <p:tag name="KSO_WM_TEMPLATE_MASTER_TYPE" val="0"/>
  <p:tag name="KSO_WM_SLIDE_LAYOUT" val="a_b_f"/>
  <p:tag name="KSO_WM_SLIDE_LAYOUT_CNT" val="1_1_1"/>
</p:tagLst>
</file>

<file path=ppt/tags/tag182.xml><?xml version="1.0" encoding="utf-8"?>
<p:tagLst xmlns:p="http://schemas.openxmlformats.org/presentationml/2006/main">
  <p:tag name="KSO_WM_PRESENTATION_SOURCE" val="WPPAIGeneratePPT"/>
  <p:tag name="resource_record_key" val="{&quot;29&quot;:[50000076],&quot;65&quot;:[20238601],&quot;70&quot;:[3330472,3327015,3321480]}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简约风线框职场办公">
  <a:themeElements>
    <a:clrScheme name="简约线条">
      <a:dk1>
        <a:srgbClr val="000000"/>
      </a:dk1>
      <a:lt1>
        <a:srgbClr val="FFFFFF"/>
      </a:lt1>
      <a:dk2>
        <a:srgbClr val="0A0A0A"/>
      </a:dk2>
      <a:lt2>
        <a:srgbClr val="F8F8F8"/>
      </a:lt2>
      <a:accent1>
        <a:srgbClr val="768CA4"/>
      </a:accent1>
      <a:accent2>
        <a:srgbClr val="7E809C"/>
      </a:accent2>
      <a:accent3>
        <a:srgbClr val="918199"/>
      </a:accent3>
      <a:accent4>
        <a:srgbClr val="9A9180"/>
      </a:accent4>
      <a:accent5>
        <a:srgbClr val="A68E74"/>
      </a:accent5>
      <a:accent6>
        <a:srgbClr val="A5A377"/>
      </a:accent6>
      <a:hlink>
        <a:srgbClr val="5F5F5F"/>
      </a:hlink>
      <a:folHlink>
        <a:srgbClr val="919191"/>
      </a:folHlink>
    </a:clrScheme>
    <a:fontScheme name="主题字体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2575</Words>
  <Application>WPS 演示</Application>
  <PresentationFormat>宽屏</PresentationFormat>
  <Paragraphs>274</Paragraphs>
  <Slides>20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20</vt:i4>
      </vt:variant>
    </vt:vector>
  </HeadingPairs>
  <TitlesOfParts>
    <vt:vector size="40" baseType="lpstr">
      <vt:lpstr>Arial</vt:lpstr>
      <vt:lpstr>宋体</vt:lpstr>
      <vt:lpstr>Wingdings</vt:lpstr>
      <vt:lpstr>方正姚体</vt:lpstr>
      <vt:lpstr>微软雅黑</vt:lpstr>
      <vt:lpstr>Mona Sans Semi Bold</vt:lpstr>
      <vt:lpstr>MingLiU-ExtB</vt:lpstr>
      <vt:lpstr>Funnel Sans</vt:lpstr>
      <vt:lpstr>Calibri</vt:lpstr>
      <vt:lpstr>Mona Sans Semi Bold</vt:lpstr>
      <vt:lpstr>Segoe Print</vt:lpstr>
      <vt:lpstr>Mona Sans Semi Bold</vt:lpstr>
      <vt:lpstr>Times New Roman</vt:lpstr>
      <vt:lpstr>Funnel Sans</vt:lpstr>
      <vt:lpstr>Funnel Sans</vt:lpstr>
      <vt:lpstr>Arial Unicode MS</vt:lpstr>
      <vt:lpstr>方正清仿宋 简 Bold</vt:lpstr>
      <vt:lpstr>Saturday Sans Regular</vt:lpstr>
      <vt:lpstr>WPS</vt:lpstr>
      <vt:lpstr>简约风线框职场办公</vt:lpstr>
      <vt:lpstr>面向大模型的数据与参数联合高效微调算法研究</vt:lpstr>
      <vt:lpstr>目录</vt:lpstr>
      <vt:lpstr>研究背景</vt:lpstr>
      <vt:lpstr>研究背景</vt:lpstr>
      <vt:lpstr>研究背景</vt:lpstr>
      <vt:lpstr>研究背景</vt:lpstr>
      <vt:lpstr>研究动机与目标</vt:lpstr>
      <vt:lpstr>研究动机</vt:lpstr>
      <vt:lpstr>研究动机</vt:lpstr>
      <vt:lpstr>研究目标</vt:lpstr>
      <vt:lpstr>研究内容</vt:lpstr>
      <vt:lpstr>研究路线</vt:lpstr>
      <vt:lpstr>研究内容一：关联性验证</vt:lpstr>
      <vt:lpstr>研究内容一：关联性验证</vt:lpstr>
      <vt:lpstr>研究内容二：跨PEFT泛用的数据选择算法</vt:lpstr>
      <vt:lpstr>研究内容三：数据自适应的动态PEFT路由或构建方法</vt:lpstr>
      <vt:lpstr>研究内容三：数据自适应的动态PEFT路由或构建方法</vt:lpstr>
      <vt:lpstr>总结</vt:lpstr>
      <vt:lpstr>总结</vt:lpstr>
      <vt:lpstr>感谢各位老师的批评指正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林肯达</dc:creator>
  <cp:lastModifiedBy>L</cp:lastModifiedBy>
  <cp:revision>14</cp:revision>
  <dcterms:created xsi:type="dcterms:W3CDTF">2023-08-09T12:44:00Z</dcterms:created>
  <dcterms:modified xsi:type="dcterms:W3CDTF">2025-08-30T05:17:49Z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3B0086CAF875411CACBDA13AB9801EF4_13</vt:lpwstr>
  </property>
  <property fmtid="{D5CDD505-2E9C-101B-9397-08002B2CF9AE}" pid="3" name="KSOProductBuildVer">
    <vt:lpwstr>2052-12.1.0.21915</vt:lpwstr>
  </property>
</Properties>
</file>