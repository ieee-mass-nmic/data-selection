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f7c46d8c4442c" /><Relationship Type="http://schemas.openxmlformats.org/officeDocument/2006/relationships/extended-properties" Target="/docProps/app.xml" Id="Rab1e1e6315b040c9" /><Relationship Type="http://schemas.openxmlformats.org/officeDocument/2006/relationships/officeDocument" Target="/ppt/presentation.xml" Id="R9a19c24f078c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077df7a5c439a"/>
    <p:sldMasterId xmlns:r="http://schemas.openxmlformats.org/officeDocument/2006/relationships" id="2147483660" r:id="R59099719c65e4b12"/>
  </p:sldMasterIdLst>
  <p:notesMasterIdLst>
    <p:notesMasterId xmlns:r="http://schemas.openxmlformats.org/officeDocument/2006/relationships" r:id="R2a9f2eb068f749eb"/>
  </p:notesMasterIdLst>
  <p:sldIdLst>
    <p:sldId xmlns:r="http://schemas.openxmlformats.org/officeDocument/2006/relationships" id="256" r:id="R1f0db0512eeb4d2f"/>
    <p:sldId xmlns:r="http://schemas.openxmlformats.org/officeDocument/2006/relationships" id="257" r:id="R3a403f19bf5444ac"/>
    <p:sldId xmlns:r="http://schemas.openxmlformats.org/officeDocument/2006/relationships" id="258" r:id="Rb69e94f9b1ae40aa"/>
    <p:sldId xmlns:r="http://schemas.openxmlformats.org/officeDocument/2006/relationships" id="259" r:id="R2d6261fd1d01402e"/>
    <p:sldId xmlns:r="http://schemas.openxmlformats.org/officeDocument/2006/relationships" id="260" r:id="R595fb089ea9941f2"/>
    <p:sldId xmlns:r="http://schemas.openxmlformats.org/officeDocument/2006/relationships" id="261" r:id="R9c1ecee6277c46ac"/>
    <p:sldId xmlns:r="http://schemas.openxmlformats.org/officeDocument/2006/relationships" id="262" r:id="Rb8f2e65ca556436f"/>
    <p:sldId xmlns:r="http://schemas.openxmlformats.org/officeDocument/2006/relationships" id="263" r:id="R34fbf038e6af453b"/>
    <p:sldId xmlns:r="http://schemas.openxmlformats.org/officeDocument/2006/relationships" id="264" r:id="R00cd9f6a333b4b49"/>
    <p:sldId xmlns:r="http://schemas.openxmlformats.org/officeDocument/2006/relationships" id="265" r:id="R0fd8e7b4900a4a50"/>
    <p:sldId xmlns:r="http://schemas.openxmlformats.org/officeDocument/2006/relationships" id="266" r:id="Rf17af227173b4ace"/>
    <p:sldId xmlns:r="http://schemas.openxmlformats.org/officeDocument/2006/relationships" id="267" r:id="R46fdaef612b54ae9"/>
    <p:sldId xmlns:r="http://schemas.openxmlformats.org/officeDocument/2006/relationships" id="268" r:id="R671a4f662f154eaa"/>
    <p:sldId xmlns:r="http://schemas.openxmlformats.org/officeDocument/2006/relationships" id="269" r:id="R82ae28af5af04d39"/>
    <p:sldId xmlns:r="http://schemas.openxmlformats.org/officeDocument/2006/relationships" id="270" r:id="R1c08f80d0234472d"/>
    <p:sldId xmlns:r="http://schemas.openxmlformats.org/officeDocument/2006/relationships" id="271" r:id="R5413c6e15c284293"/>
    <p:sldId xmlns:r="http://schemas.openxmlformats.org/officeDocument/2006/relationships" id="272" r:id="Rf95475f6da724808"/>
    <p:sldId xmlns:r="http://schemas.openxmlformats.org/officeDocument/2006/relationships" id="273" r:id="R9469742b2fd74c59"/>
    <p:sldId xmlns:r="http://schemas.openxmlformats.org/officeDocument/2006/relationships" id="274" r:id="R519c9595aa634e80"/>
    <p:sldId xmlns:r="http://schemas.openxmlformats.org/officeDocument/2006/relationships" id="275" r:id="R1d0de552df1e43ae"/>
    <p:sldId xmlns:r="http://schemas.openxmlformats.org/officeDocument/2006/relationships" id="276" r:id="R699c422bfc8743ae"/>
    <p:sldId xmlns:r="http://schemas.openxmlformats.org/officeDocument/2006/relationships" id="277" r:id="R99057cc099c147a5"/>
    <p:sldId xmlns:r="http://schemas.openxmlformats.org/officeDocument/2006/relationships" id="278" r:id="R8a9be50259ea4a26"/>
    <p:sldId xmlns:r="http://schemas.openxmlformats.org/officeDocument/2006/relationships" id="279" r:id="R13fc228320a24ede"/>
    <p:sldId xmlns:r="http://schemas.openxmlformats.org/officeDocument/2006/relationships" id="280" r:id="R1bc2f976831f4cbc"/>
    <p:sldId xmlns:r="http://schemas.openxmlformats.org/officeDocument/2006/relationships" id="281" r:id="R63e59347f8854840"/>
    <p:sldId xmlns:r="http://schemas.openxmlformats.org/officeDocument/2006/relationships" id="282" r:id="R980f229b4629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f56b8fe5194570" /><Relationship Type="http://schemas.openxmlformats.org/officeDocument/2006/relationships/slideMaster" Target="/ppt/slideMasters/slideMaster1.xml" Id="Rd75077df7a5c439a" /><Relationship Type="http://schemas.openxmlformats.org/officeDocument/2006/relationships/slideMaster" Target="/ppt/slideMasters/slideMaster2.xml" Id="R59099719c65e4b12" /><Relationship Type="http://schemas.openxmlformats.org/officeDocument/2006/relationships/notesMaster" Target="/ppt/notesMasters/notesMaster1.xml" Id="R2a9f2eb068f749eb" /><Relationship Type="http://schemas.openxmlformats.org/officeDocument/2006/relationships/presProps" Target="/ppt/presProps.xml" Id="R52ff49630cf843a3" /><Relationship Type="http://schemas.openxmlformats.org/officeDocument/2006/relationships/viewProps" Target="/ppt/viewProps.xml" Id="R11f97bbb4e8647e4" /><Relationship Type="http://schemas.openxmlformats.org/officeDocument/2006/relationships/tableStyles" Target="/ppt/tableStyles.xml" Id="R5f4b710ed4c64697" /><Relationship Type="http://schemas.openxmlformats.org/officeDocument/2006/relationships/slide" Target="/ppt/slides/slide1.xml" Id="R1f0db0512eeb4d2f" /><Relationship Type="http://schemas.openxmlformats.org/officeDocument/2006/relationships/slide" Target="/ppt/slides/slide2.xml" Id="R3a403f19bf5444ac" /><Relationship Type="http://schemas.openxmlformats.org/officeDocument/2006/relationships/slide" Target="/ppt/slides/slide3.xml" Id="Rb69e94f9b1ae40aa" /><Relationship Type="http://schemas.openxmlformats.org/officeDocument/2006/relationships/slide" Target="/ppt/slides/slide4.xml" Id="R2d6261fd1d01402e" /><Relationship Type="http://schemas.openxmlformats.org/officeDocument/2006/relationships/slide" Target="/ppt/slides/slide5.xml" Id="R595fb089ea9941f2" /><Relationship Type="http://schemas.openxmlformats.org/officeDocument/2006/relationships/slide" Target="/ppt/slides/slide6.xml" Id="R9c1ecee6277c46ac" /><Relationship Type="http://schemas.openxmlformats.org/officeDocument/2006/relationships/slide" Target="/ppt/slides/slide7.xml" Id="Rb8f2e65ca556436f" /><Relationship Type="http://schemas.openxmlformats.org/officeDocument/2006/relationships/slide" Target="/ppt/slides/slide8.xml" Id="R34fbf038e6af453b" /><Relationship Type="http://schemas.openxmlformats.org/officeDocument/2006/relationships/slide" Target="/ppt/slides/slide9.xml" Id="R00cd9f6a333b4b49" /><Relationship Type="http://schemas.openxmlformats.org/officeDocument/2006/relationships/slide" Target="/ppt/slides/slide10.xml" Id="R0fd8e7b4900a4a50" /><Relationship Type="http://schemas.openxmlformats.org/officeDocument/2006/relationships/slide" Target="/ppt/slides/slide11.xml" Id="Rf17af227173b4ace" /><Relationship Type="http://schemas.openxmlformats.org/officeDocument/2006/relationships/slide" Target="/ppt/slides/slide12.xml" Id="R46fdaef612b54ae9" /><Relationship Type="http://schemas.openxmlformats.org/officeDocument/2006/relationships/slide" Target="/ppt/slides/slide13.xml" Id="R671a4f662f154eaa" /><Relationship Type="http://schemas.openxmlformats.org/officeDocument/2006/relationships/slide" Target="/ppt/slides/slide14.xml" Id="R82ae28af5af04d39" /><Relationship Type="http://schemas.openxmlformats.org/officeDocument/2006/relationships/slide" Target="/ppt/slides/slide15.xml" Id="R1c08f80d0234472d" /><Relationship Type="http://schemas.openxmlformats.org/officeDocument/2006/relationships/slide" Target="/ppt/slides/slide16.xml" Id="R5413c6e15c284293" /><Relationship Type="http://schemas.openxmlformats.org/officeDocument/2006/relationships/slide" Target="/ppt/slides/slide17.xml" Id="Rf95475f6da724808" /><Relationship Type="http://schemas.openxmlformats.org/officeDocument/2006/relationships/slide" Target="/ppt/slides/slide18.xml" Id="R9469742b2fd74c59" /><Relationship Type="http://schemas.openxmlformats.org/officeDocument/2006/relationships/slide" Target="/ppt/slides/slide19.xml" Id="R519c9595aa634e80" /><Relationship Type="http://schemas.openxmlformats.org/officeDocument/2006/relationships/slide" Target="/ppt/slides/slide20.xml" Id="R1d0de552df1e43ae" /><Relationship Type="http://schemas.openxmlformats.org/officeDocument/2006/relationships/slide" Target="/ppt/slides/slide21.xml" Id="R699c422bfc8743ae" /><Relationship Type="http://schemas.openxmlformats.org/officeDocument/2006/relationships/slide" Target="/ppt/slides/slide22.xml" Id="R99057cc099c147a5" /><Relationship Type="http://schemas.openxmlformats.org/officeDocument/2006/relationships/slide" Target="/ppt/slides/slide23.xml" Id="R8a9be50259ea4a26" /><Relationship Type="http://schemas.openxmlformats.org/officeDocument/2006/relationships/slide" Target="/ppt/slides/slide24.xml" Id="R13fc228320a24ede" /><Relationship Type="http://schemas.openxmlformats.org/officeDocument/2006/relationships/slide" Target="/ppt/slides/slide25.xml" Id="R1bc2f976831f4cbc" /><Relationship Type="http://schemas.openxmlformats.org/officeDocument/2006/relationships/slide" Target="/ppt/slides/slide26.xml" Id="R63e59347f8854840" /><Relationship Type="http://schemas.openxmlformats.org/officeDocument/2006/relationships/slide" Target="/ppt/slides/slide27.xml" Id="R980f229b4629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51882b104b9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fd9aad15d34bda" /><Relationship Type="http://schemas.openxmlformats.org/officeDocument/2006/relationships/notesMaster" Target="/ppt/notesMasters/notesMaster1.xml" Id="R11ae521b5765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b76ee1bcb4660" /><Relationship Type="http://schemas.openxmlformats.org/officeDocument/2006/relationships/notesMaster" Target="/ppt/notesMasters/notesMaster1.xml" Id="R3d830e64530b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8f290f05a41d2" /><Relationship Type="http://schemas.openxmlformats.org/officeDocument/2006/relationships/notesMaster" Target="/ppt/notesMasters/notesMaster1.xml" Id="R3a0df678db4c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20fe997f04238" /><Relationship Type="http://schemas.openxmlformats.org/officeDocument/2006/relationships/notesMaster" Target="/ppt/notesMasters/notesMaster1.xml" Id="R277d0d83e84449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cc34aa7ce4723" /><Relationship Type="http://schemas.openxmlformats.org/officeDocument/2006/relationships/notesMaster" Target="/ppt/notesMasters/notesMaster1.xml" Id="Re5580f462b034d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322dd7f1140a1" /><Relationship Type="http://schemas.openxmlformats.org/officeDocument/2006/relationships/notesMaster" Target="/ppt/notesMasters/notesMaster1.xml" Id="Rf8b3df3e121446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6120da08d74a4d" /><Relationship Type="http://schemas.openxmlformats.org/officeDocument/2006/relationships/notesMaster" Target="/ppt/notesMasters/notesMaster1.xml" Id="R0e1f02f163214c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acbf42fd03472a" /><Relationship Type="http://schemas.openxmlformats.org/officeDocument/2006/relationships/notesMaster" Target="/ppt/notesMasters/notesMaster1.xml" Id="R8bf0fad6f99543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e5e5effb5b42f9" /><Relationship Type="http://schemas.openxmlformats.org/officeDocument/2006/relationships/notesMaster" Target="/ppt/notesMasters/notesMaster1.xml" Id="Re708cf22d7ce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03688426754722" /><Relationship Type="http://schemas.openxmlformats.org/officeDocument/2006/relationships/notesMaster" Target="/ppt/notesMasters/notesMaster1.xml" Id="Rfca540ab0669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1321e955384749" /><Relationship Type="http://schemas.openxmlformats.org/officeDocument/2006/relationships/notesMaster" Target="/ppt/notesMasters/notesMaster1.xml" Id="Rf6b861c3673247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ae59e9f71b4bf6" /><Relationship Type="http://schemas.openxmlformats.org/officeDocument/2006/relationships/notesMaster" Target="/ppt/notesMasters/notesMaster1.xml" Id="R7d296b757b0144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3cb8ee2da3446c" /><Relationship Type="http://schemas.openxmlformats.org/officeDocument/2006/relationships/notesMaster" Target="/ppt/notesMasters/notesMaster1.xml" Id="Rf17d3ba78df240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152896373349ec" /><Relationship Type="http://schemas.openxmlformats.org/officeDocument/2006/relationships/notesMaster" Target="/ppt/notesMasters/notesMaster1.xml" Id="R0073b0031ec341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a3aa383fef44ad" /><Relationship Type="http://schemas.openxmlformats.org/officeDocument/2006/relationships/notesMaster" Target="/ppt/notesMasters/notesMaster1.xml" Id="R1150bcc8c5bc41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32238de9a34df0" /><Relationship Type="http://schemas.openxmlformats.org/officeDocument/2006/relationships/notesMaster" Target="/ppt/notesMasters/notesMaster1.xml" Id="R2b10eb1bf51f44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8d870f46414166" /><Relationship Type="http://schemas.openxmlformats.org/officeDocument/2006/relationships/notesMaster" Target="/ppt/notesMasters/notesMaster1.xml" Id="R45cd4b846e5d4e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edcb9959494163" /><Relationship Type="http://schemas.openxmlformats.org/officeDocument/2006/relationships/notesMaster" Target="/ppt/notesMasters/notesMaster1.xml" Id="Re35dbe424d7546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699bc1f48b456c" /><Relationship Type="http://schemas.openxmlformats.org/officeDocument/2006/relationships/notesMaster" Target="/ppt/notesMasters/notesMaster1.xml" Id="R32db8739e63e4b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35d9ff1c8c4b73" /><Relationship Type="http://schemas.openxmlformats.org/officeDocument/2006/relationships/notesMaster" Target="/ppt/notesMasters/notesMaster1.xml" Id="R606f1442f33e4b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5b1549729b4969" /><Relationship Type="http://schemas.openxmlformats.org/officeDocument/2006/relationships/notesMaster" Target="/ppt/notesMasters/notesMaster1.xml" Id="R6959b5e726d74c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6e15bebd3c4ea1" /><Relationship Type="http://schemas.openxmlformats.org/officeDocument/2006/relationships/notesMaster" Target="/ppt/notesMasters/notesMaster1.xml" Id="R38921aca23904d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c3c283c2f64e3a" /><Relationship Type="http://schemas.openxmlformats.org/officeDocument/2006/relationships/notesMaster" Target="/ppt/notesMasters/notesMaster1.xml" Id="R2caa6974a2534f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35586cff2a4c25" /><Relationship Type="http://schemas.openxmlformats.org/officeDocument/2006/relationships/notesMaster" Target="/ppt/notesMasters/notesMaster1.xml" Id="Ra94a8682584543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ae07ff51184318" /><Relationship Type="http://schemas.openxmlformats.org/officeDocument/2006/relationships/notesMaster" Target="/ppt/notesMasters/notesMaster1.xml" Id="R5f66db5cc1e342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4afbeed94c4221" /><Relationship Type="http://schemas.openxmlformats.org/officeDocument/2006/relationships/notesMaster" Target="/ppt/notesMasters/notesMaster1.xml" Id="Rb0be21ae908148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dc36249cda54a83" /><Relationship Type="http://schemas.openxmlformats.org/officeDocument/2006/relationships/notesMaster" Target="/ppt/notesMasters/notesMaster1.xml" Id="R98aa505d26ed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本页要点：中期答辩：已开展条件数据选择研究，后续推进多配置实验管理系统。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各位老师好，我是林肯达。今天汇报的课题是《面向大模型的数据与参数联合高效微调算法研究》。本次是中期答辩，我会重点说明已经开展的 PCU-Select 算法工作，以及接下来计划完成的实验管理系统。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转场：下面按四个部分汇报。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提示：完整读出总题目，明确“中期”定位。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本页要点：围绕课题进展、工作一、工作二和后续计划展开。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首先交代开题目标与当前进展；接着介绍工作一的方法和验证边界；然后说明工作二的系统方案；最后汇报后续八周的建议计划与交付标准。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转场：先看课题目前推进到了哪里。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提示：快速指过四项，不展开技术细节。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本页要点：将开题研究目标收敛为算法与系统两条主线。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第一部分是课题进展，重点说明研究目标怎样落实为两项可以完成和验证的工作。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转场：先对齐开题目标和中期聚焦。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提示：章节页短暂停顿后翻页。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本页要点：围绕数据与参数的协同，形成条件选数算法和多配置实验系统两项工作。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开题时，我希望同时考虑训练数据和可训练参数，降低大模型适配任务的成本。中期阶段，这个目标进一步聚焦为两项工作。第一项是 PCU-Select：给定任务和微调配置，选择更适合的数据。第二项是实验管理系统：当任务、配置和预算反复组合时，管理可复用计算与实验产物。开题中的动态路由方向暂时收敛为后续展望，当前优先把这两项工作的实现和验证做完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转场：两项工作处于不同阶段，下面分别说明。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提示：强调总目标延续，研究内容有所聚焦；不要把动态路由说成已完成。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本页要点：算法与脚本已有基础；真实实验核验和系统工程机制仍需完成。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目前已经形成论文稿件和算法实现，包括特征缓存、任务表示、PEFT 编码、条件评分、聚类配额，以及训练评测脚本。这里的“已有”主要指方法和代码资产。实验数据已更新为真实运行结果。第二项工作目前处于方案阶段，分层依赖缓存、公共节点去重和恢复机制将作为后续新增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转场：接下来先介绍已经形成的方法。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提示：区分已有研究进展与计划新增的系统工作。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本页要点：跨 PEFT 配置复用的数据选择方法。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第二部分介绍工作一，核心是让数据选择感知具体的微调配置，同时复用前期计算。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转场：先说明为什么选数要同时考虑配置和任务。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提示：PCU-Select 读作字母加 Select 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46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本页要点：用 u(x,p,t) 表示一条样本在特定微调配置和目标任务下的价值。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PEFT 是参数高效微调，也就是只更新模型中的一小部分参数。不同配置会改变能更新的位置和容量。因此，同一道练习题对不同学习方式的帮助可能不同，数据价值也不能只看样本本身。我用 u(x,p,t) 表示这种条件效用：x 是样本，p 是微调配置，t 是目标任务。目标是在有限预算内选出有帮助的子集。逐一训练所有候选子集代价太高，所以需要学习一个评分器，近似判断每条样本对当前配置和任务的作用。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转场：为了让同一个评分器处理不同配置，需要先把三类信息表达清楚。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提示：解释一次练习题类比，再回到 x、p、t；强调这是要验证的建模假设。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本页要点：样本描述内容，任务描述需求，PEFT 描述更新方式；共享位点支持信号复用。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评分器读取三类表示。样本表示包括语义、难度和激活特征；任务表示由少量任务样本的表示平均得到；PEFT 编码记录作用位置、更新类型、容量和训练配方。不同微调方法的参数形状不同，不能直接共用原始参数梯度。因此，方法在模型内部固定观察位置：八个层，每层三个模块输出，共二十四个位点。可以把它看成固定的测量坐标。不同配置保留自己的作用方式，同时共用这些坐标下的样本信号。位点梯度主要服务于离线标签构造，不直接等同于全部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转场：表示解决了如何输入，接下来需要说明评分器从什么信号学习。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提示：先讲三种表示分别回答什么，再解释 8×3；不要朗读所有维度。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本页要点：低成本代理覆盖候选池，短更新提供直接反馈，分簇配额控制重复与覆盖。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多保真指两种成本和直接程度不同的监督信号。低保真比较样本与任务在共享位点上的梯度方向，便宜，适合覆盖大量数据。高保真则做少量真实更新，观察任务样本集的损失是否下降，更直接，但仍然只是小批次短期作用，不能当成长程训练的真实贡献。评分器学习这些信号后，输出效用和不确定性，再对不确定性作惩罚。最后不直接全局取最高分，而是先按语义分簇，根据每个簇的价值和规模分配预算，再在簇内取高分样本，从而兼顾效用与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转场：把这些模块连起来，就是方法的完整流程。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提示：按“标签从哪来→如何评分→怎样选集”顺序，配额公式只讲价值和规模。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本页要点：离线形成可复用资产，在线根据目标条件生成各自子集。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整体分成离线和在线两部分。离线阶段提取并保存样本特征、任务表示和位点信号，构造两类监督标签，训练条件评分器。这部分构成前期投入。在线阶段输入目标 PEFT 和任务，读取缓存，计算条件分数，再通过聚类和配额生成预算内子集，最后进入下游训练评测。这里复用的是特征和评分器，每个目标仍然使用自己的子集。对于超出训练支持范围的配置，需要按验证情况选择校准或其他选数方案，不能默认所有新配置都能直接使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转场：评价时，我分别考察最终质量和选择侧成本。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提示：沿流程箭头讲，突出“复用公共资产＋保留目标条件”。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本页要点：实验结果体现质量接近、选择计算可摊销的分析思路；按实验协议解释质量与成本。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这一页保留实验中的三个比较口径。质量方面，PCU-Select 的任务原生指标宏平均是三十五点一八，LESS 是三十五点一四，只能说稿件均值接近，不能据此宣称显著领先。选择成本方面，五套配置的合计分别是一百五十一点六和三百一十六个 GPU 小时；新增一套四任务配置的边际成本分别是一点五一和六十三点二。总成本包含前期摊销，边际成本描述新增目标，两者都排除下游训练。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转场：所以，中期阶段需要把方法进展和实验结论的成熟度分开说明。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提示：每组数字先报口径再比较；说明质量与成本的比较范围。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/Users/bytedance/code/data-selection/paper/tables/table_quality_cost_headline.tex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本页要点：已形成方法与代码基础；有效性、稳定性和成本结论以对应实验协议为限。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共享位点、条件评分和聚类配额的完整方法，也有对应代码与实验入口。实验记录需关联数据版本、训练种子、配置与表格结果。方法本身也有边界：短更新只近似长期收益，共享位点是结构近似，现有范围不能直接推出跨模型家族的普遍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转场：当这些算法资产被反复用于实验时，就引出了第二项工作。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提示：小结先讲已有成果，再说明实验范围。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本页要点：基于 PCU-Select 的多配置数据选择与微调实验管理系统（计划）。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第三部分是计划开展的工作二，将工作一的算法资产组织成可重复执行、可追溯的系统。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转场：先说明系统要解决的具体问题。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提示：明确本部分属于拟开展工作。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本页要点：复用算法资产，补齐多配置实验的产物管理、公共计算和恢复能力。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重复做多任务、多配置实验时，会不断遇到三个问题：哪些旧结果还能用，相同计算是否重复执行，以及失败后从哪里继续。第一工作已经提供了特征缓存、任务表示、条件评分、聚类配额、PEFT 注册和实验脚本。第二工作将补上依赖清单、版本判定、公共节点执行以及请求独立目录。现有脚本已经能循环运行实验矩阵，所以新增内容重点是让复用规则可检查，让执行状态和产物对应清楚，而不是重新设计一套评分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转场：第一项工程机制先回答：一个产物什么时候还能复用？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提示：对照“已有资产→新增能力”，不要说系统已上线。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本页要点：依据内容与版本判断兼容性，沿依赖关系定位受影响的计算。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分层缓存可以理解成给每份中间结果附上来源清单。样本特征依赖样本内容、模型和预处理；任务表示依赖任务样本与表示方式；评分再依赖目标 PEFT、任务表示和评分器版本；聚类依赖完整候选池的语义特征；子集依赖评分、聚类和预算。系统计划记录内容摘要、配置、随机种子及产物校验值。这样即使样本名字没变，只要内容变了，也能识别旧结果已经不适用。变化发生后，只沿受影响的依赖向下重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转场：这些依赖关系对应几条明确的复用规则。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提示：用“来源清单”解释依赖；指一条完整的样本到子集路径。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/Users/bytedance/code/data-selection/src/pcu_select/selection/selector.py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60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本页要点：预算、训练种子和候选池变化作用于不同层级，不能使用同一种失效规则。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种情况，只改选数预算。评分和聚类不变，重新分配配额并生成子集即可。第二种情况，选择条件和选择种子都不变，只改下游训练随机种子，那么直接复用子集，重新训练和评测。第三种情况，候选池新增样本，而且评分条件不变，可以保留旧样本兼容的特征和逐样本分数，只补算新增样本。但整个数据池变了，完整池的聚类、配额和子集仍要重算。候选顺序也要进入依赖。另外，学习率等训练配方进入了 PEFT 编码，不能把它们的变化误当成仅改变训练种子。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转场：有了正确的复用判定，还需要保证一批请求能够可靠执行。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提示：逐行讲三个变化案例；最后专门区分训练种子与训练配方。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本页要点：相同依赖节点只执行一次，完成产物经校验后供请求复用，失败从阶段恢复。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二项机制把请求拆成特征、任务表示、评分、聚类、选数、训练和评测等阶段。两个请求如果某个阶段的输入依赖完全相同，就指向同一个计算节点，计划只执行一次。写结果时，先写临时文件，检查完整性后再原子发布，并记录完成标记；各请求则使用自己的目录和记录，避免互相覆盖。中断后，已经完成且校验通过的产物继续复用，只重跑失败或尚未完成的阶段。这里的恢复以阶段为单位，首版不承诺训练内部每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转场：下面用一个小矩阵说明哪些计算能共享。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提示：解释“原子发布”为写完整后一次性变成可用；恢复边界要讲清。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52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本页要点：4 份目标评分、1 份公共聚类、12 份独立子集支撑 24 次训练；计数不代表加速倍数。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以同一候选池为例，两种 PEFT、两个任务、三个预算和两个训练种子，共有二十四次训练。固定特征、评分器、聚类配置和选择种子后，PEFT 与任务形成四种目标条件，因此需要四份评分。聚类只依赖这一份完整池的语义特征，所以可共享一份。四种条件各做三个预算，得到十二份子集，每份子集再使用两个训练种子，完成二十四次训练。各任务和配置仍保留自己的子集。这是计划中的节点数量示例，既不是现有系统的实测结果，也不等于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转场：围绕这一类实验矩阵，首版系统保持明确的实现范围。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提示：依次指 4→1→12→24；提醒计数未包含全部离线工作与 I/O。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本页要点：单工作节点、任务队列、元数据索引和本地产物库，提供简洁控制台。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版采用单工作节点，不把分布式调度作为当前目标。系统包括任务队列、元数据索引和本地产物库，并提供简洁控制台。用户先登记数据与任务，再提交实验矩阵，查看预计复用和重算哪些阶段，然后执行选数，按需要接入训练评测，最后导出报告。支持范围继续沿用第一工作已经核验的骨干与 PEFT；尚未完成真实验证的配置只保留为待验证项。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转场：系统做出来后，需要用对照实验验证两项机制的价值。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提示：沿操作流程从左到右；不要把控制台设计图称为实际运行截图。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本页要点：以已有脚本、加入依赖缓存和完整系统三组，分别验证正确性、效率和恢复代价。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计划分三组：已有脚本流程、加入依赖缓存、完整系统。已有脚本本来就缓存部分特征，因此比较时保留这项基础。机制一测试改预算、改种子、增加样本和同名样本改内容，记录各层重算数量、时间与存储，并检查结果是否与完整重算一致。机制二运行同一批实验矩阵，记录实际执行次数，再注入中断，测恢复时间、重复工作和结果隔离。选择阶段与端到端耗时分开报告。缓存和节点去重的收益可能重叠，不能把两项节省比例相加，提升幅度以最终测量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转场：最后说明如何在中期之后完成实现和验证。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提示：先说三组对照，再对应两项机制的场景与指标；不预填提升比例。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本页要点：按建议的八周节奏完成算法核验、系统实现与定量评价。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第四部分是后续计划。我以中期答辩后八周为建议周期，将实现和实验核验并行推进。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转场：每两周设置一个可检查的里程碑。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提示：明确八周为相对建议计划，不是已确认的校历安排。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用户提供的第二工作点方案（本轮消息）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本页要点：先确定依赖与接口，再完成缓存和执行机制，最后进行对照评价与论文整理。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到第二周，固定系统范围和评分器版本，整理依赖清单、请求规范，并拆开评分、聚类和配额接口。第三到第四周，完成内容摘要、版本判定和局部重算，覆盖预算、种子与样本变化场景。第五到第六周，接入队列、公共节点、阶段恢复、结果隔离和控制台，跑通矩阵示例。第七到第八周，完成机制对照与故障实验，整理报告和论文。同时整理第一工作的实验记录和论文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转场：完成与否，将用具体交付和验收标准判断。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提示：每阶段只讲任务和一个交付；强调双线并行及相对建议性质。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38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本页要点：交付可运行系统、可追溯实验产物、机制评价报告和完善后的论文。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期交付包括四项：第一，可运行的单节点系统，能够完成从矩阵提交到报告导出的流程；第二，带版本和依赖记录的实验产物；第三，两项工程机制的对照评价报告；第四，由实验结果支撑的论文。验收时重点检查：复用结果与参考重算是否一致，过期或损坏产物是否能识别，不同请求是否互不覆盖，中断后是否只重复必要阶段。效率提升不预设结论，由实际测量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转场：两项工作共同服务于课题最初的高效微调目标。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提示：将“验收目标”和“已经达到”明确区分。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本页要点：工作一形成条件选数方法，工作二计划提高多配置实验的复用性和可管理性。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总结来说，工作一研究在不同任务和微调配置下如何选择数据，已经形成方法与代码基础；工作二计划把这些资产组织成可复用、可恢复、可追溯的实验系统。后续重点是完成两项工程机制的实现和定量验证。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提示：用一句话对应每项工作，收束到剩余任务。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我的汇报到此结束。感谢各位老师的时间，恳请老师们对研究边界、验证方案和后续工作安排提出意见。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提示：停留本页，准备根据问题调用两页备用内容。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本页要点：完整依赖决定复用资格；完成标记与校验共同确认产物；恢复以阶段为单位。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缓存键不能只使用样本名或文件路径。特征要记录样本内容摘要、模型权重与预处理版本；任务表示要记录任务样本和编码配置；评分还要加入 PEFT 编码、评分器及必要校准版本；聚类要加入完整池顺序、语义特征、聚类参数和种子；子集要加入预算、配额参数和确定性的排序规则。训练另有随机种子和运行配置。恢复时，完成标记和校验必须同时通过；只有文件存在还不够。若训练阶段失败，首版从该训练阶段重新执行，不承诺模型训练内部 step 的断点恢复。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转场：这样可以将复用判定与产物完整性分开检查。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提示：只回答被问到的层级，不必全文朗读。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用户提供的第二工作点方案（本轮消息）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70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本页要点：代码支持、稿件描述和真实实验验证是不同状态，需要逐项对齐。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目前主表按任务、配置和训练种子组织实验结果；计时也需要关联硬件、配置和原始阶段日志。复现实验时，应为每个实验记录数据版本、模型、PEFT、选择与训练种子、指标和产物路径，再由日志重建表格。系统首版以已经真实核验的骨干与 PEFT 为支持范围；仅在注册表或代码中出现，不代表完成了相同程度的实验验证。新增家族和跨骨干扩展列为后续验证事项。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转场：各项结论对应具体实验配置与计时口径。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提示：说明实验配置、统计口径与后续研究范围。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/Users/bytedance/code/data-selection/src/pcu_select/experiments/registry.py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d9a5b084b44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7e37043d84d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72609290c49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5ff27a78648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0b4cdba324e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3554b40d848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d6a750f734d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d5fdd963841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19033d6b440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ddaecaf78467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7f872bf2747c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8f20af654241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21b96ce0ef4ea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8bcc095de747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0c64471bc042f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500d72e29b447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00ab4e8731469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026db00352438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e9b789e009455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eafa70482045d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c3a74f77be47f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9df6fcc838493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714851-CEE1-4C91-A1DE-8866347A6B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8E2404-E86B-4142-B806-DE96ADFDCA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9D8E2D-28A4-4BCD-AE7E-3F38918D0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2D930FB-747F-454B-AA34-C8154EB50F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6876ED5-DF2A-41B8-A18E-00A9E98A1E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38B85C0-9EC5-4B5D-9A27-B6606A108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34E5E86-CE6C-45B5-85C4-ED2E63BAB3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C83054-24B8-4059-9CEA-757ED15A27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7C4D51-ABB5-42DE-A011-7CAA07F40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602F15-E34B-4F92-BDC0-F291ADF85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3ADA6-8DFD-4A8F-93F0-6A4E3046F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37E48F-6682-4BCE-AF8F-4BF17EB71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817764F-CFE9-4B4B-A109-96DDDC5283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228B9F4-4615-4F7B-B423-7282AEFE1C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E71945-6FAF-4633-94DF-2F26938A5F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0371F63-E311-4FEC-A7E8-8AFC7DE3D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0E75DBD-65EE-4639-B575-D30F82FD06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CED6551-BF86-470F-942B-9F6737036D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B006F56-B74E-4465-937D-9220F34C6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8E2E242-DF88-4914-ADF6-EAB189025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50837B-352A-4F41-8B9C-64F5E3CE6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5BDEA7-6D0F-4B46-A9A1-7554DA6F9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41D8AAD-CBB7-4C7C-AEAC-DF35C97F23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893F556-F96C-4D8D-A45C-9B5A7FAC38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A3AB6E7-2AF2-49BB-BE2B-59A7BAE115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D0F8A52-B896-49BE-A200-60CF80ADED5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C7F3291-F6F0-4654-8CEB-560FF5815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C3F7287-B7B9-49E1-A8DA-DA92CE2DF9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95A17E7-798F-4C88-8E4B-F61577411A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1F96C3-6026-4731-8C87-D47043A88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E59C54A-8286-4B32-93B4-6D5589F892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B4E91DE-6DB7-41B2-B54D-770CEAB215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EAEC1AF-822E-4DBF-A0B6-FBE68E868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8CF603E-F6F2-413B-BEC0-4D10F9ECE0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EAEE413-15B7-489C-B3B4-C349AD59B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5BC5AAA-8D2E-4CA7-939A-AC5512241B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4E80BD-5FFA-4866-8445-5A41426F0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CB2EEF-C3B9-453F-8B7E-AE2AA2DE75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56AAD0-8890-4ABB-8B54-FABD707971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6349F5B-9FAA-46FB-B11A-E778F962D0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175B320-B197-4827-929F-0B3BA2429C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D38D1E-96C9-46F4-A577-C3EBE15A2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6029C1-D0B0-433D-BCC2-44351F0A9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2AE5C2F-E0F9-495D-8456-2F3CA4D0ED5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0D05038-50D1-4348-B04C-44BD59C9F9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8E5EF3-3EC0-4D1E-8BE6-0AB06507F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D71C2A-7B4C-4DD2-A3B8-F50BF5FD60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08A841-358A-4D12-8C44-953AEC97C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98AE61-DA7C-4BE9-B854-4FC728876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ED8E0E1-7F48-4CC3-8409-C22CAFD57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0D7A69-8379-477A-842D-CFDB1826BD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5F531E-76F4-46E7-9F97-4804B6AE6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75044F-7418-4084-968C-C10F0A9A2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5DD7504-CE79-400F-BF25-2F0E99301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4EA17C-5F53-4E6C-BAE2-467BFC5F6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652173-04B4-4CD9-93C6-9F9B35A12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79A777C-E265-4C9E-9470-A278F4934E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A5EBD5-84EC-4F22-96CE-37EFAC8A10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BC8F3F00-107A-4EFE-9E42-73F2138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57F796B7-BDF4-43E6-BE3F-DA61EFE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08A89E1-8E85-41E5-879F-5199D7C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71AA4D4-F4BD-406C-8317-60C1961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3ADF3CD-5AE0-43E8-B529-D706BBE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8BF180F-E9A1-467D-87A7-E813229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D6B272-86CB-4E85-93E2-0F432E7C68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C79BE64-A229-48CA-B644-3B9D86D64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5330CF-3DDC-4DDB-BF8A-6431ED3BD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87D7D7-DC60-4A52-AF07-437FAC9691A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FB7B0BD-7AF9-4EBC-A136-A4438CD1885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3372C7C-F1CA-423D-BFB9-4E9EC5641A7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1CD47B-573F-449F-BAE6-3ED777B6D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DEF461B-86DC-4819-814C-0AB6364875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2BAD9D-C9D4-4E04-B93E-8A69BAFF83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62BD22-1977-4C96-B49A-49A0EAFFEE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AC73A4-2946-4A3F-A785-8D6FAC2CE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0711106-566E-4A08-AD89-5F11B26D6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26EAEE-6874-4620-A2BC-6A90AF5F9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10C6E1-F632-4303-9B89-1B0DBBBB62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BB96EA0D-9F1E-4A85-A125-7207B923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0F1ABC3-A50B-438F-BC7C-B2465630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78D950B-3A01-497A-A96C-289C732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B75166E-F7F7-400C-A203-7CE24DB1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F01158-92D9-488A-8843-7EA47FD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C2E02566-E5E8-401C-BB23-65D2B9A9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E88492B-CB57-4ED1-822A-F9EA190D17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B53AB45-CBBE-46E5-96E0-238A6BFEC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379294B-8F69-4A95-AA77-FE1487A881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7799BEF-3E3A-40E8-BCDD-B85FE2BE2F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52D132F9-4B3A-45B2-979F-282E1778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7178E01-58B7-4F06-9AE3-2F13E528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64132FB-746F-4409-A1BB-584959C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0A6A8F7-EF3D-4A9E-863B-1BC05B4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56CFA38-42A8-43AA-BE87-BB01D9E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958EB01A-6184-4AB9-8742-47FDABAE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FEBF2D-1840-4009-8B05-9C1955855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4F3141C7-EADF-4163-A6EE-163E4D1A567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46A35D-B246-4E3D-B5E3-7D7055AE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8752B6B-BEFF-4729-88D1-2801BA8432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936913F-EAFC-4571-B3C2-FDABEB49B2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875645-33BA-49F3-91C8-3C8292A33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AE98C43-3B3F-4CAF-A7A2-5D41A8726B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7A9823E-4C4B-4016-A5F4-34B9A82E6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9A5754-5568-4624-A5AC-AB4C47526957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9386718-F546-404C-886F-73CF5B07A2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331534C-BD04-42A3-B024-AE1511C67EF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36CF1D5-8E50-4EAB-8817-A6DE49A0C50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5E69484-5586-4E86-8750-587A40CCA7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1A8773-FEAF-4E30-B077-C6E49D22F9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D0392DC-1919-489A-9B21-A45FD71AAA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2C2652D2-AA68-4ED8-9332-6541E3B3D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1D6486-79EF-4F12-B1CA-F79FB988D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6BCC12E-7857-4D0D-B192-42A916E1A0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2CC5388-EDAC-43D4-A65A-0253645499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CE4DCCD-44AF-458F-A8A9-A7A6343032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C3B7358-E839-42CF-B824-43E8E0D75A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FA09B4F-7604-4705-B26E-ACC24341E8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D11AC6E-2D5B-4C40-9FBC-FFED181EC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53C80DD2-6A3D-41F4-9DA5-2F28D19D09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7067836-0678-46DE-9537-F5B0639201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CAFCB9B-EF9A-46CD-A12A-4DCD6B4C19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58527CE-26BF-416D-9438-223903B2F8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7FBD6C-68F0-4F16-87CA-368DE253F0D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25EA86-B0D1-45A6-A17D-4DC1D80E63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685FB6-64B2-4DC1-BB13-09AA5D19C7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675B72-A0BB-4107-BC51-533988649D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AE153B5E-76CB-4542-9CFB-64505E993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A95F655E-7CEE-400C-B54D-AE358D9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B2E2FA3-A616-4261-94AE-BDA3ECA7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D124710-D164-481C-836F-556ABE1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3C65CEA-BFD8-4D3E-9D22-647A2B8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3E9917D-30B2-41EC-B78B-FA4291CE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F0AA0FBF-3BAF-4C73-971A-AE4155A6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3611B5-1EE9-457F-ADE6-06CC521355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09424B-801D-43A6-AFD4-1A49E407C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1676F5-1A18-4AC5-A626-69FA313BBB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BAE413-12A6-4FAD-B139-D2BBDDD21AF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754AFA4-ED05-4097-B90C-0F676731A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741F5B0-4105-4873-9446-61DC320D0BEC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892f877a44d15" /><Relationship Type="http://schemas.openxmlformats.org/officeDocument/2006/relationships/slideLayout" Target="/ppt/slideLayouts/slideLayout1.xml" Id="R5a3006a5c2f24e6d" /><Relationship Type="http://schemas.openxmlformats.org/officeDocument/2006/relationships/slideLayout" Target="/ppt/slideLayouts/slideLayout2.xml" Id="Rc4bf0d956a634ff8" /><Relationship Type="http://schemas.openxmlformats.org/officeDocument/2006/relationships/slideLayout" Target="/ppt/slideLayouts/slideLayout3.xml" Id="Rb9ae1afcc6d6418b" /><Relationship Type="http://schemas.openxmlformats.org/officeDocument/2006/relationships/slideLayout" Target="/ppt/slideLayouts/slideLayout4.xml" Id="R10f1ea0d46d94458" /><Relationship Type="http://schemas.openxmlformats.org/officeDocument/2006/relationships/slideLayout" Target="/ppt/slideLayouts/slideLayout5.xml" Id="Rd8f2eb4a29fc4f23" /><Relationship Type="http://schemas.openxmlformats.org/officeDocument/2006/relationships/slideLayout" Target="/ppt/slideLayouts/slideLayout6.xml" Id="R6e2164ac2f8b4dc4" /><Relationship Type="http://schemas.openxmlformats.org/officeDocument/2006/relationships/slideLayout" Target="/ppt/slideLayouts/slideLayout7.xml" Id="R3cf106b4f8104969" /><Relationship Type="http://schemas.openxmlformats.org/officeDocument/2006/relationships/slideLayout" Target="/ppt/slideLayouts/slideLayout8.xml" Id="R8ea20f8a53654346" /><Relationship Type="http://schemas.openxmlformats.org/officeDocument/2006/relationships/slideLayout" Target="/ppt/slideLayouts/slideLayout9.xml" Id="Rfa37eb0cf8414f75" /><Relationship Type="http://schemas.openxmlformats.org/officeDocument/2006/relationships/slideLayout" Target="/ppt/slideLayouts/slideLayout10.xml" Id="Rdf48167497d94046" /><Relationship Type="http://schemas.openxmlformats.org/officeDocument/2006/relationships/slideLayout" Target="/ppt/slideLayouts/slideLayout11.xml" Id="R0228c4e84a7242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a0974ca54a4777" /><Relationship Type="http://schemas.openxmlformats.org/officeDocument/2006/relationships/slideLayout" Target="/ppt/slideLayouts/slideLayout12.xml" Id="R4f052376242543cc" /><Relationship Type="http://schemas.openxmlformats.org/officeDocument/2006/relationships/slideLayout" Target="/ppt/slideLayouts/slideLayout13.xml" Id="Re8cbf4e9a4ce402e" /><Relationship Type="http://schemas.openxmlformats.org/officeDocument/2006/relationships/slideLayout" Target="/ppt/slideLayouts/slideLayout14.xml" Id="R8b00af76b7ce46f3" /><Relationship Type="http://schemas.openxmlformats.org/officeDocument/2006/relationships/slideLayout" Target="/ppt/slideLayouts/slideLayout15.xml" Id="R9bf95ea93fbc412c" /><Relationship Type="http://schemas.openxmlformats.org/officeDocument/2006/relationships/slideLayout" Target="/ppt/slideLayouts/slideLayout16.xml" Id="Rd7acaa44fc004d38" /><Relationship Type="http://schemas.openxmlformats.org/officeDocument/2006/relationships/slideLayout" Target="/ppt/slideLayouts/slideLayout17.xml" Id="Rfbb78479201d4b73" /><Relationship Type="http://schemas.openxmlformats.org/officeDocument/2006/relationships/slideLayout" Target="/ppt/slideLayouts/slideLayout18.xml" Id="R3a1a6fed167e42d2" /><Relationship Type="http://schemas.openxmlformats.org/officeDocument/2006/relationships/slideLayout" Target="/ppt/slideLayouts/slideLayout19.xml" Id="Re4b6a257db934f75" /><Relationship Type="http://schemas.openxmlformats.org/officeDocument/2006/relationships/slideLayout" Target="/ppt/slideLayouts/slideLayout20.xml" Id="Rda94e66788fd475f" /><Relationship Type="http://schemas.openxmlformats.org/officeDocument/2006/relationships/slideLayout" Target="/ppt/slideLayouts/slideLayout21.xml" Id="Rf3f544ac543b41d3" /><Relationship Type="http://schemas.openxmlformats.org/officeDocument/2006/relationships/slideLayout" Target="/ppt/slideLayouts/slideLayout22.xml" Id="R5e54009f050f4d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7C50D5-A789-4000-B209-2BFCF9678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886611-4A0C-4CE2-8370-9F17534A5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4F897C-EAB1-4360-A802-8E1C3B1B2B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F48B7A2-D725-49BF-8A40-C21511E367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6649011-6C01-49FC-8EA1-3512B3E6E6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006a5c2f24e6d"/>
    <p:sldLayoutId xmlns:r="http://schemas.openxmlformats.org/officeDocument/2006/relationships" id="2147483650" r:id="Rc4bf0d956a634ff8"/>
    <p:sldLayoutId xmlns:r="http://schemas.openxmlformats.org/officeDocument/2006/relationships" id="2147483651" r:id="Rb9ae1afcc6d6418b"/>
    <p:sldLayoutId xmlns:r="http://schemas.openxmlformats.org/officeDocument/2006/relationships" id="2147483652" r:id="R10f1ea0d46d94458"/>
    <p:sldLayoutId xmlns:r="http://schemas.openxmlformats.org/officeDocument/2006/relationships" id="2147483653" r:id="Rd8f2eb4a29fc4f23"/>
    <p:sldLayoutId xmlns:r="http://schemas.openxmlformats.org/officeDocument/2006/relationships" id="2147483654" r:id="R6e2164ac2f8b4dc4"/>
    <p:sldLayoutId xmlns:r="http://schemas.openxmlformats.org/officeDocument/2006/relationships" id="2147483655" r:id="R3cf106b4f8104969"/>
    <p:sldLayoutId xmlns:r="http://schemas.openxmlformats.org/officeDocument/2006/relationships" id="2147483656" r:id="R8ea20f8a53654346"/>
    <p:sldLayoutId xmlns:r="http://schemas.openxmlformats.org/officeDocument/2006/relationships" id="2147483657" r:id="Rfa37eb0cf8414f75"/>
    <p:sldLayoutId xmlns:r="http://schemas.openxmlformats.org/officeDocument/2006/relationships" id="2147483658" r:id="Rdf48167497d94046"/>
    <p:sldLayoutId xmlns:r="http://schemas.openxmlformats.org/officeDocument/2006/relationships" id="2147483659" r:id="R0228c4e84a72428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1F4F8CD-B24B-4DDB-BB4E-458223BF5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3137B4-40EF-4501-BD5F-3BC449412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576ABE-256A-410E-9285-1632E8DF98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B6F2D7-47D7-4431-915A-97B8A256DD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F281D0-B991-4531-A627-F3D039435F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4F27CE1-DFBC-4DAF-B1D9-1B23F1C7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89E7DA5-CA41-4AF8-A25A-E8F9D561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ADBE65C5-05A8-4901-9546-29BD41F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8B2DF0DE-576C-4816-9718-626FECE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296BA41E-72DB-4496-A370-38A161D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f052376242543cc"/>
    <p:sldLayoutId xmlns:r="http://schemas.openxmlformats.org/officeDocument/2006/relationships" id="2147483662" r:id="Re8cbf4e9a4ce402e"/>
    <p:sldLayoutId xmlns:r="http://schemas.openxmlformats.org/officeDocument/2006/relationships" id="2147483663" r:id="R8b00af76b7ce46f3"/>
    <p:sldLayoutId xmlns:r="http://schemas.openxmlformats.org/officeDocument/2006/relationships" id="2147483664" r:id="R9bf95ea93fbc412c"/>
    <p:sldLayoutId xmlns:r="http://schemas.openxmlformats.org/officeDocument/2006/relationships" id="2147483665" r:id="Rd7acaa44fc004d38"/>
    <p:sldLayoutId xmlns:r="http://schemas.openxmlformats.org/officeDocument/2006/relationships" id="2147483666" r:id="Rfbb78479201d4b73"/>
    <p:sldLayoutId xmlns:r="http://schemas.openxmlformats.org/officeDocument/2006/relationships" id="2147483667" r:id="R3a1a6fed167e42d2"/>
    <p:sldLayoutId xmlns:r="http://schemas.openxmlformats.org/officeDocument/2006/relationships" id="2147483668" r:id="Re4b6a257db934f75"/>
    <p:sldLayoutId xmlns:r="http://schemas.openxmlformats.org/officeDocument/2006/relationships" id="2147483669" r:id="Rda94e66788fd475f"/>
    <p:sldLayoutId xmlns:r="http://schemas.openxmlformats.org/officeDocument/2006/relationships" id="2147483670" r:id="Rf3f544ac543b41d3"/>
    <p:sldLayoutId xmlns:r="http://schemas.openxmlformats.org/officeDocument/2006/relationships" id="2147483671" r:id="R5e54009f050f4d43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52963d959c4f2b" /><Relationship Type="http://schemas.openxmlformats.org/officeDocument/2006/relationships/notesSlide" Target="/ppt/notesSlides/notesSlide1.xml" Id="Rb58d3dba4514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63da3349a7c4c6a" /><Relationship Type="http://schemas.openxmlformats.org/officeDocument/2006/relationships/notesSlide" Target="/ppt/notesSlides/notesSlide2.xml" Id="Rc9480a68262144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4561dffb0454984" /><Relationship Type="http://schemas.openxmlformats.org/officeDocument/2006/relationships/notesSlide" Target="/ppt/notesSlides/notesSlide3.xml" Id="Rf2227ecc94a4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e1604eeab63493e" /><Relationship Type="http://schemas.openxmlformats.org/officeDocument/2006/relationships/notesSlide" Target="/ppt/notesSlides/notesSlide4.xml" Id="R24f1912335c247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6f246fca93d49d0" /><Relationship Type="http://schemas.openxmlformats.org/officeDocument/2006/relationships/notesSlide" Target="/ppt/notesSlides/notesSlide5.xml" Id="Ra9baa2b35c6a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d03c3dfd7414fb3" /><Relationship Type="http://schemas.openxmlformats.org/officeDocument/2006/relationships/notesSlide" Target="/ppt/notesSlides/notesSlide6.xml" Id="Ra2e8c0798d5a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70c21844ce14bda" /><Relationship Type="http://schemas.openxmlformats.org/officeDocument/2006/relationships/notesSlide" Target="/ppt/notesSlides/notesSlide7.xml" Id="Re49df049fb584f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44961d8738b447d" /><Relationship Type="http://schemas.openxmlformats.org/officeDocument/2006/relationships/notesSlide" Target="/ppt/notesSlides/notesSlide8.xml" Id="R9df4b3bab0b443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66615c632d8469e" /><Relationship Type="http://schemas.openxmlformats.org/officeDocument/2006/relationships/notesSlide" Target="/ppt/notesSlides/notesSlide9.xml" Id="R74cda7b4808845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7f611768113420c" /><Relationship Type="http://schemas.openxmlformats.org/officeDocument/2006/relationships/notesSlide" Target="/ppt/notesSlides/notesSlide10.xml" Id="R68d88628466f43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bfd9fb929f44695" /><Relationship Type="http://schemas.openxmlformats.org/officeDocument/2006/relationships/chart" Target="/ppt/slides/charts/chart1.xml" Id="R1412879b4cbd433e" /><Relationship Type="http://schemas.openxmlformats.org/officeDocument/2006/relationships/notesSlide" Target="/ppt/notesSlides/notesSlide11.xml" Id="R48f2de09804c44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b1cd5f49f434262" /><Relationship Type="http://schemas.openxmlformats.org/officeDocument/2006/relationships/notesSlide" Target="/ppt/notesSlides/notesSlide12.xml" Id="R9a40289dc40743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7a3143428b845c1" /><Relationship Type="http://schemas.openxmlformats.org/officeDocument/2006/relationships/notesSlide" Target="/ppt/notesSlides/notesSlide13.xml" Id="Rda022c0886084b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85bfaaf8a442ae" /><Relationship Type="http://schemas.openxmlformats.org/officeDocument/2006/relationships/notesSlide" Target="/ppt/notesSlides/notesSlide14.xml" Id="Ra616dc5ee45340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d758571271a42b8" /><Relationship Type="http://schemas.openxmlformats.org/officeDocument/2006/relationships/notesSlide" Target="/ppt/notesSlides/notesSlide15.xml" Id="Rc7af76fca7804d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2a3817d6acc45bf" /><Relationship Type="http://schemas.openxmlformats.org/officeDocument/2006/relationships/notesSlide" Target="/ppt/notesSlides/notesSlide16.xml" Id="Rd6b0c177b5d342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b9710de6d2540e2" /><Relationship Type="http://schemas.openxmlformats.org/officeDocument/2006/relationships/notesSlide" Target="/ppt/notesSlides/notesSlide17.xml" Id="Rcf8bf5325dc244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8ccfab6671d4487" /><Relationship Type="http://schemas.openxmlformats.org/officeDocument/2006/relationships/notesSlide" Target="/ppt/notesSlides/notesSlide18.xml" Id="R4499b2da27e243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93f6c7b83284b23" /><Relationship Type="http://schemas.openxmlformats.org/officeDocument/2006/relationships/notesSlide" Target="/ppt/notesSlides/notesSlide19.xml" Id="Ra024fd77e4664d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a678590284a4cfc" /><Relationship Type="http://schemas.openxmlformats.org/officeDocument/2006/relationships/notesSlide" Target="/ppt/notesSlides/notesSlide20.xml" Id="R2778888376a54f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fe474db385e47f8" /><Relationship Type="http://schemas.openxmlformats.org/officeDocument/2006/relationships/notesSlide" Target="/ppt/notesSlides/notesSlide21.xml" Id="R2472fee9ba4a4d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eb9cc454b1b45e3" /><Relationship Type="http://schemas.openxmlformats.org/officeDocument/2006/relationships/notesSlide" Target="/ppt/notesSlides/notesSlide22.xml" Id="R52160df6d3fd49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602a8f056494458" /><Relationship Type="http://schemas.openxmlformats.org/officeDocument/2006/relationships/notesSlide" Target="/ppt/notesSlides/notesSlide23.xml" Id="R7dd7e0f1e8224c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eab1724d16f4033" /><Relationship Type="http://schemas.openxmlformats.org/officeDocument/2006/relationships/notesSlide" Target="/ppt/notesSlides/notesSlide24.xml" Id="R070abc4f1ecd40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a9110c1a11374ca9" /><Relationship Type="http://schemas.openxmlformats.org/officeDocument/2006/relationships/notesSlide" Target="/ppt/notesSlides/notesSlide25.xml" Id="R8ecad234290b42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bb1db4f34714536" /><Relationship Type="http://schemas.openxmlformats.org/officeDocument/2006/relationships/notesSlide" Target="/ppt/notesSlides/notesSlide26.xml" Id="R4a0a3d03456643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a62d81bf18b4d2a" /><Relationship Type="http://schemas.openxmlformats.org/officeDocument/2006/relationships/notesSlide" Target="/ppt/notesSlides/notesSlide27.xml" Id="Re7d9e3b3a2fd49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GPU 小时</c:v>
          </c:tx>
          <c:spPr>
            <a:solidFill xmlns:a="http://schemas.openxmlformats.org/drawingml/2006/main">
              <a:srgbClr val="778E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8EA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7BBC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PCU-Select</c:v>
                </c:pt>
                <c:pt idx="1">
                  <c:v>LESS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151.6</c:v>
                </c:pt>
                <c:pt idx="1">
                  <c:v>316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8A86F63-E082-4F22-ACB6-FD6BCE68E1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139A0374-26BD-4427-8245-DA5A8AECC5B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2D4DF-6773-4540-A46F-7DFEE11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1282103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D9AC930A-BFFA-4C18-AEC6-B85A25329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D31F0EAE-B80B-4905-B9D7-B6FC522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478BCDDC-BEBD-42F6-AD0D-A835554C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课题进展概览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B7D84008-FC3F-4CAB-A1BB-04926FE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6FCC2644-CF9C-4FB8-873F-55ED7054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0F8EDE50-566C-4517-B68C-F3A2B81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0976A580-CCD4-4DD2-8883-1499E1A9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2046C8FC-1BFD-4D12-9F6F-7B95623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79B0EBB4-539A-4B73-B319-670A7380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后续计划与总结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209E52C5-0A8F-43BE-83ED-3EA3555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5636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08308A41-8E14-4608-8F06-EDB0B2D16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课题进展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84206A3D-AC98-4701-80B3-D3F865BB1EC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90C01-5D57-4629-937F-1AB8003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从开题目标到两项具体工作</a:t>
            </a:r>
          </a:p>
        </p:txBody>
      </p:sp>
    </p:spTree>
    <p:extLst>
      <p:ext uri="{BB962C8B-B14F-4D97-AF65-F5344CB8AC3E}">
        <p14:creationId xmlns:p14="http://schemas.microsoft.com/office/powerpoint/2010/main" val="20779579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开题目标与中期聚焦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7AD9B-6530-4276-8858-C8BC9C0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围绕数据选择与参数高效微调，形成两项相互衔接的工作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FF50F-C9E6-4AB8-9BAA-77DF8B7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4ADAB-DDE6-407A-9450-6705CB4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工作一：PCU-Select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2DDF1-3F80-41C7-B6B3-A3A6D85A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DE790-80AC-40BA-8316-6014088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研究条件数据价值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复用特征与评分器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为不同目标生成各自子集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C1148-1AE3-45D3-B912-795ABD24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2409B-11D8-4623-9C62-D6CF5B9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EDA93-142B-4DA8-AB6B-BDBDD49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5191125" cy="2466975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F48B-DE47-4F83-886A-94687B2F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258D0-2DD7-4537-9F57-83D013E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A185F-A9E9-4F83-9FBD-EE54E67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2902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组织多任务、多配置实验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识别可复用计算与产物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支持批量执行和阶段恢复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B158B-C115-4CC3-B355-179C451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193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3AF2A-67A7-453D-B120-639D9B23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955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AC31C-FD48-4400-8EDB-9BD5D21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7EA85-8996-4D84-9F6A-28C40C2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算法负责“如何选”，系统负责“如何可靠、重复地开展实验”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6ABD7-4CF2-4047-9291-FC3F44AA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原开题中的动态 PEFT 路由保留为后续展望，本阶段聚焦算法与系统两项工作。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90993-0D29-4C49-98E9-718D3FE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当前进展与待完成工作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563E4-8668-404D-930D-7ACF933A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方法、代码和实验基础已经形成，后续重点是系统化实现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43100"/>
                <a:gridCol w="4267200"/>
                <a:gridCol w="4552950"/>
              </a:tblGrid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工作层次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接下来完成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方法与论文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条件评分、配额选数流程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已形成论文稿件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梳理贡献与边界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完善论证和论文表述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算法实现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特征缓存、PEFT 注册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训练评测与批量脚本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整理真实实验日志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记录训练种子与分项计时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86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可复用的算法模块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已明确两项工程机制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依赖缓存、节点去重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阶段恢复和控制台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1B16D-EFB5-423C-BE9B-1B2A174C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状态口径：已有方法与代码基础；实验数据已更新；第二项系统为后续计划。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2E59D-1C04-4B65-845D-7368834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789C5592-476A-4993-A74F-536E15157D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工作一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D3049D7F-71BE-4B4D-80DC-D57701325D3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FFC5-AA71-46CD-8BAD-6CB9B43A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PCU-Select 条件数据选择方法</a:t>
            </a:r>
          </a:p>
        </p:txBody>
      </p:sp>
    </p:spTree>
    <p:extLst>
      <p:ext uri="{BB962C8B-B14F-4D97-AF65-F5344CB8AC3E}">
        <p14:creationId xmlns:p14="http://schemas.microsoft.com/office/powerpoint/2010/main" val="1723325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研究问题：数据价值取决于目标条件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FBFD7-8EB6-41BF-9A77-7537C94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630FB-124B-483B-B2B6-267446F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4307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对目标任务 t 有多大帮助？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3152775"/>
          <a:ext xmlns:a="http://schemas.openxmlformats.org/drawingml/2006/main" cx="10763250" cy="2466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33900"/>
                <a:gridCol w="4038600"/>
              </a:tblGrid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输入来源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x：样本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候选指令与回答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共享候选数据池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p：PEFT 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更新位置、算子、容量与配方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结构化配置编码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1674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t：目标任务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希望提升的下游能力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 条训练或开发样本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E75D6-D57F-46E8-AE98-4FD2A09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共享评分器，根据目标条件重新评分；每个目标保留自己的训练子集。测试集只用于最终评估。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94833-B123-43E8-9DAA-95D8469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方法设计：统一表征，保留配置差异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9C45A-C314-46E0-B451-9E32F2B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用共享位点建立可比较的坐标，再显式描述样本、配置和任务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6EED-BAC4-4668-9F5C-B6BE2FF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4238-E494-4528-8AD1-4A8DD4E0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2934E-8BB9-4BA4-AFDB-6A106D9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21431-0619-45E1-916E-5F2EBB4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 + 描述统计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激活特征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DCD4A-29D3-4BFA-A037-ACD025E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7F007-35AE-434B-B745-2CC0563F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519A0-8103-4C3D-9F7D-8E60184C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B1E64-17A5-4700-BE63-6522BB38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表征 zₚ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92270-C0A5-4FB4-9225-9A11F30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30D9A-889C-4A9E-806A-CF36B372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位点与算子掩码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+ 容量 + 训练配方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AACB2-DFA3-4CF1-9846-734828D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0075C-1895-4EB1-82DF-C4E9F4F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65397-ED37-4A54-8FC5-FBF4823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43200"/>
            <a:ext cx="3371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9E7CA-33FE-4E8C-9553-5F5D14AD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任务表征 zₜ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81BC4-4DED-42E4-9127-CBDEEFF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F8584-726A-4DA6-B55D-1E9928E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38575"/>
            <a:ext cx="289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汇总任务特征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合计 848 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4FEBD-5F28-47CE-AE17-7A7D67C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28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D37B4-2334-43CA-898E-44D04E3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4886A-DDA5-4EC5-8F93-3FFE76E9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260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C0C65-F24D-457C-801E-4AFDC00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0547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 层 × 3 类模块输出 = 24 个共享位点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9810DE-C6F6-4D1E-BD45-E7572600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共同观察位置：Attention 输出、MLP 输出、残差输出；共享位点提供近似坐标。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FD6F0F-E67A-4933-9D47-63C5E2D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方法设计：多保真监督与聚类配额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50865-C102-43D4-ABFF-7B7274B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3C582-EEF5-4C1E-A93A-92883F95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先学会评分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F7C11-92AA-4477-8EFE-13D855E3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E9955-C8DC-44F2-9C08-89FFEF5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低成本梯度相似度提供广泛监督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少量短更新标签校正代理偏差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输出效用均值 μ 与不确定性 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0540E-8E1B-4EB0-B035-C8BC556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7F18A-1762-4EAC-8708-1F616F3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717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再构建子集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5621B-927C-4E64-B855-BA2C5EC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237C6-873E-471C-9A83-28E8CE28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47148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使用 q = μ − 0.2σ 进行排序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语义聚类，按簇价值分配预算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各簇内部选取高分样本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65398-4436-4BE3-89F7-0DAE2CE0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E4E5C-54E9-458E-891B-2FD8D75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同时考虑目标效用与覆盖度，避免预算集中在少数语义区域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EF5CD-07EB-4DE7-BA5C-8ECD6727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σ 在这里用于排序惩罚，不是置信区间。各预算独立分配配额，子集不要求互相嵌套。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286CD-D70F-493F-AAF4-C4CD96D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PCU-Select 完整流程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2BE4-2437-458B-BAC7-1BC6EB2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E8000-D543-4A9B-8516-E7CBBCBD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ED710-F2ED-4506-B7C6-A69B7B4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50959-FAD6-4685-A154-B442232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梯度代理 + 短更新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1D962-0093-4F3F-8E26-A4F746F6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05EA1-8722-4803-A0B7-BCAAD8A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AFF7C-6C42-4DAD-8F0D-2EBEE8E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训练条件评分器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C384C-D45C-4377-8F63-C0267DC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学习 u(x, p, 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4310C-2A4C-46D8-AE8A-5717926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A932A-EC68-4E92-95BA-3536FF3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FDBE5-8F0E-4659-B9D9-95880E99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保存可复用资产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413B9-E119-4702-A025-775E6F89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5747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特征、编码、评分器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B7FA1-3F3D-4701-8174-89E96CC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33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D0449-E97C-441C-9B74-8035BDF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1A2CA-BC68-4AD5-9C28-5403914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F9FE9-29DA-4C87-A5B9-C297B9F3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输入目标条件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26C1C-D573-45AB-AD3E-27DA9571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数据池 + PEFT + 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E549E-28C1-4741-B023-4114B2CF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8F690-AE4E-41C0-B513-5F2E145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2209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15411-A407-46FE-B1AF-FD63CA0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条件评分与聚类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07238-CA17-4770-961F-693BA30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0125"/>
            <a:ext cx="243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复用公共特征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EDFE2-3053-4ABB-A82B-033E3F2A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957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40479-7762-426B-B3E4-CE70900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571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ED6664-6E61-4034-846A-D6C0E565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配额选数与微调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FE552-138D-47BE-A2A4-B72A793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0125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预算 B 对应的独立子集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B4CCDB-4753-4336-89CE-787B057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算法层面复用表示与评分器；第二项工作将这些产物的依赖、复用和执行过程系统化。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8FCB6-8EB7-45B9-9F32-E7CF3E2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稿件中的质量与成本分析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E9E39-20B9-4396-8ABA-5F715842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下游质量：PCU 与 LESS 接近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14375" y="2238375"/>
          <a:ext xmlns:a="http://schemas.openxmlformats.org/drawingml/2006/main" cx="5238750" cy="1524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76450"/>
                <a:gridCol w="1733550"/>
                <a:gridCol w="142875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稿件均值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四任务 × 五配置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370A3-AE78-4876-92CC-EB793B2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差值 +0.04，当前口径应描述为接近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需要原始日志与独立重复支持结论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A1505-9D48-4341-9F0D-A59E903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28775"/>
            <a:ext cx="505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选择侧成本：五套配置，四个任务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0" y="2333625"/>
          <a:ext xmlns:a="http://schemas.openxmlformats.org/drawingml/2006/main" cx="5143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12879b4cbd433e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B5714-B887-499D-A56E-FC0AE829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C3A45-510A-4919-8414-3800A8A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新加一套四任务配置的边际成本：PCU 1.51，LESS 63.2 GPU 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6B5A9-7CB5-4D06-988C-A5DF379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实验结果汇总。成本不含下游训练；PCU 总成本含 144 GPU 小时前期投入。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DB521-426F-40C9-9DAF-BE79F7E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工作一小结与验证边界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ABBFC-A371-4A93-B096-C7F7E532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当前已经形成条件选数方案，重点验证“质量保持与多配置摊销”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79DCA-78B8-4CF4-A654-F5BA4DDC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EE669-57D0-4D0F-BABA-472B15C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方法贡献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0D48C-436A-4A49-9C44-1CC2E559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D0C54-0BBA-4AD1-ADD2-3348E9C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条件效用明确数据价值的目标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共享位点与配置编码支持复用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多保真监督结合聚类配额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05CCB-0400-4DC4-8116-097C8325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19112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1C204-A76E-433D-998A-9F1674B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实验记录与范围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EC1B9-5094-42EF-9645-B84C420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5C724-FA0A-43E2-BF1D-BAB95E3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4750"/>
            <a:ext cx="4714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真实训练记录与独立重复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选择侧、前期投入的分项计时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未见配置的兼容性与校准范围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1CCCE-C465-4EBB-B888-A787242E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C3549-A0E2-4C2A-B73A-02D3A4AE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系统建设沿用已验证的骨干和 PEFT 支持范围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1534E-EFF6-405C-A2FA-D2B2B5B3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首版不将 Prefix、P-Tuning 等结构外推为零样本通用支持；LN-Tuning 校准实验。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CDAE1-1962-429A-93A3-757930B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CCAEDD44-220A-47FD-B10E-FBAF5CF29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工作二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9CC4F171-82B2-4C28-8421-615F1D55768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D80AE-9265-44ED-AF34-856B2BE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多配置数据选择与微调实验管理系统</a:t>
            </a:r>
          </a:p>
        </p:txBody>
      </p:sp>
    </p:spTree>
    <p:extLst>
      <p:ext uri="{BB962C8B-B14F-4D97-AF65-F5344CB8AC3E}">
        <p14:creationId xmlns:p14="http://schemas.microsoft.com/office/powerpoint/2010/main" val="4239404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系统目标：管理多配置实验的产物与执行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F6E6D-28B9-4C91-971B-877B777D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352675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704850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已有基础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第二项工作新增内容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样本特征和任务表征缓存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记录内容与版本依赖，识别可复用产物并局部重算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条件评分与聚类配额选数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公共评分、聚类独立持久化，为各预算生成独立子集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注册和训练评测脚本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统一批量执行、阶段恢复、结果隔离与报告导出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032C7-DCEF-42BA-92FE-434550A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808B0-0A19-4B38-97BE-1B0CA2D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已有模块提供算法能力，新增机制解决正确复用与可靠执行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88471-101E-431D-8EE5-3F329A5C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代码中的具体需求：预算变化时仍重复评分与聚类；选数结果路径需要纳入预算，避免覆盖。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ACAFE-1D20-467B-B730-2A27F596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机制一：分层缓存与增量复用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CFED4-378E-4514-BAB7-8A774AAA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为每项产物记录依赖，输入变化时只重算受影响节点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ADDAC-1445-4C43-8E0F-0075A8A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B8BB-1BD7-484C-AF8B-9F289D2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7FAE-508D-4E0C-9087-3731AE0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F498B-69EF-4325-94C1-59F7454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20441-2A38-42D9-A6F6-577963E1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1319-341C-4D00-9C8B-7927AD9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FB6D3-8012-4768-9EF6-59ACA651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 + 任务 + PEFT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CAE38-690A-49F8-BC2C-008072C7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1EA94-FF2F-4AC0-966C-91C0168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2238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CB1E8-4D14-46E3-A9E6-3F321E1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配额与子集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B48B8-4B54-4126-8C67-513C519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00450"/>
            <a:ext cx="2466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评分 + 聚类 + 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17075-573B-4C4D-9C86-57B493A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860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719B0-0734-4655-98B4-069D370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62225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2E4E9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C7E64-733D-4229-9381-1901E2F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146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9E81E-E4EF-4433-A8B4-4E9ED16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0045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子集 + 训练种子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24261-4D93-4D08-85E2-656A88D6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5095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任务表征：任务样本、顺序、预处理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68A26-816B-4982-BF36-FDF7CC7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86275"/>
            <a:ext cx="5086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聚类：完整候选池、顺序、聚类种子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2F719-B17B-41F3-8146-63F260CC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0737D-E2A5-4AB6-99F3-FD6B67F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依赖清单同时记录配置、随机种子与产物校验值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1BBC1-A673-4A16-873E-2ABA1904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候选顺序纳入依赖；首版固定评分器版本。只有输入兼容、产物完整且校验通过，才允许命中。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B058F-20F0-4B28-89F4-C29CA02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机制一：明确复用与重算的边界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28800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14700"/>
                <a:gridCol w="3648075"/>
                <a:gridCol w="3800475"/>
              </a:tblGrid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样本特征、任务表示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目标评分、完整池聚类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配额与对应子集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全部选择结果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新增样本特征与评分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经依赖检查仍兼容的节点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E58E2-8CCA-433C-81C6-81A3C80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同名样本内容改变不能命中旧结果；训练学习率等若属于 PEFT 条件，也会影响选择依赖。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8590D-A11F-4923-8050-54DFE790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机制二：公共计算去重与阶段恢复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CA7B-7E46-480B-A6F0-249B88F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把实验请求拆成依赖节点，相同输入的公共节点只执行一次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67680-E626-4CE3-ABA4-689C4182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0A69F-7FC8-4A20-9AE6-ADF1004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合并公共计算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64A33-51BF-4EA7-BADF-847769C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65B78-2946-4CB7-9A03-E7DF15E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特征、任务表示、评分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聚类、选数、训练、评测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逐阶段判断输入是否相同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DD524-85AB-4A8A-8BDE-B7DEDCE4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1E4CA-A089-425A-A0F3-48AA5DF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4A09F-342D-44FF-8D84-E63EFA1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5212-6EC0-47F8-A524-ED6021D3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保证产物完整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699D0-E8FD-4163-B613-B653E1C2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F2F42-486C-4CE8-A685-FC3C775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先写临时文件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校验后原子提交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写入完成标记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F9BDD-614B-48BD-980D-7EF68192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50E75-F637-43FD-9932-A68E972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932D8-43C5-4181-B948-D284F0B0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86050"/>
            <a:ext cx="337185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E4CE6-A7B6-4C62-9DC8-99A0CEB1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恢复失败阶段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67B98-BF18-4FB2-9DB1-05FEFAC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92528D-6BDA-45FD-BBB5-C698CA9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2895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请求使用独立目录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复用已完成产物并校验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仅重跑失败阶段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3DAFC-9118-4275-B895-A59825A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71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0FA11-D91B-4C67-8161-DD08750E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4792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80B2B-566E-4E24-94A0-8CECE2DB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C799E-4153-4FD8-B87F-B083A37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阶段恢复的目标：减少重复工作，并保持结果隔离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3ABC8-4990-480C-8507-30CBAC40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首版恢复到阶段边界；不承诺从训练中断的具体 step 继续执行。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82652-EF9A-488D-BB86-3FAEA7C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具体示例：24 次训练如何共享前置计算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47EC5-FFF4-4706-A872-3063025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9F4BC-72FF-406B-BDA3-5A3E8C5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42090-831A-4144-8F74-73887AC0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70069-3F8C-45B3-8CCB-00791EA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26515-F14A-49D3-97A0-C5F695A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8FA05-0AC7-42F4-9A1B-7BDA7A5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3DAAF-5DA4-4F4B-B8C8-79A9258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29D06-FBB4-496A-9ED4-A6EC85E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94A97-45B7-4670-8408-04B93C85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DCDD6-C64D-4065-9227-095283A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2953E-FA62-449C-8CF5-113CED8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09850"/>
            <a:ext cx="2476500" cy="2295525"/>
          </a:xfrm>
          <a:prstGeom xmlns:a="http://schemas.openxmlformats.org/drawingml/2006/main" prst="roundRect">
            <a:avLst>
              <a:gd name="adj" fmla="val 332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158A2-961D-46F9-BE1B-26232BF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095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EF072-2192-4023-B687-6E2390F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E7C92-6377-4476-A42B-68D440E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按任务与 PEFT 区分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A235A-D8EA-41BE-BF46-37CD898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FF529-D321-431B-B2DB-9D37AE13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BF549-BF62-435A-BF76-A0A2A28F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720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5AB3C-9807-4F8A-8691-8A66940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固定特征、评分器、聚类配置与选择种子。各目标使用自己的子集；这些执行次数不等于端到端加速倍数。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45C1C-DE51-4AFB-AC83-EF1BBE3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首版系统范围与操作流程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BA3A0-0ADC-4200-92E2-1EF242D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采用单工作节点，围绕已有算法模块完成可运行的实验闭环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257425"/>
          <a:ext xmlns:a="http://schemas.openxmlformats.org/drawingml/2006/main" cx="10763250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7429500"/>
              </a:tblGrid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简洁控制台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登记数据与任务、提交矩阵、查看复用计划与执行状态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任务队列与执行器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按依赖安排阶段、去重公共节点、恢复失败阶段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02469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元数据索引与本地产物库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维护依赖关系、版本、校验值、请求目录与结果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F01C7-F7F4-4C40-869B-CBFD59D9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登记数据与任务   →   提交实验矩阵   →   查看复用计划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19ACA-4593-4377-B2CD-4CBE277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执行选数   →   按需训练评测   →   导出报告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3F5E2-3934-40FA-A561-B950DF60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继续沿用第一项工作已验证的骨干与 PEFT 范围；首版聚焦本地单工作节点。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B1157-A7C3-4F7F-913F-82CEE3C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定量验证：机制正确，也要测出实际收益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35080-BE12-4251-9F0D-19CFE82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44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对照组：已有脚本流程 / 加入依赖缓存 / 完整系统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14375" y="2124075"/>
          <a:ext xmlns:a="http://schemas.openxmlformats.org/drawingml/2006/main" cx="10763250" cy="2990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24150"/>
                <a:gridCol w="4295775"/>
                <a:gridCol w="3743325"/>
              </a:tblGrid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验证对象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实验设置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记录指标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分层缓存与增量复用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改预算、改训练种子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查验开销、选数耗时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存储增长与结果一致性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996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冷启动运行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在评分、写子集、训练时中断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验证独立目录与恢复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节点执行与重复次数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恢复耗时、额外重算量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产物完整性与结果隔离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EEA3F-4C6F-4511-B9AD-3538BBC9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6B066-18AD-4723-8DAE-66F9C10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正确性优先：与完整重算的评分、子集和依赖结果核对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B811-1521-461B-9274-E8AC714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冷启动去重与热缓存增量复用分开测量；分别报告选数时间和端到端时间，不叠加收益比例。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A4A52-38A3-48BC-AC18-F738D311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9EA8675-E700-4C5C-9B22-E621EA918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后续计划</a:t>
            </a:r>
            <a:endParaRPr/>
          </a:p>
        </p:txBody>
      </p:sp>
      <p:sp>
        <p:nvSpPr>
          <p:cNvPr id="6" name="节编号">
            <a:extLst xmlns:a="http://schemas.openxmlformats.org/drawingml/2006/main">
              <a:ext uri="{FF2B5EF4-FFF2-40B4-BE49-F238E27FC236}">
                <a16:creationId xmlns:a16="http://schemas.microsoft.com/office/drawing/2014/main" id="{88E34C31-0943-4C87-984D-33EDEFA4701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  <a:endParaRPr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0B710-8D5D-4CE0-8C78-2E5569A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分阶段交付，并行完善论文</a:t>
            </a:r>
          </a:p>
        </p:txBody>
      </p:sp>
    </p:spTree>
    <p:extLst>
      <p:ext uri="{BB962C8B-B14F-4D97-AF65-F5344CB8AC3E}">
        <p14:creationId xmlns:p14="http://schemas.microsoft.com/office/powerpoint/2010/main" val="18230069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后续工作安排：建议中期后 8 周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3743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81175"/>
                <a:gridCol w="4486275"/>
                <a:gridCol w="4495800"/>
              </a:tblGrid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系统工作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可检查的里程碑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1–2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确定范围与依赖清单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拆分评分、聚类、配额接口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接口与目录规范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最小选数流程运行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3–4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内容摘要与版本检查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实现缓存与局部重算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输入变化场景通过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无错误命中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5–6 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节点去重、队列与阶段恢复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控制台与报告导出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组实验矩阵运行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中断恢复演示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7–8 周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两机制对照与开销测量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系统整合、论文修改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可运行系统与验证报告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论文与演示材料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964A9-C2C1-4870-ACD7-8181438C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888A5-7551-47A6-AA08-C6534C86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2455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并行推进：整理实验记录、统计口径与配置支持范围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7867-756B-4331-A4C5-BFBE6E50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预期成果与验收标准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C0808-803C-42E1-94C2-6D6DEEE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交付一套可运行系统，以及两项可定量检验的工程机制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1F2C1-F4F3-42B1-A536-3C1BB33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7A98-8FC5-47DA-8775-C00FD35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可运行系统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6CC0C-6949-42BB-9B07-8E66882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4110D-782D-46FC-829F-7F5960A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复现实验矩阵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查看复用计划与阶段状态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导出结果与依赖记录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C8CA-A380-4695-B101-C4C262E5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B73EE-921C-4A47-9612-D50054E5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57FFD-D693-43ED-9259-A0A60424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4D524-CCC9-4BC2-A137-20265BD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机制验证报告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2DAD9-2EB9-4C75-A006-6CC9AF86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2F41F-65D7-4678-947E-C7682A8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缓存命中与重算边界正确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统计重复计算和恢复开销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报告时间与存储变化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815A4-4EEE-4600-AC33-A81AF6E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55D6C-9F58-47E3-86D3-792FE21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E0ED5-E491-43FE-9CE7-8AF25BB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95575"/>
            <a:ext cx="33718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51889-7CF9-40F7-8B0B-FBE4F7E4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论文与实验材料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76672-94AE-49DA-8AE2-A5EB30C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52825"/>
            <a:ext cx="2895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B817C-7189-4DA7-A222-CDF5C9D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2895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原始日志可追溯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算法实验整理重复与计时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系统设计和对照结果入文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CA05D-EF22-47AD-BA18-875921F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1430">
            <a:solidFill>
              <a:srgbClr val="778E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95B6E-E8F1-4E50-A39B-8998C53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311945-9CAE-43A0-8516-D71322F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不预设加速倍数；收益由实际运行记录决定，同时报告索引、校验和存储开销。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08BA9-A38B-4DBC-B5E4-81FE48AE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总结：算法进展与系统计划相互衔接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E8B8E-CC37-4A07-8F56-C6624120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总体目标：提高多配置微调中的数据使用效率与实验执行效率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0F97C-759B-4DDD-A471-A2B52C4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0A243-C5A9-4196-BF00-0D73D11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工作一：条件数据选择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68AD7-415D-4A98-8667-C76CE7C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01872-60B3-47EB-B251-1BE9328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 PCU-Select 方法与代码基础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共享表征与评分器，保留目标条件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继续分析实验结果与适用边界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D9570-221F-4E2D-BE59-2D540E0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19112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88BEA-ACF6-48D2-95A2-F8CF33E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工作二：实验管理系统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FEDBA-1459-436A-9FE2-6F2587D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4714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78EA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59C7F-EBE2-4D3F-A8EE-39C2673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43325"/>
            <a:ext cx="4714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复用第一项工作已有模块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研究分层缓存、增量复用与阶段恢复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以系统演示和定量对照完成验证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B17F9-D2CF-4A38-8A46-0BCB3FF5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5B4E7-EEF6-4F18-83CA-D611181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下一阶段重点：把方法、实验记录与系统验证一并落到可复现结果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E9F43-F73C-46B0-8146-72BC76C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264E7CF2-DC9A-41C8-A80F-D82DAD1AB6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41491B6B-5628-4280-AAB1-8F231141813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770579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备用：缓存键与恢复边界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8595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8001000"/>
              </a:tblGrid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必须纳入的关键依赖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 / 任务表示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样本内容摘要与顺序、模型与预处理版本、特征配置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目标评分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特征校验值、任务表示、PEFT 编码、固定评分器版本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聚类 / 选择子集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完整候选池与顺序、聚类配置与种子；另含评分、预算、选择种子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评测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子集校验值、模型、训练配方与种子、评测配置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919AA-4AF0-4DF5-A8A8-45429F1D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完成状态 = 产物存在 + 校验通过 + 完成标记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请求目录区分任务、配置、预算与训练种子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7F5BD-3691-4163-81D6-DD3E945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F4F0A7C9-2FAE-43B4-9FD5-BF71EDE0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备用：论文数据核验与支持范围</a:t>
            </a:r>
            <a:endParaRPr/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238625"/>
                <a:gridCol w="4333875"/>
              </a:tblGrid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实验记录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复现要求</a:t>
                      </a:r>
                    </a:p>
                  </a:txBody>
                  <a:tcPr marL="152400" marR="152400" marT="95250" marB="95250" anchor="ctr">
                    <a:solidFill>
                      <a:srgbClr val="DEE5E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主表独立重复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动机图与成本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成本为稿件口径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关联配置实验与分项计时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区分前期、选择与训练成本</a:t>
                      </a:r>
                    </a:p>
                  </a:txBody>
                  <a:tcPr marL="152400" marR="152400" marT="95250" marB="95250" anchor="ctr">
                    <a:solidFill>
                      <a:srgbClr val="F6F8FB"/>
                    </a:solidFill>
                  </a:tcPr>
                </a:tc>
              </a:tr>
              <a:tr h="8262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未见结构支持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结构外配置需兼容标签校准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明确适用范围与回退条件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保留独立配置实验记录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12DB-3F7E-4770-9CE1-C8DB8AA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11430">
            <a:solidFill>
              <a:srgbClr val="E9EE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3B131-F418-477A-81E6-267A2B4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实验结果按质量、成本和配置支持范围分别解释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916EF-20C3-456C-A924-D532FCFB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依据：competition_numbers.py、revise_motivation_figure.py、competition_revision_notes.md。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3E125-3720-4BD7-BEF2-E98A651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4770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0118630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2026-09-09T08:23:44.9470000Z</dcterms:created>
  <dcterms:modified xsi:type="dcterms:W3CDTF">2026-09-09T08:23:44.9470000Z</dcterms:modified>
</coreProperties>
</file>