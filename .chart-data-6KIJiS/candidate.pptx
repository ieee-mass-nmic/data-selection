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4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37b6c68fbc4f8d" /><Relationship Type="http://schemas.openxmlformats.org/officeDocument/2006/relationships/extended-properties" Target="/docProps/app.xml" Id="Ra5ae63d0026c4643" /><Relationship Type="http://schemas.openxmlformats.org/officeDocument/2006/relationships/officeDocument" Target="/ppt/presentation.xml" Id="Rbd4c4b40402a45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cc228a469b47cd"/>
    <p:sldMasterId xmlns:r="http://schemas.openxmlformats.org/officeDocument/2006/relationships" id="2147483660" r:id="Raed7c57a1e0c4e1b"/>
  </p:sldMasterIdLst>
  <p:notesMasterIdLst>
    <p:notesMasterId xmlns:r="http://schemas.openxmlformats.org/officeDocument/2006/relationships" r:id="R01c0a0cfb6e5449b"/>
  </p:notesMasterIdLst>
  <p:sldIdLst>
    <p:sldId xmlns:r="http://schemas.openxmlformats.org/officeDocument/2006/relationships" id="256" r:id="R0cb109925a2a467d"/>
    <p:sldId xmlns:r="http://schemas.openxmlformats.org/officeDocument/2006/relationships" id="257" r:id="Rbcaad592b5f049d0"/>
    <p:sldId xmlns:r="http://schemas.openxmlformats.org/officeDocument/2006/relationships" id="258" r:id="R20ae0a7df1c64bb9"/>
    <p:sldId xmlns:r="http://schemas.openxmlformats.org/officeDocument/2006/relationships" id="259" r:id="R0a9ae21867c04960"/>
    <p:sldId xmlns:r="http://schemas.openxmlformats.org/officeDocument/2006/relationships" id="260" r:id="R004ec5e313844e6a"/>
    <p:sldId xmlns:r="http://schemas.openxmlformats.org/officeDocument/2006/relationships" id="261" r:id="R3dfb3eb6c4e84581"/>
    <p:sldId xmlns:r="http://schemas.openxmlformats.org/officeDocument/2006/relationships" id="262" r:id="Rcf35ecf0d57f4599"/>
    <p:sldId xmlns:r="http://schemas.openxmlformats.org/officeDocument/2006/relationships" id="263" r:id="Rc5e5e2dfcaa34ed0"/>
    <p:sldId xmlns:r="http://schemas.openxmlformats.org/officeDocument/2006/relationships" id="264" r:id="R41535e1b567c48d5"/>
    <p:sldId xmlns:r="http://schemas.openxmlformats.org/officeDocument/2006/relationships" id="265" r:id="R580361795cdb43f4"/>
    <p:sldId xmlns:r="http://schemas.openxmlformats.org/officeDocument/2006/relationships" id="266" r:id="Re0c9c44d99e14268"/>
    <p:sldId xmlns:r="http://schemas.openxmlformats.org/officeDocument/2006/relationships" id="267" r:id="Re9b496cdf1b04b19"/>
    <p:sldId xmlns:r="http://schemas.openxmlformats.org/officeDocument/2006/relationships" id="268" r:id="R42ec7a74e2e74095"/>
    <p:sldId xmlns:r="http://schemas.openxmlformats.org/officeDocument/2006/relationships" id="269" r:id="R6ee2e6cfaab64406"/>
    <p:sldId xmlns:r="http://schemas.openxmlformats.org/officeDocument/2006/relationships" id="270" r:id="Rd3e1324395054597"/>
    <p:sldId xmlns:r="http://schemas.openxmlformats.org/officeDocument/2006/relationships" id="271" r:id="R32318f1108034933"/>
    <p:sldId xmlns:r="http://schemas.openxmlformats.org/officeDocument/2006/relationships" id="272" r:id="R246469b3a54c4aca"/>
    <p:sldId xmlns:r="http://schemas.openxmlformats.org/officeDocument/2006/relationships" id="273" r:id="R316bc39546fc446b"/>
    <p:sldId xmlns:r="http://schemas.openxmlformats.org/officeDocument/2006/relationships" id="274" r:id="R64513567fe1d45b1"/>
    <p:sldId xmlns:r="http://schemas.openxmlformats.org/officeDocument/2006/relationships" id="275" r:id="Ra4f46b85476649c6"/>
    <p:sldId xmlns:r="http://schemas.openxmlformats.org/officeDocument/2006/relationships" id="276" r:id="R10a7a74a45324f93"/>
    <p:sldId xmlns:r="http://schemas.openxmlformats.org/officeDocument/2006/relationships" id="277" r:id="R8eb249a060a34883"/>
    <p:sldId xmlns:r="http://schemas.openxmlformats.org/officeDocument/2006/relationships" id="278" r:id="Rdec2b6e1d4b34629"/>
    <p:sldId xmlns:r="http://schemas.openxmlformats.org/officeDocument/2006/relationships" id="279" r:id="Rf15cf44f787a4481"/>
    <p:sldId xmlns:r="http://schemas.openxmlformats.org/officeDocument/2006/relationships" id="280" r:id="R60cf748757df46af"/>
    <p:sldId xmlns:r="http://schemas.openxmlformats.org/officeDocument/2006/relationships" id="281" r:id="R84771547f3b441fc"/>
    <p:sldId xmlns:r="http://schemas.openxmlformats.org/officeDocument/2006/relationships" id="282" r:id="R2f3a77989ac44676"/>
    <p:sldId xmlns:r="http://schemas.openxmlformats.org/officeDocument/2006/relationships" id="283" r:id="R9e5422f3c8884fee"/>
    <p:sldId xmlns:r="http://schemas.openxmlformats.org/officeDocument/2006/relationships" id="284" r:id="R7ff63dbfada541cc"/>
    <p:sldId xmlns:r="http://schemas.openxmlformats.org/officeDocument/2006/relationships" id="285" r:id="Rb2006dcbf5c5490d"/>
    <p:sldId xmlns:r="http://schemas.openxmlformats.org/officeDocument/2006/relationships" id="286" r:id="Rb9a47ddf577b4728"/>
    <p:sldId xmlns:r="http://schemas.openxmlformats.org/officeDocument/2006/relationships" id="287" r:id="Re4bdd05ac3c64b1b"/>
    <p:sldId xmlns:r="http://schemas.openxmlformats.org/officeDocument/2006/relationships" id="288" r:id="R78c848a83d4d46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e7da81270a4e89" /><Relationship Type="http://schemas.openxmlformats.org/officeDocument/2006/relationships/slideMaster" Target="/ppt/slideMasters/slideMaster1.xml" Id="Rbfcc228a469b47cd" /><Relationship Type="http://schemas.openxmlformats.org/officeDocument/2006/relationships/slideMaster" Target="/ppt/slideMasters/slideMaster2.xml" Id="Raed7c57a1e0c4e1b" /><Relationship Type="http://schemas.openxmlformats.org/officeDocument/2006/relationships/notesMaster" Target="/ppt/notesMasters/notesMaster1.xml" Id="R01c0a0cfb6e5449b" /><Relationship Type="http://schemas.openxmlformats.org/officeDocument/2006/relationships/presProps" Target="/ppt/presProps.xml" Id="R915fd5b1d6134ee6" /><Relationship Type="http://schemas.openxmlformats.org/officeDocument/2006/relationships/viewProps" Target="/ppt/viewProps.xml" Id="Rb78539895952462a" /><Relationship Type="http://schemas.openxmlformats.org/officeDocument/2006/relationships/tableStyles" Target="/ppt/tableStyles.xml" Id="R6a70953d0bc74fde" /><Relationship Type="http://schemas.openxmlformats.org/officeDocument/2006/relationships/slide" Target="/ppt/slides/slide1.xml" Id="R0cb109925a2a467d" /><Relationship Type="http://schemas.openxmlformats.org/officeDocument/2006/relationships/slide" Target="/ppt/slides/slide2.xml" Id="Rbcaad592b5f049d0" /><Relationship Type="http://schemas.openxmlformats.org/officeDocument/2006/relationships/slide" Target="/ppt/slides/slide3.xml" Id="R20ae0a7df1c64bb9" /><Relationship Type="http://schemas.openxmlformats.org/officeDocument/2006/relationships/slide" Target="/ppt/slides/slide4.xml" Id="R0a9ae21867c04960" /><Relationship Type="http://schemas.openxmlformats.org/officeDocument/2006/relationships/slide" Target="/ppt/slides/slide5.xml" Id="R004ec5e313844e6a" /><Relationship Type="http://schemas.openxmlformats.org/officeDocument/2006/relationships/slide" Target="/ppt/slides/slide6.xml" Id="R3dfb3eb6c4e84581" /><Relationship Type="http://schemas.openxmlformats.org/officeDocument/2006/relationships/slide" Target="/ppt/slides/slide7.xml" Id="Rcf35ecf0d57f4599" /><Relationship Type="http://schemas.openxmlformats.org/officeDocument/2006/relationships/slide" Target="/ppt/slides/slide8.xml" Id="Rc5e5e2dfcaa34ed0" /><Relationship Type="http://schemas.openxmlformats.org/officeDocument/2006/relationships/slide" Target="/ppt/slides/slide9.xml" Id="R41535e1b567c48d5" /><Relationship Type="http://schemas.openxmlformats.org/officeDocument/2006/relationships/slide" Target="/ppt/slides/slide10.xml" Id="R580361795cdb43f4" /><Relationship Type="http://schemas.openxmlformats.org/officeDocument/2006/relationships/slide" Target="/ppt/slides/slide11.xml" Id="Re0c9c44d99e14268" /><Relationship Type="http://schemas.openxmlformats.org/officeDocument/2006/relationships/slide" Target="/ppt/slides/slide12.xml" Id="Re9b496cdf1b04b19" /><Relationship Type="http://schemas.openxmlformats.org/officeDocument/2006/relationships/slide" Target="/ppt/slides/slide13.xml" Id="R42ec7a74e2e74095" /><Relationship Type="http://schemas.openxmlformats.org/officeDocument/2006/relationships/slide" Target="/ppt/slides/slide14.xml" Id="R6ee2e6cfaab64406" /><Relationship Type="http://schemas.openxmlformats.org/officeDocument/2006/relationships/slide" Target="/ppt/slides/slide15.xml" Id="Rd3e1324395054597" /><Relationship Type="http://schemas.openxmlformats.org/officeDocument/2006/relationships/slide" Target="/ppt/slides/slide16.xml" Id="R32318f1108034933" /><Relationship Type="http://schemas.openxmlformats.org/officeDocument/2006/relationships/slide" Target="/ppt/slides/slide17.xml" Id="R246469b3a54c4aca" /><Relationship Type="http://schemas.openxmlformats.org/officeDocument/2006/relationships/slide" Target="/ppt/slides/slide18.xml" Id="R316bc39546fc446b" /><Relationship Type="http://schemas.openxmlformats.org/officeDocument/2006/relationships/slide" Target="/ppt/slides/slide19.xml" Id="R64513567fe1d45b1" /><Relationship Type="http://schemas.openxmlformats.org/officeDocument/2006/relationships/slide" Target="/ppt/slides/slide20.xml" Id="Ra4f46b85476649c6" /><Relationship Type="http://schemas.openxmlformats.org/officeDocument/2006/relationships/slide" Target="/ppt/slides/slide21.xml" Id="R10a7a74a45324f93" /><Relationship Type="http://schemas.openxmlformats.org/officeDocument/2006/relationships/slide" Target="/ppt/slides/slide22.xml" Id="R8eb249a060a34883" /><Relationship Type="http://schemas.openxmlformats.org/officeDocument/2006/relationships/slide" Target="/ppt/slides/slide23.xml" Id="Rdec2b6e1d4b34629" /><Relationship Type="http://schemas.openxmlformats.org/officeDocument/2006/relationships/slide" Target="/ppt/slides/slide24.xml" Id="Rf15cf44f787a4481" /><Relationship Type="http://schemas.openxmlformats.org/officeDocument/2006/relationships/slide" Target="/ppt/slides/slide25.xml" Id="R60cf748757df46af" /><Relationship Type="http://schemas.openxmlformats.org/officeDocument/2006/relationships/slide" Target="/ppt/slides/slide26.xml" Id="R84771547f3b441fc" /><Relationship Type="http://schemas.openxmlformats.org/officeDocument/2006/relationships/slide" Target="/ppt/slides/slide27.xml" Id="R2f3a77989ac44676" /><Relationship Type="http://schemas.openxmlformats.org/officeDocument/2006/relationships/slide" Target="/ppt/slides/slide28.xml" Id="R9e5422f3c8884fee" /><Relationship Type="http://schemas.openxmlformats.org/officeDocument/2006/relationships/slide" Target="/ppt/slides/slide29.xml" Id="R7ff63dbfada541cc" /><Relationship Type="http://schemas.openxmlformats.org/officeDocument/2006/relationships/slide" Target="/ppt/slides/slide30.xml" Id="Rb2006dcbf5c5490d" /><Relationship Type="http://schemas.openxmlformats.org/officeDocument/2006/relationships/slide" Target="/ppt/slides/slide31.xml" Id="Rb9a47ddf577b4728" /><Relationship Type="http://schemas.openxmlformats.org/officeDocument/2006/relationships/slide" Target="/ppt/slides/slide32.xml" Id="Re4bdd05ac3c64b1b" /><Relationship Type="http://schemas.openxmlformats.org/officeDocument/2006/relationships/slide" Target="/ppt/slides/slide33.xml" Id="R78c848a83d4d46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e92eb4261c54f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1dbbab5af343c8" /><Relationship Type="http://schemas.openxmlformats.org/officeDocument/2006/relationships/notesMaster" Target="/ppt/notesMasters/notesMaster1.xml" Id="R541daf21dabd45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c04fd9f8c34d5b" /><Relationship Type="http://schemas.openxmlformats.org/officeDocument/2006/relationships/notesMaster" Target="/ppt/notesMasters/notesMaster1.xml" Id="R06dbfe2ae3e84a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3dd3e2b4a24852" /><Relationship Type="http://schemas.openxmlformats.org/officeDocument/2006/relationships/notesMaster" Target="/ppt/notesMasters/notesMaster1.xml" Id="R6ed829db29d14f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52770429fa4c74" /><Relationship Type="http://schemas.openxmlformats.org/officeDocument/2006/relationships/notesMaster" Target="/ppt/notesMasters/notesMaster1.xml" Id="R4c5136358da047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2ecfe24b6843f3" /><Relationship Type="http://schemas.openxmlformats.org/officeDocument/2006/relationships/notesMaster" Target="/ppt/notesMasters/notesMaster1.xml" Id="R2882713f41374b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4155dd836d483b" /><Relationship Type="http://schemas.openxmlformats.org/officeDocument/2006/relationships/notesMaster" Target="/ppt/notesMasters/notesMaster1.xml" Id="R845966a1835d43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7ff62e8f684010" /><Relationship Type="http://schemas.openxmlformats.org/officeDocument/2006/relationships/notesMaster" Target="/ppt/notesMasters/notesMaster1.xml" Id="R818a5019faa84b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402a0df8e046d8" /><Relationship Type="http://schemas.openxmlformats.org/officeDocument/2006/relationships/notesMaster" Target="/ppt/notesMasters/notesMaster1.xml" Id="R4fa94222b45e4a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562b31b8424dc5" /><Relationship Type="http://schemas.openxmlformats.org/officeDocument/2006/relationships/notesMaster" Target="/ppt/notesMasters/notesMaster1.xml" Id="R4818eff4b5eb4c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d88ea4a8874662" /><Relationship Type="http://schemas.openxmlformats.org/officeDocument/2006/relationships/notesMaster" Target="/ppt/notesMasters/notesMaster1.xml" Id="Rd8d1ff019f3a47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b4eeab93324abf" /><Relationship Type="http://schemas.openxmlformats.org/officeDocument/2006/relationships/notesMaster" Target="/ppt/notesMasters/notesMaster1.xml" Id="Rcdf31d6aff7c4f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30e81d8542490d" /><Relationship Type="http://schemas.openxmlformats.org/officeDocument/2006/relationships/notesMaster" Target="/ppt/notesMasters/notesMaster1.xml" Id="R5e3cfd76b70446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07fce5dbc74436" /><Relationship Type="http://schemas.openxmlformats.org/officeDocument/2006/relationships/notesMaster" Target="/ppt/notesMasters/notesMaster1.xml" Id="R681979cc0ddb45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9bfeb39e964cf6" /><Relationship Type="http://schemas.openxmlformats.org/officeDocument/2006/relationships/notesMaster" Target="/ppt/notesMasters/notesMaster1.xml" Id="R9c26f4c14e3c41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82c395e98c4a79" /><Relationship Type="http://schemas.openxmlformats.org/officeDocument/2006/relationships/notesMaster" Target="/ppt/notesMasters/notesMaster1.xml" Id="R9686a9ecfd824a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c9669deb874766" /><Relationship Type="http://schemas.openxmlformats.org/officeDocument/2006/relationships/notesMaster" Target="/ppt/notesMasters/notesMaster1.xml" Id="Rd63b0b570a4249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a6ec440cd6412b" /><Relationship Type="http://schemas.openxmlformats.org/officeDocument/2006/relationships/notesMaster" Target="/ppt/notesMasters/notesMaster1.xml" Id="R5a5f9fa034a1443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1cc097a34354356" /><Relationship Type="http://schemas.openxmlformats.org/officeDocument/2006/relationships/notesMaster" Target="/ppt/notesMasters/notesMaster1.xml" Id="R357624fec657432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6700b76ae748cd" /><Relationship Type="http://schemas.openxmlformats.org/officeDocument/2006/relationships/notesMaster" Target="/ppt/notesMasters/notesMaster1.xml" Id="Re52e036966b547f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68c27cc3f3e4fff" /><Relationship Type="http://schemas.openxmlformats.org/officeDocument/2006/relationships/notesMaster" Target="/ppt/notesMasters/notesMaster1.xml" Id="R7d951d978cb349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c978734ff94ab7" /><Relationship Type="http://schemas.openxmlformats.org/officeDocument/2006/relationships/notesMaster" Target="/ppt/notesMasters/notesMaster1.xml" Id="R455d9d7744ec4e1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0a0f56237a4a5d" /><Relationship Type="http://schemas.openxmlformats.org/officeDocument/2006/relationships/notesMaster" Target="/ppt/notesMasters/notesMaster1.xml" Id="Ra484fa5ff342456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b8384ac9384afe" /><Relationship Type="http://schemas.openxmlformats.org/officeDocument/2006/relationships/notesMaster" Target="/ppt/notesMasters/notesMaster1.xml" Id="Rb1d2f14f0db043d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fd7c9e01bb46e2" /><Relationship Type="http://schemas.openxmlformats.org/officeDocument/2006/relationships/notesMaster" Target="/ppt/notesMasters/notesMaster1.xml" Id="R04cdf4ea7d85435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1e7f539352f429d" /><Relationship Type="http://schemas.openxmlformats.org/officeDocument/2006/relationships/notesMaster" Target="/ppt/notesMasters/notesMaster1.xml" Id="Rbf090b7a34eb4eb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93a1b3242ec4e78" /><Relationship Type="http://schemas.openxmlformats.org/officeDocument/2006/relationships/notesMaster" Target="/ppt/notesMasters/notesMaster1.xml" Id="R68f74659968047b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0d4189e03f8450c" /><Relationship Type="http://schemas.openxmlformats.org/officeDocument/2006/relationships/notesMaster" Target="/ppt/notesMasters/notesMaster1.xml" Id="R95b84a19937846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7799a2d6784f95" /><Relationship Type="http://schemas.openxmlformats.org/officeDocument/2006/relationships/notesMaster" Target="/ppt/notesMasters/notesMaster1.xml" Id="Rfbac8fa9367142a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54bd211a23f41e5" /><Relationship Type="http://schemas.openxmlformats.org/officeDocument/2006/relationships/notesMaster" Target="/ppt/notesMasters/notesMaster1.xml" Id="R45cfa11a9bb1494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bbee6a44e7c479c" /><Relationship Type="http://schemas.openxmlformats.org/officeDocument/2006/relationships/notesMaster" Target="/ppt/notesMasters/notesMaster1.xml" Id="R4ec0dc36acc64ff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f06b01d616548c8" /><Relationship Type="http://schemas.openxmlformats.org/officeDocument/2006/relationships/notesMaster" Target="/ppt/notesMasters/notesMaster1.xml" Id="R49f5ea19f1f4484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b8e02cb6d504c91" /><Relationship Type="http://schemas.openxmlformats.org/officeDocument/2006/relationships/notesMaster" Target="/ppt/notesMasters/notesMaster1.xml" Id="R09d385d7af5a4d7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9c70a6c387e407c" /><Relationship Type="http://schemas.openxmlformats.org/officeDocument/2006/relationships/notesMaster" Target="/ppt/notesMasters/notesMaster1.xml" Id="R43cdc57677dd44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页；建议 20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本页要点：中期答辩：重点汇报 PCU-Select 的背景、动机、方法与稿件结果，并说明后续系统工作。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各位老师好，我是林肯达。今天进行《面向大模型的数据与参数联合高效微调算法研究》的中期汇报。我将重点介绍目前形成的 PCU-Select 论文工作：为什么要研究、方法怎样设计、结果怎样分析，最后说明下一阶段的系统建设计划。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转场：下面按照问题、方法、结果和计划四个部分展开。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提示：完整读出总题目，明确本次主体是已开展的论文工作。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页；建议 15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本页要点：先说明研究问题，再解释方法与实验，最后汇报后续工作。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首先说明多配置微调场景中的数据选择问题；其次介绍共享位点、条件评分和子集生成方法；第三部分分析质量、消融和成本；最后介绍承接算法的实验管理系统，以及后续八周的建议安排。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转场：先从大模型微调的两类成本说起。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提示：快速指过四个部分，不逐字读二级条目。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页；建议 45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本页要点：单次微调要节省数据与参数成本，多配置场景还要减少重复选数。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大模型适配具体任务时，成本主要受到两个方面影响。一方面是用多少训练数据，数据高效微调通过选择更有用的样本，减少训练量。另一方面是更新多少参数，PEFT，也就是参数高效微调，只训练模型中的少量参数。现实中，同一个数据池可能要服务数学、代码等不同任务，也可能同时维护多种 PEFT 配置。此时，问题不只是哪次训练更省，还包括每增加一种配置，是否要重新做一遍昂贵的数据选择。我的课题把数据价值与可训练参数放在一起考虑。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转场：现有选数方案在处理配置差异时，存在一个具体矛盾。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提示：先讲数据和参数两条轴，再把目光移到多配置重复实验。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来源：/Users/bytedance/code/data-selection/paper/Sections/01_introduction.tex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来源：/Users/bytedance/code/data-selection/paper/Sections/03_problem_formulation.tex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本页要点：配置无关方法易复用，逐 PEFT 的 LESS 更有针对性，但要重复建立梯度库。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这里比较三类方案。RDS 加这一语义基线根据样本与任务的相似度排序，知道任务需要什么，但不区分 PEFT 配置。共享梯度方法能够复用一份梯度库，也没有保留具体配置条件。LESS 则针对每套 PEFT 建立相应的梯度库，再根据任务样本选数，能够体现当前可训练参数的影响。但更换配置后，这份库往往需要重建。于是出现一个取舍：我们希望保留逐配置选择的针对性，又希望复用昂贵计算。PCU-Select 的目标就是让同一个评分器接收目标配置，而不是让所有配置使用同一套排名。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转场：这个目标首先依赖一个判断：微调配置为什么会改变数据价值？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提示：沿表格从语义、共享梯度到逐配置梯度讲；避免把 RDS+ 说成不感知任务。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来源：/Users/bytedance/code/data-selection/paper/Sections/01_introduction.tex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本页要点：LoRA、IA3 与 Adapter 的更新方式和容量不同，同一数据的训练作用可能不同。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可以把可训练参数理解成模型当前能够调整的方向。LoRA 给权重增加低秩更新，秩和作用模块决定更新容量与位置；IA3 通过学习缩放向量调整内部特征；Adapter 则通过一个较小的瓶颈网络加入额外变换。这几种方式对同一条样本产生的更新并不相同。即使都使用 LoRA，修改注意力还是 MLP、秩大还是秩小，也会改变可学习的空间。因此，一条样本对目标任务是否有帮助，不仅取决于内容是否相关，还取决于当前配置能否利用它带来的训练信号。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转场：接下来用跨配置复用子集的比较说明这一动机。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提示：将“更新子空间”解释为能够调整的方向，讲清三个示例即可。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来源：/Users/bytedance/code/data-selection/paper/tables/table_peft_configs.tex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本页要点：稿件中逐 PEFT LESS 为 35.14，跨配置复用为 34.24，动机是复用计算而保留目标子集。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这一组比较在每个任务上，先用一套源 PEFT 的 LESS 选出子集，再把该任务子集用于其他目标配置。这里保留任务差异，只取消配置差异。实验结果汇总中，逐配置运行 LESS 的宏平均是三十五点一四，直接复用降到三十四点二四，低于 RDS 加的三十四点四四。这个现象提示：减少重复选数时，不能只把源配置的子集原样复制过去。更合适的方向是复用特征和评分机制，让不同配置仍然生成自己的子集。这也就是 PCU-Select 要解决的问题。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转场：下面将这个问题写成明确的条件数据选择目标。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提示：强调是四份任务专属源子集分别跨配置复用，不是所有任务共用一份子集。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来源：/Users/bytedance/code/data-selection/paper/tables/table_reuse_quality_cost.tex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来源：/Users/bytedance/code/data-selection/scripts/paper/competition_reuse_experiment.py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页；建议 45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本页要点：在预算内，为特定任务与 PEFT 配置选择训练子集。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我用 u(x,p,t) 表示一条数据的条件效用。x 是候选样本，p 是微调配置，t 是目标任务。它回答的是：在这种训练方式下，使用这条样本对当前任务有多大帮助。任务由一个包含三十二条训练或开发样本的小集合描述，论文称为 task sketch，可以理解成任务需求的缩影。目标是在预算 B 内选择子集，提升最终测试表现。由于穷举子集并反复训练不可行，我们学习一个评分器，近似预测这种效用。测试集只用于最终评价，不参与评分或选数。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转场：围绕这一目标，方法分成离线学习和在线选择两个阶段。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提示：依次解释 x、p、t、B；task sketch 用“任务需求的缩影”解释。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来源：/Users/bytedance/code/data-selection/paper/Sections/03_problem_formulation.tex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本页要点：离线建立共享资产，在线以配置和任务为条件评分，再生成预算内子集。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先看整体流程。左侧是离线阶段，提取候选样本和任务的共享信号，再利用低成本梯度代理与少量短更新构造监督，训练一个条件评分器。这些工作形成可以反复使用的资产。右侧是在线阶段，输入新的目标 PEFT 与任务，读取样本缓存，由评分器输出每条数据的效用和不确定性，随后通过语义聚类与配额生成子集，交给下游微调。架构里有两点最关键：一是共享坐标让不同配置可以使用同一批样本信号；二是配置条件始终保留，因此复用资产之后仍能产生目标专属排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转场：下面先解释共享坐标为什么能够连接不同的 PEFT。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提示：先指离线、再指在线，最后回到共享位点和目标条件两处。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来源：/Users/bytedance/code/data-selection/paper/Figures/pcu-select-architecture-spec.md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页；建议 55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本页要点：在模块输出上观察梯度，通过位点、算子与容量表达配置差异，避免直接拼接异形参数梯度。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不同 PEFT 的参数张量形状不同，直接拼接原始梯度很难共用。因此，方法把观察位置放到模块输出上：选择八个均匀分布的 Transformer 层，每层取注意力、MLP 和残差输出，形成二十四个位点。根据链式法则，参数更新与这些中间输出的梯度存在联系，所以位点信号能够描述样本如何推动模型内部表示。可以把它理解成同一台设备上的固定测量点。配置掩码记录作用位置，算子和容量编码说明怎样更新、能更新多少。这里建立的是共享近似坐标，并不意味着二十四个位点能够完整恢复每种 PEFT 的所有参数梯度。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转场：有了共同坐标，评分器还需要读取样本、任务和配置的完整描述。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提示：先说形状不一致的问题，再用固定测量点解释；链式法则不展开矩阵推导。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来源：/Users/bytedance/code/data-selection/paper/Sections/08_appendix.tex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本页要点：样本 848 维、PEFT 128 维、任务 848 维；结构信息比家族名称更具体。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三种输入各自回答一个问题。样本表示是八百四十八维，包括七百六十八维语义、十六维难度与格式、六十四维激活摘要，描述数据内容和模型反应。任务表示对三十二条任务样本的表示取平均，同样是八百四十八维，描述目标需求。PEFT 表示是一百二十八维，其中九十六维记录二十四个位点的活动与算子类型，另外两组十六维编码容量和训练配方。这样，两个都叫 LoRA 的配置也可以因为秩、模块或配方不同而得到不同编码。位点梯度另用于监督构造，不额外拼进这三个线上输入。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转场：接下来解释训练评分器需要的第一类监督信号。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提示：重点讲三类信息的职责；维度可指图带过，不连续背数字。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来源：/Users/bytedance/code/data-selection/src/pcu_select/pipeline/offline.py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来源：/Users/bytedance/code/data-selection/src/pcu_select/peft_space/encoder.py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页；建议 54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本页要点：在目标配置作用的位点上，比较样本与任务的梯度方向，再加权得到代理效用。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低保真标签来自梯度方向的一致性。首先在同一个位点上，计算候选样本和任务样本集的损失梯度。如果两个方向相近，说明它们对这个内部表示提出了相近的更新需求，可以作为样本可能有用的信号。为了降低存储成本，每个位点的梯度通过固定随机投影压缩到二百五十六维，再进行归一化。最后，用目标 PEFT 的位点权重对各位点余弦相似度加权，并在相同配置与任务内做排序归一化。样本梯度只需提取一次，更换配置时改变权重和条件即可，所以这类监督适合覆盖大规模候选池。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转场：梯度代理覆盖广，但比较间接，因此还需要更直接的短更新反馈。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提示：用“方向是否一致”解释余弦；强调是每个位点 256 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页；建议 58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本页要点：两个锚点、两种更新长度与三阶段采样，使少量标签覆盖更关键的排序区域。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高保真标签会实际做短程微调，观察任务损失下降多少。方法使用两个起点：基础模型，以及已经开始适配的暖启动模型；每个起点分别做一步和四步更新，减少对某个训练位置或更新长度的依赖。每个小批次包含目标样本和七条条件匹配样本，因此测到的是包含该样本的小批次短期作用。论文方案一共使用一万条标签，分三阶段选择：先覆盖不同配置和任务，再训练临时评分器，随后补充不确定性较大的区域，以及子集分界附近排序容易出错的区域。这样把较贵的实际更新用在更值得纠正的位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转场：两种监督汇合后，由同一个条件评分器学习目标相关的排序。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提示：先解释锚点和更新步数，再说明 10K 标签的三阶段；不称其为长期真实贡献。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页；建议 57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本页要点：三路编码与条件调制保留目标差异，多保真两阶段学习输出效用和不确定性。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评分器先分别编码样本、PEFT 和任务。随后使用 FiLM，也就是根据配置与任务，对样本特征作缩放和平移，可以理解成用当前训练目标调整观察样本的角度。另一个双线性交互项直接表达样本与配置的匹配关系。训练分为两个阶段：阶段 A 先学习梯度代理给出的广泛排序；阶段 B 保留代理监督，再加入短更新标签的排序和回归，并学习不同样本预测的噪声大小。最终得到效用均值和不确定性，选数分数是均值减去零点二倍不确定性。它让分数高但预测较不稳定的样本受到一定惩罚，不是统计置信区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转场：有了每条样本的分数，还要解决高分样本可能过于相似的问题。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提示：FiLM 解释为按条件调整特征；明确 σ 是排序惩罚信号。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本页要点：在高价值与语义覆盖之间分配预算，避免全局 Top-k 集中选择近似重复样本。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如果直接选全局分数最高的三万条，可能得到很多内容相近的样本。方法先按语义对候选池聚类，三十万条数据按默认规则形成五百四十七个簇，再分配三万条预算。每个簇的配额同时考虑两个因素：簇内高分样本的价值，以及簇本身的规模。价值高的簇得到更多机会，大簇也保留合理覆盖，最后在每个簇内取高分样本。这里既不是所有簇平均分，也不是只看最高分；取整之后还要确定性地处理余量，确保最终数量满足预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转场：方法介绍完之后，下面说明实验如何组织。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提示：用高分练习题重复的例子解释，再指价值与规模两条输入。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来源：/Users/bytedance/code/data-selection/src/pcu_select/selection/adaptive_quota.py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本页要点：主设置以 Llama-2-7B、300K 候选池、四任务、五种已见 PEFT 和 10% 预算组织评价。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主实验使用 Llama 二代七十亿参数模型，从三十万条混合指令中选择百分之十，也就是三万条。任务包括数学 GSM8K、代码 HumanEval、知识 MMLU 和多语言问答 TyDiQA，分别使用准确匹配、一次生成通过率、准确率和 F1。五种已见配置包括三种 LoRA、一种 IA3 和一种 Adapter。比较时固定骨干、训练步数、配方和评测协议，让选出的子集成为主要变量。稿件设置三个下游训练种子，同时固定评分器、任务 sketch 和候选池；所以重复口径是训练随机性，不是整个选择流程的独立重跑。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转场：先看注册配置和任务层面的总体质量。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提示：解释四任务各测什么；说明三种子口径和固定的选择条件。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来源：/Users/bytedance/code/data-selection/paper/tables/table_peft_configs.tex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本页要点：稿件宏平均中 PCU-Select 为 35.18，接近 LESS 的 35.14，高于配置无关基线。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图中汇总四个任务的原生百分制指标，再对五种 PEFT 等权平均。当前稿件中，Random 是三十二点二九，RDS 加是三十四点四四，共享梯度 Influence 是三十四点六八，LESS 是三十五点一四，PCU-Select 是三十五点一八。值得关注的是，条件评分在总体上接近逐配置 LESS，同时保留了跨配置复用机制。与 LESS 的差值只有零点零四，所以这一页的结论是宏平均接近，不能表述为显著领先，也不能把这个跨任务平均统一称为准确率。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转场：总体接近不等于每个任务都一致，下面拆开看。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提示：先交代宏平均含义，比较重点放在配置无关基线与 LESS 之间。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来源：/Users/bytedance/code/data-selection/paper/tables/table_main_results.tex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来源：/Users/bytedance/code/data-selection/paper/data/competition_stats.md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本页要点：稿件中数学与知识任务较好，代码接近，多语言问答低于 LESS，不能用宏平均遮蔽差异。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相对 LESS，PCU-Select 在 GSM8K 上高零点二九，在 MMLU 上高零点六七；HumanEval 相差负零点零四，基本接近；TyDiQA 则低零点七七。这说明总体宏平均由不同任务上的变化共同组成。数学与知识任务中，条件评分和覆盖策略有较好的稿件表现；多语言问答仍然是需要重点检查的场景。后续会围绕任务表示、候选数据语言分布和短更新标签开展分析，但目前不能直接把差异归因于某一个模块。这一页保留逐任务结果，避免把平均接近讲成所有任务都一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转场：接下来通过消融比较各个模块的作用。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提示：按正向、接近、负向三类讲；原因用待分析假设，不写成实证因果。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来源：/Users/bytedance/code/data-selection/paper/tables/table_per_task_compact.tex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本页要点：稿件消融中，去掉 PEFT 编码、改用全局 Top-k 和只保留代理监督均降低下游表现。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消融实验只在 GSM8K 和 HumanEval、两种代表配置、百分之十预算上进行，口径与主表不同。完整方法的平均分是十九点七二。去掉 PEFT 编码下降一点三七，说明具体配置条件值得保留；只给一个家族名称也不够。把聚类配额换成全局最高分选择，下降一点零八，反映覆盖策略的作用。只保留梯度代理标签下降零点八五，去掉任务表示下降零点八二。这组比较围绕三个设计选择展开：为什么感知配置、为什么结合两种监督、为什么评分后还需要覆盖控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转场：质量之外，方法的另一个目标是降低多配置选择成本。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提示：先说明消融范围，再按条件／监督／配额分组，不把所有条目逐一朗读。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来源：/Users/bytedance/code/data-selection/paper/tables/table_ablations.tex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页；建议 55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本页要点：PCU-Select 有前期共享投入，新增配置成本较低；稿件成本曲线约从第三套四任务配置开始占优。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横轴是目标 PEFT 的数量，每种配置都服务四个任务。LESS 的选择成本近似随配置数线性增长，每增加一套需要六十三点二个 GPU 小时。PCU-Select 先投入一百四十四个 GPU 小时建立共享资产，之后每套只增加一点五一。因此，它并不是第一次使用就更省，而是随着配置增多逐渐摊回前期成本。按稿件模型，两条曲线约在二点三三套配置相交；五套配置的选择成本是一百五十一点六对三百一十六。所谓约四十二倍，指新增配置的边际选择成本之比，不是五配置总加速，也不包含下游训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转场：这种复用对新配置能用到什么程度，还需要看结构支持范围。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提示：先解释两条线截距和斜率，再讲交点和五配置；区分 GPU 小时与墙钟。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来源：/Users/bytedance/code/data-selection/paper/data/competition_cost_model.json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来源：/Users/bytedance/code/data-selection/paper/tables/table_cost_axes.tex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页；建议 45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本页要点：近支持配置可直接评分，偏移较大的配置需要校准或逐目标选数，不能无限外推。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方法对新配置不是统一处理，而是相对训练注册表分为三层。L0 是同一家族、结构接近已见范围的配置，可以评估直接使用评分器。L1 仍属于已见家族，但容量或作用位置变化较大，有兼容的目标短更新标签时进行校准，否则回退到逐目标选择。L2 是未见家族，需要更谨慎地检查表示兼容性，有兼容标签时校准，否则回到逐目标选择。校准时固定共享评分器，只学习一个轻量残差修正头。因此这里的目标是给出可操作的使用边界，而不是承诺所有 PEFT 或所有骨干都能零样本迁移。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转场：到这里，可以总结工作一形成了哪些内容。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提示：按近支持→远支持→未见家族解释；本页讲配置分级与使用策略。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页；建议 25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本页要点：贡献围绕共享信号、条件评分和质量成本联合评价，继续分析任务差异与适用边界。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工作一已经形成三部分内容：用共享位点组织跨配置信号，用多保真条件评分生成目标专属子集，以及把质量和多配置摊销成本结合评价。相应方法、代码和论文稿件已形成。下一步继续分析任务差异和支持范围，完善实验结果的解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转场：这些已经形成的算法资产，也正好成为第二项工作的基础。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提示：用三句话收束工作一，当前状态只简述一次。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22 页；建议 35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本页要点：基于 PCU-Select 的多配置数据选择与微调实验管理系统（计划）。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后续计划的第二项工作，直接使用第一项的评分器、特征缓存、PEFT 编码和配额算法。需要解决的问题是：当任务、配置、预算和训练种子不断组合时，哪些产物可以复用，哪些计算只需做一次，中断以后从哪里继续。首版计划采用单工作节点、任务队列、元数据索引和本地产物库，配一个简洁控制台。它承接已有算法，重点增加可检查的复用规则和可靠的实验执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转场：系统将围绕两项工程机制展开。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提示：强调承接关系与计划状态，系统范围一句带过。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来源：/Users/bytedance/code/data-selection/scripts/experiments/README.md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23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本页要点：依赖清单决定产物能否复用，公共节点与阶段状态决定怎样避免重复并恢复执行。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一项机制是分层缓存。为特征、任务表示、评分、聚类和子集记录内容摘要、版本、配置与种子，输入变化后只重算受影响的下游。例如只改预算，可以复用评分和聚类。第二项机制是公共计算去重与阶段恢复。把请求拆成多个阶段，相同依赖的节点计划只执行一次；产物先写完整、校验后再发布，并为各请求保留独立记录。中断后复用已经完成的阶段，重跑失败阶段。首版的恢复以阶段为单位，不承诺训练内部某一步的断点续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转场：用一个小矩阵可以直观看到公共计算在哪里。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提示：两机制各用一个例子；解释原子发布为“写完整、校验后才变为可用”。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来源：/Users/bytedance/code/data-selection/src/pcu_select/pipeline/apply.py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24 页；建议 45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本页要点：在固定条件下，4 份评分和 1 份聚类生成 12 份子集，再完成 24 次训练。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同一候选池上的两种 PEFT、两个任务、三个预算和两个训练种子，对应二十四次训练。固定样本与任务表示、评分器、聚类配置和选择种子后，两种配置乘两个任务形成四份目标评分；完整池语义聚类可以共享一份。四个条件各做三个预算，得到十二份子集，再分别使用两个训练种子，完成二十四次训练。每个任务和配置仍然有自己的子集。候选池顺序也必须一致；这个例子描述计划中的节点数量，不能直接换算成端到端加速倍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转场：这些机制是否有效，要通过对照实验定量回答。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提示：沿 4 评分＋1 聚类→12 子集→24 训练讲，突出固定前提。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25 页；建议 40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本页要点：已有脚本、加入依赖缓存、完整系统三组对照，分别测试增量变化与批量故障场景。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验证分三组：已有脚本、加入依赖缓存、完整系统。已有脚本本身已有部分特征缓存，比较时保留这项基础。机制一测试改预算、改训练种子、增加样本和同名样本改内容，检查与完整重算的一致性，并记录重算量、时间与存储。机制二测试批量矩阵和故障中断，测执行次数、恢复时间与结果隔离。选择侧和端到端时间分开报告，缓存与去重的收益不重复相加，最终提升幅度由实测给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转场：最后是完成这些工作的时间安排。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提示：先说三组，再讲两类场景；不给假定提升百分比。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来源：/Users/bytedance/code/data-selection/scripts/experiments/run_e1.py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26 页；建议 40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本页要点：算法结果整理与系统建设并行，按两周交付一个可检查里程碑。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里按中期答辩后八周给出建议安排。前两周固定依赖和接口规范，同时整理第一工作实验记录。第三到第四周完成分层缓存与局部重算。第五到第六周接入公共节点执行、阶段恢复、控制台和报告，跑通实验矩阵。最后两周完成机制对照实验、系统演示和论文整理。第一工作的实验整理与论文完善贯穿这一周期，使系统验证与论文结果衔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转场：两项工作共同回答如何更高效地开展多配置微调。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提示：八周是相对建议计划；里程碑和并行核验各讲清一次。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27 页；建议 19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本页要点：工作一研究选什么数据，工作二计划提高多配置实验的复用性与可靠性。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课题以数据和参数协同为主线。工作一通过共享信号和条件评分，研究怎样为不同配置选数据；工作二计划把这些资产组织成可复用、可恢复的实验系统。下一步重点是完成真实实验核验和系统机制的定量评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转场：以上是我的中期汇报。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提示：两项工作各一句，最后收束到下一步。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28 页；建议 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本页要点：进入提问环节。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我的汇报到此结束，感谢各位老师，敬请批评指正。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转场：根据老师提问展开。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提示：保持本页，按问题调用备用页。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来源：/Users/bytedance/Library/Containers/com.tencent.xinWeChat/Data/Documents/xwechat_files/wxid_gv7hy4hchzzw22_bc53/msg/file/2026-09/开题答辩-林肯达.pptx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29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本页要点：逐配置主表补充总体宏平均；不同配置和任务存在差异，均值不等于普遍领先。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这张表按五种已见 PEFT 分列，每个单元先平均四个任务的原生指标。PCU-Select 在 Adapter、IA3、注意力秩十六 LoRA 和秩八 qv LoRA 上的稿件汇总较高，在 MLP LoRA 上低于 LESS。总体平均为三十五点一八与三十五点一四。这里没有把任务原生指标混称为统一准确率，也没有根据这组均值宣称所有配置都优于基线。原始运行记录核验完成后，会保持同样的口径更新主表。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转场：如需区分哪个任务造成差异，可以回到逐任务页。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提示：只定位老师询问的行列；稿件主表与复用表离散度存在差异，备用表不使用误差条。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来源：/Users/bytedance/code/data-selection/paper/tables/table_main_results.tex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30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本页要点：跨 PEFT 新增配置带来摊销收益；仅增加任务、需要校准或计入训练时，成本解释不同。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成本单位是 GPU 小时，也就是墙钟时间乘 GPU 数量。PCU-Select 的一百四十四个 GPU 小时前期投入由特征、代理标签、短更新标签和评分器训练组成。新增一套四任务 PEFT 的选择成本为一点五一，对比 LESS 的六十三点二；但如果只给已有 PEFT 增加一个任务，二者分别约零点三八和零点三零，不能继续宣称四十二倍。需要目标校准时还要另计标签成本。所有曲线都排除了下游训练，所以它们说明的是多配置选数的摊销场景，不是模型训练本身同倍加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转场：成本比较必须先约定增加的是什么以及纳入哪些阶段。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提示：根据问题说明新增 PEFT、新增任务、校准和训练四种边界。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来源：/Users/bytedance/code/data-selection/paper/data/competition_cost_model.json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来源：/Users/bytedance/code/data-selection/paper/tables/table_cost_axes.tex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31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本页要点：预算、训练随机种子和候选池变化影响不同层；完整内容和版本依赖决定是否复用。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仅改变预算时，复用评分和聚类，重算配额和子集。选择条件不变、只改下游训练随机种子时，复用子集。新增候选样本且评分条件不变时，旧样本兼容的特征和逐样本分数可保留，但完整池聚类、配额和子集要重算。样本内容改变不能因为名字相同而命中旧缓存，候选顺序也进入池级依赖。学习率等训练配方进入 PEFT 编码，变化时需更新条件评分。恢复时只有完成标记和校验均通过的产物才能复用；首版失败训练阶段重新执行，不承诺 step 级续训。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转场：这些规则都将在增量变化和故障注入实验中检查。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提示：先回答具体变更案例，再补充内容摘要与恢复规则。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来源：/Users/bytedance/code/data-selection/src/pcu_select/peft_space/encoder.py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32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本页要点：说明统计口径、配置支持范围与运行记录。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当前数字来自论文实验结果，主表按配置、任务和训练种子汇总。成本按阶段关联计时记录。实验应记录数据内容版本、模型、PEFT、选择条件和训练种子，由真实运行记录重建表格。代码中存在某配置入口不等于已完成相同程度的实验验证，系统首版范围以核验过的骨干和 PEFT 为准。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转场：这使方法设计、代码实现和最终实验结论能够一一对应。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提示：说明实验来源、统计口径与支持范围。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来源：/Users/bytedance/code/data-selection/paper/data/competition_revision_notes.md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33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本页要点：位点加权刻画目标作用位置，多保真标签提供效用近似，配额在价值与规模间平衡。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位点权重由活动掩码和容量调制组成，再归一化，使总权重集中在目标配置实际作用的位置。低保真标签是这些位点上样本与任务梯度余弦的加权和；高保真标签是短更新前后的任务损失差，并在相同配置、任务和测量设置内排序归一化。保守分数是效用均值减不确定性惩罚。簇配额则与正簇价值的零点六次方、簇规模的零点四次方乘积成比例，再作确定性取整。这些公式分别控制条件针对性、监督可比性和覆盖，不代表对子集最优性的精确求解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转场：如果需要，可以将某一公式对应回方法中的具体阶段。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提示：仅展开被问到的公式；解释符号含义和近似边界，避免连续推导。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来源：/Users/bytedance/code/data-selection/paper/Sections/03_problem_formulation.tex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a94a6e37347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0990d99a74b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e479b875d41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a5f3e19be44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9f4e54cd641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acc7bdf91442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8dde6ca2b4b0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2534224a44f8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bfaa019514da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e7a947e6c455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0d0566a8945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c00d4e06924a8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37d23546fd4d8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fc6f7ae071489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7860eed520432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d2a8b5172c40c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de716f829841d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6cb98277e642b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c18739e602439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3f68ea2d2e430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56b2b8abfe4a3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09070cbd1946db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10B07F4-F860-4171-AE49-94DC456986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B796686-7CBF-491F-819C-1ECF69D89D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8B5DF9B-0AEA-4804-A063-CB8FF045E9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B30EB6A-6904-4A36-B2E4-F918E302EA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C7A6FF0-A806-4921-80B6-635119C0A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C1A473F-8D49-4674-A83F-E217BD401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25CD3A8-28D9-4FDA-888E-E3FA04F337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4A131E-CC80-4F36-B11B-87D2EF3C4C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DE53180-526C-40A1-8F8F-DF775B9746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BCE58BE-ED3B-43CD-A0C6-A779BD2B9C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6F20E04-9005-4D32-B9CF-E13060A95B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9A741EE-77F4-435C-9EF6-F881046668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3A917CB-F2AC-4526-935B-211848ADD2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2C721E1-95DA-4009-8A05-F56F258591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7876C6-5DB8-44CF-A050-3392537BE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8AC825-75F5-47FD-8806-249BA66F57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0252E72-A310-416E-B039-41FCCB43CC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355A737-4FB1-4CC7-9334-A6BF29AEB2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B42877F-0525-45D3-9672-C3D6703AF1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20CF46A-7A93-4654-8382-6FAFE0FB2A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1AA2EB-777D-493A-A7E1-5C7AC97529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662DD2-CD05-4605-81E7-FF7602867A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3319A65-32C2-463C-A0BC-61C288A095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2CA25F3-A39E-4E1C-9D98-EC7FF2488D7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1450FCA-5083-4E90-8626-F046803E700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2A1D60C-CE72-4730-908D-E06F16F44E3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ACD3517-61B2-4C1B-93A6-FFA4861C47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2D7E9B8-2AC6-49B7-92B0-47226C6B31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15D98A1-F1F5-43A7-B730-C7B4C405E3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DC9B99-3EC8-4774-877C-F1CD56340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2EAB7F8-2DA3-4138-8D09-F160ED5C4C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D037BC1-4AB5-4188-8810-8FA813CF70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45EBABF-5476-4123-9B3A-60164F8629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04839B9-00DC-4347-959E-170347A840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C593DAA-8762-4EC3-ABFF-9E3C84E82B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0B29362-0549-4D6F-A477-3EE2A8DB94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7CBEC8D-3C28-49AD-A19E-42EF85EDD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CB8B05C-9551-46A5-B8F2-48BA17F16C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209ADF4-1147-4DEB-B397-2F991CC2DE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80CAB8E-D882-4D05-856C-5755F43148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51D3DE8-7A93-47D6-AFAD-23CD04662E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442E285-8153-4D57-8B2B-E500D9F28B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7A8C75-5322-443B-A9E4-EA8227B9BF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F44D56F-AEAD-4757-A4CE-0D759FEF7BB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6D0F5DA-8A24-47AC-A4AF-95ADB759C7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749BAF7-5EFB-4A17-B04C-19253726F8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D5AF8A2-5611-48E4-BA58-38F939F5EA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8BCAF22-E26F-4B8F-B2AD-C100FD20BC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06F17C-F2FC-4B89-A6EF-0E5D783F6C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2D3C791-CC68-45C5-B7B5-AB116D6749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A50A40-C147-480F-9567-9925455B3F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C544A20-B5BA-4996-AA46-03ED4129A4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3DD0A89-18C0-47B0-91B9-D7EBD5EAA6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087EEDD-63DD-4D4C-A0B2-B22F783272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E8C0EB54-7F2E-4D76-B4F7-4237E73597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C858C6-3B75-44F7-8307-24302A3689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A9B7024-2229-435B-8C96-39668CEEA3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BF78D19-192F-4809-8D4F-811A73EC04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1649732E-F8F6-4711-9605-BC0A1A4A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87400"/>
            <a:ext cx="11095355" cy="3505200"/>
          </a:xfrm>
          <a:custGeom xmlns:a="http://schemas.openxmlformats.org/drawingml/2006/main"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A868051B-E588-44DF-A76E-A03A6319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96646" y="2565400"/>
            <a:ext cx="11095355" cy="3505200"/>
          </a:xfrm>
          <a:custGeom xmlns:a="http://schemas.openxmlformats.org/drawingml/2006/main"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6830EC7-CC4B-4978-BE2B-9CC13324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725150" y="487172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C8A871F-9D05-4E65-909B-EBD4C136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178540" y="487172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EB63606-87E9-4140-BF27-DA4ED1EA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0305" y="139954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EE4B14D-9C06-4A71-A34B-9EBEADB4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6440" y="139954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407C92E-953B-4386-A933-EA58A071B6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8EEE599-EF40-4547-B7C2-3607B578F8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BAE4348-4F48-400C-BC40-17D5A7480F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D032C0-8632-4259-B927-4BE03588A399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06220" y="2680335"/>
            <a:ext cx="9180195" cy="1697990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单击编辑母版标题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973F2BA-69DD-4C34-8930-922695EE874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470800" y="1926000"/>
            <a:ext cx="7250400" cy="460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3AD66C03-8506-4C9A-B92F-CDC4033AEC2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936000" y="4680000"/>
            <a:ext cx="432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1"/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538E6A4-156B-4B81-9D65-8C1252600F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476B2B3-8764-4A47-99E1-7822DEBA99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6F43B41-ECD1-4FBB-8861-2DDAD6061D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8CE30B3-2C6F-41BB-91BE-46FEDC2A9A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423BF1C-2686-43CB-A5A1-721DD6C440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2989EA9-EFA2-4596-9CD5-D469B46411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18D610-548F-46DF-82C3-9221FCFC45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55DEC5-7606-452C-8914-0F8B000249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任意多边形 55">
            <a:extLst xmlns:a="http://schemas.openxmlformats.org/drawingml/2006/main">
              <a:ext uri="{FF2B5EF4-FFF2-40B4-BE49-F238E27FC236}">
                <a16:creationId xmlns:a16="http://schemas.microsoft.com/office/drawing/2014/main" id="{A366CF80-9C5C-4C06-BE1B-4B5C6846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" y="2261235"/>
            <a:ext cx="923290" cy="1787525"/>
          </a:xfrm>
          <a:custGeom xmlns:a="http://schemas.openxmlformats.org/drawingml/2006/main">
            <a:gdLst>
              <a:gd name="connsiteX0" fmla="*/ 6 w 1454"/>
              <a:gd name="connsiteY0" fmla="*/ 2815 h 2815"/>
              <a:gd name="connsiteX1" fmla="*/ 0 w 1454"/>
              <a:gd name="connsiteY1" fmla="*/ 345 h 2815"/>
              <a:gd name="connsiteX2" fmla="*/ 310 w 1454"/>
              <a:gd name="connsiteY2" fmla="*/ 0 h 2815"/>
              <a:gd name="connsiteX3" fmla="*/ 1454 w 1454"/>
              <a:gd name="connsiteY3" fmla="*/ 9 h 2815"/>
            </a:gdLst>
            <a:rect l="l" t="t" r="r" b="b"/>
            <a:pathLst>
              <a:path w="1454" h="2815">
                <a:moveTo>
                  <a:pt x="6" y="2815"/>
                </a:moveTo>
                <a:lnTo>
                  <a:pt x="0" y="345"/>
                </a:lnTo>
                <a:cubicBezTo>
                  <a:pt x="0" y="154"/>
                  <a:pt x="138" y="0"/>
                  <a:pt x="310" y="0"/>
                </a:cubicBezTo>
                <a:lnTo>
                  <a:pt x="1454" y="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9B7777F-3134-46EC-977A-3FEC5113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881120" y="2251710"/>
            <a:ext cx="158750" cy="39687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DC67437-80C6-4C28-92E6-CD74C917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23690" y="2251710"/>
            <a:ext cx="153670" cy="39687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65C71-FA38-44BD-B514-ED1AAB0A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8205" y="4321810"/>
            <a:ext cx="158750" cy="39687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9FA08DC-F98E-4FDA-B3D8-E867D807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0715" y="4321810"/>
            <a:ext cx="153670" cy="39687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3" name="任意多边形 1">
            <a:extLst xmlns:a="http://schemas.openxmlformats.org/drawingml/2006/main">
              <a:ext uri="{FF2B5EF4-FFF2-40B4-BE49-F238E27FC236}">
                <a16:creationId xmlns:a16="http://schemas.microsoft.com/office/drawing/2014/main" id="{0C3A0E1E-FA80-4C95-B862-F1CC0E14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60395" y="2931160"/>
            <a:ext cx="922655" cy="1788795"/>
          </a:xfrm>
          <a:custGeom xmlns:a="http://schemas.openxmlformats.org/drawingml/2006/main">
            <a:gdLst>
              <a:gd name="connsiteX0" fmla="*/ 6 w 1453"/>
              <a:gd name="connsiteY0" fmla="*/ 2817 h 2817"/>
              <a:gd name="connsiteX1" fmla="*/ 0 w 1453"/>
              <a:gd name="connsiteY1" fmla="*/ 347 h 2817"/>
              <a:gd name="connsiteX2" fmla="*/ 310 w 1453"/>
              <a:gd name="connsiteY2" fmla="*/ 2 h 2817"/>
              <a:gd name="connsiteX3" fmla="*/ 1453 w 1453"/>
              <a:gd name="connsiteY3" fmla="*/ 0 h 2817"/>
            </a:gdLst>
            <a:rect l="l" t="t" r="r" b="b"/>
            <a:pathLst>
              <a:path w="1453" h="2817">
                <a:moveTo>
                  <a:pt x="6" y="2817"/>
                </a:moveTo>
                <a:lnTo>
                  <a:pt x="0" y="347"/>
                </a:lnTo>
                <a:cubicBezTo>
                  <a:pt x="0" y="156"/>
                  <a:pt x="138" y="2"/>
                  <a:pt x="310" y="2"/>
                </a:cubicBezTo>
                <a:lnTo>
                  <a:pt x="1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82D1C04-8049-42BC-9E4B-1DEA86F0282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404000" y="2628000"/>
            <a:ext cx="2134800" cy="9216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algn="ctr">
              <a:buNone/>
              <a:defRPr sz="5400">
                <a:solidFill>
                  <a:schemeClr val="tx1">
                    <a:alpha val="80000"/>
                  </a:schemeClr>
                </a:solidFill>
              </a:defRPr>
            </a:lvl1pPr>
          </a:lstStyle>
          <a:p xmlns:a="http://schemas.openxmlformats.org/drawingml/2006/main">
            <a:r>
              <a:t>标题</a:t>
            </a: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E1AB992-54B6-4CF0-AFFD-285B023FF4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93024A9-B28F-4D7B-8A81-DF06E4609D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3248F80-EA06-45D8-BF23-CE2B505014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EF1B575-90AD-47BC-BEFA-FCFB531D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09085" y="4247515"/>
            <a:ext cx="144145" cy="360680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D0354B3-B581-40A0-9E4B-0E0B8511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330065" y="4247515"/>
            <a:ext cx="139065" cy="360680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64D72A6-B4F8-4954-9F31-74EF576A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92555" y="2370455"/>
            <a:ext cx="144145" cy="360680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CEB4244-E8D1-4E09-B642-638F61C1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6655" y="2370455"/>
            <a:ext cx="139065" cy="360680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0A4F7BEB-4901-4FF0-9481-C544EC86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0" y="1924050"/>
            <a:ext cx="4290514" cy="1822450"/>
          </a:xfrm>
          <a:custGeom xmlns:a="http://schemas.openxmlformats.org/drawingml/2006/main">
            <a:gdLst>
              <a:gd name="connsiteX0" fmla="*/ 336550 w 4290514"/>
              <a:gd name="connsiteY0" fmla="*/ 1822450 h 1822450"/>
              <a:gd name="connsiteX1" fmla="*/ 635 w 4290514"/>
              <a:gd name="connsiteY1" fmla="*/ 1486535 h 1822450"/>
              <a:gd name="connsiteX2" fmla="*/ 0 w 4290514"/>
              <a:gd name="connsiteY2" fmla="*/ 0 h 1822450"/>
              <a:gd name="connsiteX3" fmla="*/ 4290514 w 4290514"/>
              <a:gd name="connsiteY3" fmla="*/ 619124 h 1822450"/>
              <a:gd name="connsiteX4" fmla="*/ 4290514 w 4290514"/>
              <a:gd name="connsiteY4" fmla="*/ 1819576 h 1822450"/>
              <a:gd name="connsiteX0-1" fmla="*/ 4290514 w 4381954"/>
              <a:gd name="connsiteY0-2" fmla="*/ 619124 h 1822450"/>
              <a:gd name="connsiteX1-3" fmla="*/ 4290514 w 4381954"/>
              <a:gd name="connsiteY1-4" fmla="*/ 1819576 h 1822450"/>
              <a:gd name="connsiteX2-5" fmla="*/ 336550 w 4381954"/>
              <a:gd name="connsiteY2-6" fmla="*/ 1822450 h 1822450"/>
              <a:gd name="connsiteX3-7" fmla="*/ 635 w 4381954"/>
              <a:gd name="connsiteY3-8" fmla="*/ 1486535 h 1822450"/>
              <a:gd name="connsiteX4-9" fmla="*/ 0 w 4381954"/>
              <a:gd name="connsiteY4-10" fmla="*/ 0 h 1822450"/>
              <a:gd name="connsiteX5" fmla="*/ 4381954 w 4381954"/>
              <a:gd name="connsiteY5" fmla="*/ 710564 h 1822450"/>
              <a:gd name="connsiteX0-11" fmla="*/ 4290514 w 4290514"/>
              <a:gd name="connsiteY0-12" fmla="*/ 619124 h 1822450"/>
              <a:gd name="connsiteX1-13" fmla="*/ 4290514 w 4290514"/>
              <a:gd name="connsiteY1-14" fmla="*/ 1819576 h 1822450"/>
              <a:gd name="connsiteX2-15" fmla="*/ 336550 w 4290514"/>
              <a:gd name="connsiteY2-16" fmla="*/ 1822450 h 1822450"/>
              <a:gd name="connsiteX3-17" fmla="*/ 635 w 4290514"/>
              <a:gd name="connsiteY3-18" fmla="*/ 1486535 h 1822450"/>
              <a:gd name="connsiteX4-19" fmla="*/ 0 w 4290514"/>
              <a:gd name="connsiteY4-20" fmla="*/ 0 h 1822450"/>
              <a:gd name="connsiteX0-21" fmla="*/ 4290514 w 4290514"/>
              <a:gd name="connsiteY0-22" fmla="*/ 1819576 h 1822450"/>
              <a:gd name="connsiteX1-23" fmla="*/ 336550 w 4290514"/>
              <a:gd name="connsiteY1-24" fmla="*/ 1822450 h 1822450"/>
              <a:gd name="connsiteX2-25" fmla="*/ 635 w 4290514"/>
              <a:gd name="connsiteY2-26" fmla="*/ 1486535 h 1822450"/>
              <a:gd name="connsiteX3-27" fmla="*/ 0 w 4290514"/>
              <a:gd name="connsiteY3-28" fmla="*/ 0 h 1822450"/>
            </a:gdLst>
            <a:rect l="l" t="t" r="r" b="b"/>
            <a:pathLst>
              <a:path w="4290514" h="1822450">
                <a:moveTo>
                  <a:pt x="4290514" y="1819576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CE3EC42C-044C-4A3E-83BB-E3364E48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676" y="3125470"/>
            <a:ext cx="10855325" cy="1822450"/>
          </a:xfrm>
          <a:custGeom xmlns:a="http://schemas.openxmlformats.org/drawingml/2006/main">
            <a:gdLst>
              <a:gd name="connsiteX0" fmla="*/ 0 w 10855325"/>
              <a:gd name="connsiteY0" fmla="*/ 0 h 1822450"/>
              <a:gd name="connsiteX1" fmla="*/ 10855325 w 10855325"/>
              <a:gd name="connsiteY1" fmla="*/ 1566432 h 1822450"/>
              <a:gd name="connsiteX2" fmla="*/ 10855325 w 10855325"/>
              <a:gd name="connsiteY2" fmla="*/ 1814805 h 1822450"/>
              <a:gd name="connsiteX3" fmla="*/ 336550 w 10855325"/>
              <a:gd name="connsiteY3" fmla="*/ 1822450 h 1822450"/>
              <a:gd name="connsiteX4" fmla="*/ 635 w 10855325"/>
              <a:gd name="connsiteY4" fmla="*/ 1486535 h 1822450"/>
              <a:gd name="connsiteX0-1" fmla="*/ 10855325 w 10946765"/>
              <a:gd name="connsiteY0-2" fmla="*/ 1566432 h 1822450"/>
              <a:gd name="connsiteX1-3" fmla="*/ 10855325 w 10946765"/>
              <a:gd name="connsiteY1-4" fmla="*/ 1814805 h 1822450"/>
              <a:gd name="connsiteX2-5" fmla="*/ 336550 w 10946765"/>
              <a:gd name="connsiteY2-6" fmla="*/ 1822450 h 1822450"/>
              <a:gd name="connsiteX3-7" fmla="*/ 635 w 10946765"/>
              <a:gd name="connsiteY3-8" fmla="*/ 1486535 h 1822450"/>
              <a:gd name="connsiteX4-9" fmla="*/ 0 w 10946765"/>
              <a:gd name="connsiteY4-10" fmla="*/ 0 h 1822450"/>
              <a:gd name="connsiteX5" fmla="*/ 10946765 w 10946765"/>
              <a:gd name="connsiteY5" fmla="*/ 1657872 h 1822450"/>
              <a:gd name="connsiteX0-11" fmla="*/ 10855325 w 10855325"/>
              <a:gd name="connsiteY0-12" fmla="*/ 1566432 h 1822450"/>
              <a:gd name="connsiteX1-13" fmla="*/ 10855325 w 10855325"/>
              <a:gd name="connsiteY1-14" fmla="*/ 1814805 h 1822450"/>
              <a:gd name="connsiteX2-15" fmla="*/ 336550 w 10855325"/>
              <a:gd name="connsiteY2-16" fmla="*/ 1822450 h 1822450"/>
              <a:gd name="connsiteX3-17" fmla="*/ 635 w 10855325"/>
              <a:gd name="connsiteY3-18" fmla="*/ 1486535 h 1822450"/>
              <a:gd name="connsiteX4-19" fmla="*/ 0 w 10855325"/>
              <a:gd name="connsiteY4-20" fmla="*/ 0 h 1822450"/>
              <a:gd name="connsiteX0-21" fmla="*/ 10855325 w 10855325"/>
              <a:gd name="connsiteY0-22" fmla="*/ 1814805 h 1822450"/>
              <a:gd name="connsiteX1-23" fmla="*/ 336550 w 10855325"/>
              <a:gd name="connsiteY1-24" fmla="*/ 1822450 h 1822450"/>
              <a:gd name="connsiteX2-25" fmla="*/ 635 w 10855325"/>
              <a:gd name="connsiteY2-26" fmla="*/ 1486535 h 1822450"/>
              <a:gd name="connsiteX3-27" fmla="*/ 0 w 10855325"/>
              <a:gd name="connsiteY3-28" fmla="*/ 0 h 1822450"/>
            </a:gdLst>
            <a:rect l="l" t="t" r="r" b="b"/>
            <a:pathLst>
              <a:path w="10855325" h="1822450">
                <a:moveTo>
                  <a:pt x="10855325" y="1814805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C30809-1CA9-4217-94E6-16235FF0B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6000" y="2412000"/>
            <a:ext cx="6004800" cy="1936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algn="l">
              <a:buNone/>
              <a:defRPr sz="5400">
                <a:solidFill>
                  <a:schemeClr val="tx1">
                    <a:alpha val="85000"/>
                  </a:schemeClr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3D0CB368-5399-462F-AC40-90446D096D0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278000" y="2340000"/>
            <a:ext cx="3060000" cy="2361600"/>
          </a:xfrm>
        </p:spPr>
        <p:txBody>
          <a:bodyPr xmlns:a="http://schemas.openxmlformats.org/drawingml/2006/main" wrap="none" bIns="252000" anchor="ctr">
            <a:normAutofit/>
          </a:bodyPr>
          <a:lstStyle xmlns:a="http://schemas.openxmlformats.org/drawingml/2006/main">
            <a:lvl1pPr marL="0" indent="0" algn="ctr">
              <a:buNone/>
              <a:defRPr sz="10000" b="1">
                <a:solidFill>
                  <a:schemeClr val="tx1">
                    <a:alpha val="7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lvl="0">
              <a:buNone/>
            </a:pPr>
            <a:r>
              <a:t>编号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AB7880-62F9-4065-961E-C1789A743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C6C1E3F-3AE7-4C22-8150-F14F949071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74FF8B0-9614-4DE4-954B-C56D4B5BE5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5A9B907-B6DC-4D8C-A83E-F00EA2CB23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4E9DA83-8961-4CC2-B25A-268C8218A8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473FB0D-AC60-40C8-87AC-E68C45AB01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566537E-6B44-4D4D-9B59-7F20CF29F695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1B583C9-5112-476C-8B92-F0D6A62D7D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52E0CBF-6909-40B8-968F-355AE413243F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EE5EBA9-89DF-4F75-BEEC-D9EB6F578A8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24F0F9B-C3B9-4431-B4DD-2D29E9B5B0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6CEF5DA-158A-41BD-BF53-B2C991EF5B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D7716B4-22E7-4DAF-85D4-8EDBC0A7B7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F5790378-8E89-486B-8404-D236394BDB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CEFF07F-400B-48EB-AF69-10211F2170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22E7F6D-F76A-4D5B-9F7C-F2F321416D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4D0FA5E-F80B-447B-9CE6-3C3244E94D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99F39F5-396A-4C09-8D65-5D4F5C0D3F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708E583-2FCD-432E-B313-6992C59627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9F5F66E-369E-48D1-BA91-E5821B5A85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E4FE74D-991B-4A69-8C08-6B3B2356EC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C562B040-B7E3-46C6-B26D-1372FF5F5F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E3F7F54-43AD-4EAB-A99F-F064AD05A9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0F6C65B-7DB9-47BB-81CE-A75ED17111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DAB2F79-09B1-40AF-A0EB-EC45EEAE2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D84B3E1-7DEC-4106-9098-CBF2AE61A4ED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A20F20B-53AA-4C5D-9A53-71EE353AB1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E3FE794-00D7-44DC-882E-C763DE1D69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C909B3-10F4-45D8-BB53-9BBAF25DB5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D797EBA0-D494-46E9-8ADE-EA82CADB3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5A836A0B-15B5-4EBD-8CAA-E39309AE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87400"/>
            <a:ext cx="11095355" cy="3505200"/>
          </a:xfrm>
          <a:custGeom xmlns:a="http://schemas.openxmlformats.org/drawingml/2006/main"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38245973-0A57-47E5-91A5-ADA87D8E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96646" y="2565400"/>
            <a:ext cx="11095355" cy="3505200"/>
          </a:xfrm>
          <a:custGeom xmlns:a="http://schemas.openxmlformats.org/drawingml/2006/main"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C9BACD0-878F-4E44-9E59-B919096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725150" y="487172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780CA925-1A54-4012-9351-42D20A05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178540" y="487172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97D77CCF-B7D2-407F-A468-B51576E4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0305" y="139954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33C49FB-29C4-4453-A9F3-96C7DC4B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6440" y="139954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3A44E35-6BC3-4277-AF6D-AC0721D0D2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1C90523-1285-465E-9DC2-BAF665993F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3C3091-0C97-45D6-B9DA-1BED7CFD92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A0E1467-B630-45D1-8140-CF52AB36879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298065" y="2835910"/>
            <a:ext cx="7595870" cy="1540510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单击编辑母版标题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DFB6372-F4B5-498C-A9DE-9D14685026C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707200" y="2026800"/>
            <a:ext cx="6775200" cy="460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1">
                <a:latin typeface="+mj-ea"/>
                <a:ea typeface="+mj-ea"/>
                <a:cs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048B0F46-F7F7-41F2-A965-A43A09322E1A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56000" y="4618800"/>
            <a:ext cx="288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1"/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1bb61bb7cf4160" /><Relationship Type="http://schemas.openxmlformats.org/officeDocument/2006/relationships/slideLayout" Target="/ppt/slideLayouts/slideLayout1.xml" Id="Rc66afd277327400b" /><Relationship Type="http://schemas.openxmlformats.org/officeDocument/2006/relationships/slideLayout" Target="/ppt/slideLayouts/slideLayout2.xml" Id="R02b57bfc579f4843" /><Relationship Type="http://schemas.openxmlformats.org/officeDocument/2006/relationships/slideLayout" Target="/ppt/slideLayouts/slideLayout3.xml" Id="Rb4ac099f94a14b8c" /><Relationship Type="http://schemas.openxmlformats.org/officeDocument/2006/relationships/slideLayout" Target="/ppt/slideLayouts/slideLayout4.xml" Id="R80a4ea1d081d4ad0" /><Relationship Type="http://schemas.openxmlformats.org/officeDocument/2006/relationships/slideLayout" Target="/ppt/slideLayouts/slideLayout5.xml" Id="R638db0f706b64799" /><Relationship Type="http://schemas.openxmlformats.org/officeDocument/2006/relationships/slideLayout" Target="/ppt/slideLayouts/slideLayout6.xml" Id="R43651898dc7d4352" /><Relationship Type="http://schemas.openxmlformats.org/officeDocument/2006/relationships/slideLayout" Target="/ppt/slideLayouts/slideLayout7.xml" Id="Rb3a9aa07b2ec480c" /><Relationship Type="http://schemas.openxmlformats.org/officeDocument/2006/relationships/slideLayout" Target="/ppt/slideLayouts/slideLayout8.xml" Id="R2054633243f04ef6" /><Relationship Type="http://schemas.openxmlformats.org/officeDocument/2006/relationships/slideLayout" Target="/ppt/slideLayouts/slideLayout9.xml" Id="R06b7f57b56f74d1d" /><Relationship Type="http://schemas.openxmlformats.org/officeDocument/2006/relationships/slideLayout" Target="/ppt/slideLayouts/slideLayout10.xml" Id="R3cef0ee0b28f4db3" /><Relationship Type="http://schemas.openxmlformats.org/officeDocument/2006/relationships/slideLayout" Target="/ppt/slideLayouts/slideLayout11.xml" Id="R64ed14efa377461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a8b50d2b3384de2" /><Relationship Type="http://schemas.openxmlformats.org/officeDocument/2006/relationships/slideLayout" Target="/ppt/slideLayouts/slideLayout12.xml" Id="R91e332d0ee964433" /><Relationship Type="http://schemas.openxmlformats.org/officeDocument/2006/relationships/slideLayout" Target="/ppt/slideLayouts/slideLayout13.xml" Id="Rb3bcfde2fc9943fe" /><Relationship Type="http://schemas.openxmlformats.org/officeDocument/2006/relationships/slideLayout" Target="/ppt/slideLayouts/slideLayout14.xml" Id="R934d020aaee147c6" /><Relationship Type="http://schemas.openxmlformats.org/officeDocument/2006/relationships/slideLayout" Target="/ppt/slideLayouts/slideLayout15.xml" Id="R32d1b32975234910" /><Relationship Type="http://schemas.openxmlformats.org/officeDocument/2006/relationships/slideLayout" Target="/ppt/slideLayouts/slideLayout16.xml" Id="R719e1ef68fcd4b16" /><Relationship Type="http://schemas.openxmlformats.org/officeDocument/2006/relationships/slideLayout" Target="/ppt/slideLayouts/slideLayout17.xml" Id="R4eaaf554ddd74c91" /><Relationship Type="http://schemas.openxmlformats.org/officeDocument/2006/relationships/slideLayout" Target="/ppt/slideLayouts/slideLayout18.xml" Id="Rbf461938dc8b4b11" /><Relationship Type="http://schemas.openxmlformats.org/officeDocument/2006/relationships/slideLayout" Target="/ppt/slideLayouts/slideLayout19.xml" Id="R84a82704cb2c4161" /><Relationship Type="http://schemas.openxmlformats.org/officeDocument/2006/relationships/slideLayout" Target="/ppt/slideLayouts/slideLayout20.xml" Id="R48ebc832d245427f" /><Relationship Type="http://schemas.openxmlformats.org/officeDocument/2006/relationships/slideLayout" Target="/ppt/slideLayouts/slideLayout21.xml" Id="Rb789dcc850074e37" /><Relationship Type="http://schemas.openxmlformats.org/officeDocument/2006/relationships/slideLayout" Target="/ppt/slideLayouts/slideLayout22.xml" Id="Ra717ac5c6e3a4f5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FA5966F-AB7A-47F0-85D5-5A3A3B5AD3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586761A-D0BF-461D-A33F-1A4F10845F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CCF9D92-CAAC-464C-B41F-822A2E79AF1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9ACA8A1-5A96-49A9-9F10-F5BF5B2FFC3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A3D087-EA85-427D-9153-444BD2EC496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6afd277327400b"/>
    <p:sldLayoutId xmlns:r="http://schemas.openxmlformats.org/officeDocument/2006/relationships" id="2147483650" r:id="R02b57bfc579f4843"/>
    <p:sldLayoutId xmlns:r="http://schemas.openxmlformats.org/officeDocument/2006/relationships" id="2147483651" r:id="Rb4ac099f94a14b8c"/>
    <p:sldLayoutId xmlns:r="http://schemas.openxmlformats.org/officeDocument/2006/relationships" id="2147483652" r:id="R80a4ea1d081d4ad0"/>
    <p:sldLayoutId xmlns:r="http://schemas.openxmlformats.org/officeDocument/2006/relationships" id="2147483653" r:id="R638db0f706b64799"/>
    <p:sldLayoutId xmlns:r="http://schemas.openxmlformats.org/officeDocument/2006/relationships" id="2147483654" r:id="R43651898dc7d4352"/>
    <p:sldLayoutId xmlns:r="http://schemas.openxmlformats.org/officeDocument/2006/relationships" id="2147483655" r:id="Rb3a9aa07b2ec480c"/>
    <p:sldLayoutId xmlns:r="http://schemas.openxmlformats.org/officeDocument/2006/relationships" id="2147483656" r:id="R2054633243f04ef6"/>
    <p:sldLayoutId xmlns:r="http://schemas.openxmlformats.org/officeDocument/2006/relationships" id="2147483657" r:id="R06b7f57b56f74d1d"/>
    <p:sldLayoutId xmlns:r="http://schemas.openxmlformats.org/officeDocument/2006/relationships" id="2147483658" r:id="R3cef0ee0b28f4db3"/>
    <p:sldLayoutId xmlns:r="http://schemas.openxmlformats.org/officeDocument/2006/relationships" id="2147483659" r:id="R64ed14efa377461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9347B4B-6846-48EE-844B-1481367DD7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DA11725-BD76-442B-93AC-FF3A5A9ACC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B6E5EA7-BA34-4B30-9FB8-F2AC631A9BE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5277DBB-F2BD-4DDD-89D9-EEED95B9261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5E138D-C0B2-43D0-8FFE-586685BABBD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6712909-5472-42AF-845B-B62D50BE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631170" y="498475"/>
            <a:ext cx="151765" cy="38036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15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82FBED4-E299-484E-9F06-6EF8B88D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864215" y="498475"/>
            <a:ext cx="147320" cy="38036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15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703A4BAC-4FE1-4646-936F-2698EDDC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70490" y="134620"/>
            <a:ext cx="1921510" cy="742950"/>
          </a:xfrm>
          <a:custGeom xmlns:a="http://schemas.openxmlformats.org/drawingml/2006/main">
            <a:gdLst>
              <a:gd name="connsiteX0" fmla="*/ 1784350 w 1921510"/>
              <a:gd name="connsiteY0" fmla="*/ 0 h 742950"/>
              <a:gd name="connsiteX1" fmla="*/ 0 w 1921510"/>
              <a:gd name="connsiteY1" fmla="*/ 3191 h 742950"/>
              <a:gd name="connsiteX2" fmla="*/ 0 w 1921510"/>
              <a:gd name="connsiteY2" fmla="*/ 626041 h 742950"/>
              <a:gd name="connsiteX3" fmla="*/ 1918970 w 1921510"/>
              <a:gd name="connsiteY3" fmla="*/ 742950 h 742950"/>
              <a:gd name="connsiteX4" fmla="*/ 1921510 w 1921510"/>
              <a:gd name="connsiteY4" fmla="*/ 137160 h 742950"/>
              <a:gd name="connsiteX5" fmla="*/ 1784350 w 1921510"/>
              <a:gd name="connsiteY5" fmla="*/ 0 h 742950"/>
              <a:gd name="connsiteX0-1" fmla="*/ 0 w 1921510"/>
              <a:gd name="connsiteY0-2" fmla="*/ 626041 h 742950"/>
              <a:gd name="connsiteX1-3" fmla="*/ 1918970 w 1921510"/>
              <a:gd name="connsiteY1-4" fmla="*/ 742950 h 742950"/>
              <a:gd name="connsiteX2-5" fmla="*/ 1921510 w 1921510"/>
              <a:gd name="connsiteY2-6" fmla="*/ 137160 h 742950"/>
              <a:gd name="connsiteX3-7" fmla="*/ 1784350 w 1921510"/>
              <a:gd name="connsiteY3-8" fmla="*/ 0 h 742950"/>
              <a:gd name="connsiteX4-9" fmla="*/ 0 w 1921510"/>
              <a:gd name="connsiteY4-10" fmla="*/ 3191 h 742950"/>
              <a:gd name="connsiteX5-11" fmla="*/ 91440 w 1921510"/>
              <a:gd name="connsiteY5-12" fmla="*/ 717481 h 742950"/>
              <a:gd name="connsiteX0-13" fmla="*/ 0 w 1921510"/>
              <a:gd name="connsiteY0-14" fmla="*/ 626041 h 742950"/>
              <a:gd name="connsiteX1-15" fmla="*/ 1918970 w 1921510"/>
              <a:gd name="connsiteY1-16" fmla="*/ 742950 h 742950"/>
              <a:gd name="connsiteX2-17" fmla="*/ 1921510 w 1921510"/>
              <a:gd name="connsiteY2-18" fmla="*/ 137160 h 742950"/>
              <a:gd name="connsiteX3-19" fmla="*/ 1784350 w 1921510"/>
              <a:gd name="connsiteY3-20" fmla="*/ 0 h 742950"/>
              <a:gd name="connsiteX4-21" fmla="*/ 0 w 1921510"/>
              <a:gd name="connsiteY4-22" fmla="*/ 3191 h 742950"/>
              <a:gd name="connsiteX0-23" fmla="*/ 1918970 w 1921510"/>
              <a:gd name="connsiteY0-24" fmla="*/ 742950 h 742950"/>
              <a:gd name="connsiteX1-25" fmla="*/ 1921510 w 1921510"/>
              <a:gd name="connsiteY1-26" fmla="*/ 137160 h 742950"/>
              <a:gd name="connsiteX2-27" fmla="*/ 1784350 w 1921510"/>
              <a:gd name="connsiteY2-28" fmla="*/ 0 h 742950"/>
              <a:gd name="connsiteX3-29" fmla="*/ 0 w 1921510"/>
              <a:gd name="connsiteY3-30" fmla="*/ 3191 h 742950"/>
            </a:gdLst>
            <a:rect l="l" t="t" r="r" b="b"/>
            <a:pathLst>
              <a:path w="1921510" h="742950">
                <a:moveTo>
                  <a:pt x="1918970" y="742950"/>
                </a:moveTo>
                <a:cubicBezTo>
                  <a:pt x="1919817" y="541020"/>
                  <a:pt x="1920663" y="339090"/>
                  <a:pt x="1921510" y="137160"/>
                </a:cubicBezTo>
                <a:cubicBezTo>
                  <a:pt x="1921510" y="61595"/>
                  <a:pt x="1859915" y="0"/>
                  <a:pt x="1784350" y="0"/>
                </a:cubicBezTo>
                <a:lnTo>
                  <a:pt x="0" y="31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2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任意多边形 5">
            <a:extLst xmlns:a="http://schemas.openxmlformats.org/drawingml/2006/main">
              <a:ext uri="{FF2B5EF4-FFF2-40B4-BE49-F238E27FC236}">
                <a16:creationId xmlns:a16="http://schemas.microsoft.com/office/drawing/2014/main" id="{2E541A88-2BB5-4DE2-A0AA-F4E7A08E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4400" y="449580"/>
            <a:ext cx="10406380" cy="749935"/>
          </a:xfrm>
          <a:custGeom xmlns:a="http://schemas.openxmlformats.org/drawingml/2006/main">
            <a:gdLst>
              <a:gd name="connsiteX0" fmla="*/ 0 w 16388"/>
              <a:gd name="connsiteY0" fmla="*/ 5 h 1181"/>
              <a:gd name="connsiteX1" fmla="*/ 16168 w 16388"/>
              <a:gd name="connsiteY1" fmla="*/ 0 h 1181"/>
              <a:gd name="connsiteX2" fmla="*/ 16384 w 16388"/>
              <a:gd name="connsiteY2" fmla="*/ 216 h 1181"/>
              <a:gd name="connsiteX3" fmla="*/ 16388 w 16388"/>
              <a:gd name="connsiteY3" fmla="*/ 1181 h 1181"/>
            </a:gdLst>
            <a:rect l="l" t="t" r="r" b="b"/>
            <a:pathLst>
              <a:path w="16388" h="1181">
                <a:moveTo>
                  <a:pt x="0" y="5"/>
                </a:moveTo>
                <a:lnTo>
                  <a:pt x="16168" y="0"/>
                </a:lnTo>
                <a:cubicBezTo>
                  <a:pt x="16287" y="0"/>
                  <a:pt x="16384" y="97"/>
                  <a:pt x="16384" y="216"/>
                </a:cubicBezTo>
                <a:lnTo>
                  <a:pt x="16388" y="118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2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0629D8B4-B473-432D-A7B8-C1C7733D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1e332d0ee964433"/>
    <p:sldLayoutId xmlns:r="http://schemas.openxmlformats.org/officeDocument/2006/relationships" id="2147483662" r:id="Rb3bcfde2fc9943fe"/>
    <p:sldLayoutId xmlns:r="http://schemas.openxmlformats.org/officeDocument/2006/relationships" id="2147483663" r:id="R934d020aaee147c6"/>
    <p:sldLayoutId xmlns:r="http://schemas.openxmlformats.org/officeDocument/2006/relationships" id="2147483664" r:id="R32d1b32975234910"/>
    <p:sldLayoutId xmlns:r="http://schemas.openxmlformats.org/officeDocument/2006/relationships" id="2147483665" r:id="R719e1ef68fcd4b16"/>
    <p:sldLayoutId xmlns:r="http://schemas.openxmlformats.org/officeDocument/2006/relationships" id="2147483666" r:id="R4eaaf554ddd74c91"/>
    <p:sldLayoutId xmlns:r="http://schemas.openxmlformats.org/officeDocument/2006/relationships" id="2147483667" r:id="Rbf461938dc8b4b11"/>
    <p:sldLayoutId xmlns:r="http://schemas.openxmlformats.org/officeDocument/2006/relationships" id="2147483668" r:id="R84a82704cb2c4161"/>
    <p:sldLayoutId xmlns:r="http://schemas.openxmlformats.org/officeDocument/2006/relationships" id="2147483669" r:id="R48ebc832d245427f"/>
    <p:sldLayoutId xmlns:r="http://schemas.openxmlformats.org/officeDocument/2006/relationships" id="2147483670" r:id="Rb789dcc850074e37"/>
    <p:sldLayoutId xmlns:r="http://schemas.openxmlformats.org/officeDocument/2006/relationships" id="2147483671" r:id="Ra717ac5c6e3a4f5d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简约风线框职场办公">
  <a:themeElements>
    <a:clrScheme name="简约线条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768CA4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简约线条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2e3da89d40f4cec" /><Relationship Type="http://schemas.openxmlformats.org/officeDocument/2006/relationships/notesSlide" Target="/ppt/notesSlides/notesSlide1.xml" Id="R2b2922dc4d7843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2d63340eef34e4b" /><Relationship Type="http://schemas.openxmlformats.org/officeDocument/2006/relationships/notesSlide" Target="/ppt/notesSlides/notesSlide2.xml" Id="Rdc01d5e7ad1d43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7868999afb44052" /><Relationship Type="http://schemas.openxmlformats.org/officeDocument/2006/relationships/notesSlide" Target="/ppt/notesSlides/notesSlide3.xml" Id="Rde113e4d4d1545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9a5459b41b34b26" /><Relationship Type="http://schemas.openxmlformats.org/officeDocument/2006/relationships/notesSlide" Target="/ppt/notesSlides/notesSlide4.xml" Id="R8984e399641b43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8fd0a1a842a4ecf" /><Relationship Type="http://schemas.openxmlformats.org/officeDocument/2006/relationships/notesSlide" Target="/ppt/notesSlides/notesSlide5.xml" Id="R40fb730ee07146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d39e855863947f7" /><Relationship Type="http://schemas.openxmlformats.org/officeDocument/2006/relationships/notesSlide" Target="/ppt/notesSlides/notesSlide6.xml" Id="Rce7b245e723245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e2e234397294242" /><Relationship Type="http://schemas.openxmlformats.org/officeDocument/2006/relationships/notesSlide" Target="/ppt/notesSlides/notesSlide7.xml" Id="R1b355872f57c41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37edb5f354e4eba" /><Relationship Type="http://schemas.openxmlformats.org/officeDocument/2006/relationships/notesSlide" Target="/ppt/notesSlides/notesSlide8.xml" Id="R091b7cee83994c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6f29ffe8511440a" /><Relationship Type="http://schemas.openxmlformats.org/officeDocument/2006/relationships/notesSlide" Target="/ppt/notesSlides/notesSlide9.xml" Id="R6ac80eedd0824f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c4e3a6535e74186" /><Relationship Type="http://schemas.openxmlformats.org/officeDocument/2006/relationships/notesSlide" Target="/ppt/notesSlides/notesSlide10.xml" Id="R09bd83864d4044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8e09c0cb51c43b0" /><Relationship Type="http://schemas.openxmlformats.org/officeDocument/2006/relationships/notesSlide" Target="/ppt/notesSlides/notesSlide11.xml" Id="Rf1176d7cd1d248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2e9a90b27fe4805" /><Relationship Type="http://schemas.openxmlformats.org/officeDocument/2006/relationships/notesSlide" Target="/ppt/notesSlides/notesSlide12.xml" Id="R5b593399fef04f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365cf57106c455e" /><Relationship Type="http://schemas.openxmlformats.org/officeDocument/2006/relationships/notesSlide" Target="/ppt/notesSlides/notesSlide13.xml" Id="R3cc4d8e777204c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1f6e682e8d948d9" /><Relationship Type="http://schemas.openxmlformats.org/officeDocument/2006/relationships/notesSlide" Target="/ppt/notesSlides/notesSlide14.xml" Id="R198f018bbf0949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6109d6ff5e5456b" /><Relationship Type="http://schemas.openxmlformats.org/officeDocument/2006/relationships/notesSlide" Target="/ppt/notesSlides/notesSlide15.xml" Id="R9563e152ce6845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4e9c3d42947a4175" /><Relationship Type="http://schemas.openxmlformats.org/officeDocument/2006/relationships/chart" Target="/ppt/slides/charts/chart1.xml" Id="Rf73195a2488545ca" /><Relationship Type="http://schemas.openxmlformats.org/officeDocument/2006/relationships/notesSlide" Target="/ppt/notesSlides/notesSlide16.xml" Id="R3006e8ed3f1140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841c79acc864ad6" /><Relationship Type="http://schemas.openxmlformats.org/officeDocument/2006/relationships/chart" Target="/ppt/slides/charts/chart2.xml" Id="R5db4e604e7894ec1" /><Relationship Type="http://schemas.openxmlformats.org/officeDocument/2006/relationships/notesSlide" Target="/ppt/notesSlides/notesSlide17.xml" Id="R588f8fcb2e7549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6aef86dd4284bae" /><Relationship Type="http://schemas.openxmlformats.org/officeDocument/2006/relationships/chart" Target="/ppt/slides/charts/chart3.xml" Id="Rda7c9ff858094876" /><Relationship Type="http://schemas.openxmlformats.org/officeDocument/2006/relationships/notesSlide" Target="/ppt/notesSlides/notesSlide18.xml" Id="Rb78c4a1885394f8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120fe433a374c50" /><Relationship Type="http://schemas.openxmlformats.org/officeDocument/2006/relationships/chart" Target="/ppt/slides/charts/chart4.xml" Id="Rd59917f4365c4449" /><Relationship Type="http://schemas.openxmlformats.org/officeDocument/2006/relationships/notesSlide" Target="/ppt/notesSlides/notesSlide19.xml" Id="Ra5c9dfcd45cb4e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2e3d1d4ce07463e" /><Relationship Type="http://schemas.openxmlformats.org/officeDocument/2006/relationships/notesSlide" Target="/ppt/notesSlides/notesSlide20.xml" Id="R8af416d7b96641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1d7c7a5e0dc409f" /><Relationship Type="http://schemas.openxmlformats.org/officeDocument/2006/relationships/notesSlide" Target="/ppt/notesSlides/notesSlide21.xml" Id="R1eeb0144b26149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db25fb6e12642b9" /><Relationship Type="http://schemas.openxmlformats.org/officeDocument/2006/relationships/notesSlide" Target="/ppt/notesSlides/notesSlide22.xml" Id="Rfb282895752948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82e0ebf802441b9" /><Relationship Type="http://schemas.openxmlformats.org/officeDocument/2006/relationships/notesSlide" Target="/ppt/notesSlides/notesSlide23.xml" Id="R7354a6ea6bb842e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da8c12c214744cd" /><Relationship Type="http://schemas.openxmlformats.org/officeDocument/2006/relationships/notesSlide" Target="/ppt/notesSlides/notesSlide24.xml" Id="R0c934c3c7bf6420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49cf9bad8aa40a2" /><Relationship Type="http://schemas.openxmlformats.org/officeDocument/2006/relationships/notesSlide" Target="/ppt/notesSlides/notesSlide25.xml" Id="R4441dbf2e57b418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07d5d0e80144a1d" /><Relationship Type="http://schemas.openxmlformats.org/officeDocument/2006/relationships/notesSlide" Target="/ppt/notesSlides/notesSlide26.xml" Id="R86273b2801db473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0bec81041c94a77" /><Relationship Type="http://schemas.openxmlformats.org/officeDocument/2006/relationships/notesSlide" Target="/ppt/notesSlides/notesSlide27.xml" Id="R96e2c2274336443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b8578128809a413d" /><Relationship Type="http://schemas.openxmlformats.org/officeDocument/2006/relationships/notesSlide" Target="/ppt/notesSlides/notesSlide28.xml" Id="R73abe25d3dd6468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66e0af1920141ca" /><Relationship Type="http://schemas.openxmlformats.org/officeDocument/2006/relationships/notesSlide" Target="/ppt/notesSlides/notesSlide29.xml" Id="Rdf02ea2c1c194ae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dd76046ea884ec4" /><Relationship Type="http://schemas.openxmlformats.org/officeDocument/2006/relationships/notesSlide" Target="/ppt/notesSlides/notesSlide30.xml" Id="R1341e26a64514db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c554ae965d8423c" /><Relationship Type="http://schemas.openxmlformats.org/officeDocument/2006/relationships/notesSlide" Target="/ppt/notesSlides/notesSlide31.xml" Id="Recae65cf5437489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7de4f0261aa4a83" /><Relationship Type="http://schemas.openxmlformats.org/officeDocument/2006/relationships/notesSlide" Target="/ppt/notesSlides/notesSlide32.xml" Id="Ree182d1d2cdf4d3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dafb0da3ba44d35" /><Relationship Type="http://schemas.openxmlformats.org/officeDocument/2006/relationships/notesSlide" Target="/ppt/notesSlides/notesSlide33.xml" Id="R10d5295edb3a4e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4874C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8CACF"/>
              </a:solidFill>
              <a:ln xmlns:a="http://schemas.openxmlformats.org/drawingml/2006/main" w="0">
                <a:solidFill>
                  <a:srgbClr val="C8CACF"/>
                </a:solidFill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A8B5C7"/>
              </a:solidFill>
              <a:ln xmlns:a="http://schemas.openxmlformats.org/drawingml/2006/main" w="0">
                <a:solidFill>
                  <a:srgbClr val="A8B5C7"/>
                </a:solidFill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92A5BE"/>
              </a:solidFill>
              <a:ln xmlns:a="http://schemas.openxmlformats.org/drawingml/2006/main" w="0">
                <a:solidFill>
                  <a:srgbClr val="92A5BE"/>
                </a:solidFill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778EA8"/>
              </a:solidFill>
              <a:ln xmlns:a="http://schemas.openxmlformats.org/drawingml/2006/main" w="0">
                <a:solidFill>
                  <a:srgbClr val="778EA8"/>
                </a:solidFill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4874CB"/>
              </a:solidFill>
              <a:ln xmlns:a="http://schemas.openxmlformats.org/drawingml/2006/main" w="0">
                <a:solidFill>
                  <a:srgbClr val="4874CB"/>
                </a:solidFill>
              </a:ln>
            </c:spPr>
          </c:dPt>
          <c:cat>
            <c:strRef>
              <c:f>'Chart Data'!$A$2:$A$6</c:f>
              <c:strCache>
                <c:ptCount val="5"/>
                <c:pt idx="0">
                  <c:v>Random</c:v>
                </c:pt>
                <c:pt idx="1">
                  <c:v>RDS+</c:v>
                </c:pt>
                <c:pt idx="2">
                  <c:v>Influence</c:v>
                </c:pt>
                <c:pt idx="3">
                  <c:v>LESS</c:v>
                </c:pt>
                <c:pt idx="4">
                  <c:v>PCU-Select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32.29</c:v>
                </c:pt>
                <c:pt idx="1">
                  <c:v>34.44</c:v>
                </c:pt>
                <c:pt idx="2">
                  <c:v>34.68</c:v>
                </c:pt>
                <c:pt idx="3">
                  <c:v>35.14</c:v>
                </c:pt>
                <c:pt idx="4">
                  <c:v>35.18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373B4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4874CB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4874CB"/>
              </a:solidFill>
              <a:ln xmlns:a="http://schemas.openxmlformats.org/drawingml/2006/main" w="0">
                <a:solidFill>
                  <a:srgbClr val="4874CB"/>
                </a:solidFill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9198A5"/>
              </a:solidFill>
              <a:ln xmlns:a="http://schemas.openxmlformats.org/drawingml/2006/main" w="0">
                <a:solidFill>
                  <a:srgbClr val="9198A5"/>
                </a:solidFill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4874CB"/>
              </a:solidFill>
              <a:ln xmlns:a="http://schemas.openxmlformats.org/drawingml/2006/main" w="0">
                <a:solidFill>
                  <a:srgbClr val="4874CB"/>
                </a:solidFill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9198A5"/>
              </a:solidFill>
              <a:ln xmlns:a="http://schemas.openxmlformats.org/drawingml/2006/main" w="0">
                <a:solidFill>
                  <a:srgbClr val="9198A5"/>
                </a:solidFill>
              </a:ln>
            </c:spPr>
          </c:dPt>
          <c:cat>
            <c:strRef>
              <c:f>'Chart Data'!$A$2:$A$5</c:f>
              <c:strCache>
                <c:ptCount val="4"/>
                <c:pt idx="0">
                  <c:v>GSM8K</c:v>
                </c:pt>
                <c:pt idx="1">
                  <c:v>HumanEval</c:v>
                </c:pt>
                <c:pt idx="2">
                  <c:v>MMLU</c:v>
                </c:pt>
                <c:pt idx="3">
                  <c:v>TyDiQA</c:v>
                </c:pt>
              </c:strCache>
            </c:strRef>
          </c:cat>
          <c:val>
            <c:numRef>
              <c:f>'Chart Data'!$B$2:$B$5</c:f>
              <c:numCache>
                <c:formatCode>+0.00;-0.00;0.00</c:formatCode>
                <c:ptCount val="4"/>
                <c:pt idx="0">
                  <c:v>0.29</c:v>
                </c:pt>
                <c:pt idx="1">
                  <c:v>-0.04</c:v>
                </c:pt>
                <c:pt idx="2">
                  <c:v>0.67</c:v>
                </c:pt>
                <c:pt idx="3">
                  <c:v>-0.77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373B4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C"/>
              </a:solidFill>
            </a:ln>
          </c:spPr>
        </c:majorGridlines>
        <c:numFmt formatCode="+0.00;-0.00;0.00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4874C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198A5"/>
              </a:solidFill>
              <a:ln xmlns:a="http://schemas.openxmlformats.org/drawingml/2006/main" w="0">
                <a:solidFill>
                  <a:srgbClr val="9198A5"/>
                </a:solidFill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9198A5"/>
              </a:solidFill>
              <a:ln xmlns:a="http://schemas.openxmlformats.org/drawingml/2006/main" w="0">
                <a:solidFill>
                  <a:srgbClr val="9198A5"/>
                </a:solidFill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778EA8"/>
              </a:solidFill>
              <a:ln xmlns:a="http://schemas.openxmlformats.org/drawingml/2006/main" w="0">
                <a:solidFill>
                  <a:srgbClr val="778EA8"/>
                </a:solidFill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778EA8"/>
              </a:solidFill>
              <a:ln xmlns:a="http://schemas.openxmlformats.org/drawingml/2006/main" w="0">
                <a:solidFill>
                  <a:srgbClr val="778EA8"/>
                </a:solidFill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778EA8"/>
              </a:solidFill>
              <a:ln xmlns:a="http://schemas.openxmlformats.org/drawingml/2006/main" w="0">
                <a:solidFill>
                  <a:srgbClr val="778EA8"/>
                </a:solidFill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4874CB"/>
              </a:solidFill>
              <a:ln xmlns:a="http://schemas.openxmlformats.org/drawingml/2006/main" w="0">
                <a:solidFill>
                  <a:srgbClr val="4874CB"/>
                </a:solidFill>
              </a:ln>
            </c:spPr>
          </c:dPt>
          <c:cat>
            <c:strRef>
              <c:f>'Chart Data'!$A$2:$A$7</c:f>
              <c:strCache>
                <c:ptCount val="6"/>
                <c:pt idx="0">
                  <c:v>均匀聚类配额</c:v>
                </c:pt>
                <c:pt idx="1">
                  <c:v>仅家族编码</c:v>
                </c:pt>
                <c:pt idx="2">
                  <c:v>去除任务表征</c:v>
                </c:pt>
                <c:pt idx="3">
                  <c:v>仅用梯度代理标签</c:v>
                </c:pt>
                <c:pt idx="4">
                  <c:v>全局 Top-k</c:v>
                </c:pt>
                <c:pt idx="5">
                  <c:v>去除 PEFT 编码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0.51</c:v>
                </c:pt>
                <c:pt idx="1">
                  <c:v>0.68</c:v>
                </c:pt>
                <c:pt idx="2">
                  <c:v>0.82</c:v>
                </c:pt>
                <c:pt idx="3">
                  <c:v>0.85</c:v>
                </c:pt>
                <c:pt idx="4">
                  <c:v>1.08</c:v>
                </c:pt>
                <c:pt idx="5">
                  <c:v>1.37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373B4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C"/>
              </a:solidFill>
            </a:ln>
          </c:spPr>
        </c:majorGridlines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PCU-Select</c:v>
          </c:tx>
          <c:spPr>
            <a:solidFill xmlns:a="http://schemas.openxmlformats.org/drawingml/2006/main">
              <a:srgbClr val="4874CB"/>
            </a:solidFill>
            <a:ln xmlns:a="http://schemas.openxmlformats.org/drawingml/2006/main" w="28575">
              <a:solidFill>
                <a:srgbClr val="4874CB"/>
              </a:solidFill>
            </a:ln>
          </c:spPr>
          <c:marker>
            <c:symbol val="none"/>
          </c:marker>
          <c:cat>
            <c:numRef>
              <c:f>'Chart Data'!$A$2:$A$12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'Chart Data'!$B$2:$B$12</c:f>
              <c:numCache>
                <c:formatCode>0.0</c:formatCode>
                <c:ptCount val="11"/>
                <c:pt idx="0">
                  <c:v>144</c:v>
                </c:pt>
                <c:pt idx="1">
                  <c:v>145.51</c:v>
                </c:pt>
                <c:pt idx="2">
                  <c:v>147.02</c:v>
                </c:pt>
                <c:pt idx="3">
                  <c:v>148.53</c:v>
                </c:pt>
                <c:pt idx="4">
                  <c:v>150.04</c:v>
                </c:pt>
                <c:pt idx="5">
                  <c:v>151.55</c:v>
                </c:pt>
                <c:pt idx="6">
                  <c:v>153.06</c:v>
                </c:pt>
                <c:pt idx="7">
                  <c:v>154.57</c:v>
                </c:pt>
                <c:pt idx="8">
                  <c:v>156.08</c:v>
                </c:pt>
                <c:pt idx="9">
                  <c:v>157.59</c:v>
                </c:pt>
                <c:pt idx="10">
                  <c:v>159.1</c:v>
                </c:pt>
              </c:numCache>
            </c:numRef>
          </c:val>
        </c:ser>
        <c:ser>
          <c:idx val="1"/>
          <c:order val="1"/>
          <c:tx>
            <c:v>LESS</c:v>
          </c:tx>
          <c:spPr>
            <a:solidFill xmlns:a="http://schemas.openxmlformats.org/drawingml/2006/main">
              <a:srgbClr val="778EA8"/>
            </a:solidFill>
            <a:ln xmlns:a="http://schemas.openxmlformats.org/drawingml/2006/main" w="28575">
              <a:solidFill>
                <a:srgbClr val="778EA8"/>
              </a:solidFill>
            </a:ln>
          </c:spPr>
          <c:marker>
            <c:symbol val="none"/>
          </c:marker>
          <c:cat>
            <c:numRef>
              <c:f>'Chart Data'!$C$2:$C$12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'Chart Data'!$D$2:$D$12</c:f>
              <c:numCache>
                <c:formatCode>0.0</c:formatCode>
                <c:ptCount val="11"/>
                <c:pt idx="0">
                  <c:v>0</c:v>
                </c:pt>
                <c:pt idx="1">
                  <c:v>63.2</c:v>
                </c:pt>
                <c:pt idx="2">
                  <c:v>126.4</c:v>
                </c:pt>
                <c:pt idx="3">
                  <c:v>189.6</c:v>
                </c:pt>
                <c:pt idx="4">
                  <c:v>252.8</c:v>
                </c:pt>
                <c:pt idx="5">
                  <c:v>316</c:v>
                </c:pt>
                <c:pt idx="6">
                  <c:v>379.2</c:v>
                </c:pt>
                <c:pt idx="7">
                  <c:v>442.4</c:v>
                </c:pt>
                <c:pt idx="8">
                  <c:v>505.6</c:v>
                </c:pt>
                <c:pt idx="9">
                  <c:v>568.8</c:v>
                </c:pt>
                <c:pt idx="10">
                  <c:v>632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软雅黑"/>
                  <a:ea typeface="微软雅黑"/>
                  <a:cs typeface="微软雅黑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微软雅黑"/>
                    <a:ea typeface="微软雅黑"/>
                    <a:cs typeface="微软雅黑"/>
                  </a:rPr>
                  <a:t>PEFT 配置数 P（每配置 4 个任务）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软雅黑"/>
                  <a:ea typeface="微软雅黑"/>
                  <a:cs typeface="微软雅黑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7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52586B"/>
              </a:solidFill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6DD35F73-804A-400B-9D6C-9CFF842E7FE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5400"/>
              <a:t>面向大模型的数据与参数</a:t>
            </a:r>
            <a:endParaRPr sz="5400"/>
          </a:p>
          <a:p xmlns:a="http://schemas.openxmlformats.org/drawingml/2006/main">
            <a:r>
              <a:rPr sz="5400"/>
              <a:t>联合高效微调算法研究</a:t>
            </a:r>
            <a:endParaRPr sz="5400"/>
          </a:p>
        </p:txBody>
      </p:sp>
      <p:sp>
        <p:nvSpPr>
          <p:cNvPr id="10" name="署名">
            <a:extLst xmlns:a="http://schemas.openxmlformats.org/drawingml/2006/main">
              <a:ext uri="{FF2B5EF4-FFF2-40B4-BE49-F238E27FC236}">
                <a16:creationId xmlns:a16="http://schemas.microsoft.com/office/drawing/2014/main" id="{BC5A9ADB-6B4F-4766-829A-40A1AB62C5FB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汇报人: 林肯</a:t>
            </a:r>
            <a:r>
              <a:t>达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0EA79-0E98-4EF3-A55A-13572AB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中期答辩</a:t>
            </a:r>
          </a:p>
        </p:txBody>
      </p:sp>
    </p:spTree>
    <p:extLst>
      <p:ext uri="{BB962C8B-B14F-4D97-AF65-F5344CB8AC3E}">
        <p14:creationId xmlns:p14="http://schemas.microsoft.com/office/powerpoint/2010/main" val="3614918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A14B6890-E2B3-4943-A605-A58BB1C5A8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</a:t>
            </a:r>
            <a:endParaRPr/>
          </a:p>
        </p:txBody>
      </p:sp>
      <p:sp>
        <p:nvSpPr>
          <p:cNvPr id="6" name="序号">
            <a:extLst xmlns:a="http://schemas.openxmlformats.org/drawingml/2006/main">
              <a:ext uri="{FF2B5EF4-FFF2-40B4-BE49-F238E27FC236}">
                <a16:creationId xmlns:a16="http://schemas.microsoft.com/office/drawing/2014/main" id="{C473C839-14E9-4D2B-BCAC-01884A5D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1146536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3600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01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" name="项标题">
            <a:extLst xmlns:a="http://schemas.openxmlformats.org/drawingml/2006/main">
              <a:ext uri="{FF2B5EF4-FFF2-40B4-BE49-F238E27FC236}">
                <a16:creationId xmlns:a16="http://schemas.microsoft.com/office/drawing/2014/main" id="{FE36721D-6AA9-42BE-AD55-81709D15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1218536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研究背景与动机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2" name="序号">
            <a:extLst xmlns:a="http://schemas.openxmlformats.org/drawingml/2006/main">
              <a:ext uri="{FF2B5EF4-FFF2-40B4-BE49-F238E27FC236}">
                <a16:creationId xmlns:a16="http://schemas.microsoft.com/office/drawing/2014/main" id="{B6F340C9-81ED-4668-87FC-BA5FC9BE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2331825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02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3" name="项标题">
            <a:extLst xmlns:a="http://schemas.openxmlformats.org/drawingml/2006/main">
              <a:ext uri="{FF2B5EF4-FFF2-40B4-BE49-F238E27FC236}">
                <a16:creationId xmlns:a16="http://schemas.microsoft.com/office/drawing/2014/main" id="{E2FB8341-A9AF-4516-B1A7-3078464F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2403825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PCU-Select 方法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5" name="序号">
            <a:extLst xmlns:a="http://schemas.openxmlformats.org/drawingml/2006/main">
              <a:ext uri="{FF2B5EF4-FFF2-40B4-BE49-F238E27FC236}">
                <a16:creationId xmlns:a16="http://schemas.microsoft.com/office/drawing/2014/main" id="{0591EA24-AD1F-4C56-8996-90B2C48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3517115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03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6" name="项标题">
            <a:extLst xmlns:a="http://schemas.openxmlformats.org/drawingml/2006/main">
              <a:ext uri="{FF2B5EF4-FFF2-40B4-BE49-F238E27FC236}">
                <a16:creationId xmlns:a16="http://schemas.microsoft.com/office/drawing/2014/main" id="{C9798246-2283-4B91-8C68-423D170C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3589115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实验结果与分析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" name="序号">
            <a:extLst xmlns:a="http://schemas.openxmlformats.org/drawingml/2006/main">
              <a:ext uri="{FF2B5EF4-FFF2-40B4-BE49-F238E27FC236}">
                <a16:creationId xmlns:a16="http://schemas.microsoft.com/office/drawing/2014/main" id="{A10E1F21-8B50-4426-81C3-61843F6A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4702784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04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" name="项标题">
            <a:extLst xmlns:a="http://schemas.openxmlformats.org/drawingml/2006/main">
              <a:ext uri="{FF2B5EF4-FFF2-40B4-BE49-F238E27FC236}">
                <a16:creationId xmlns:a16="http://schemas.microsoft.com/office/drawing/2014/main" id="{D0813CDD-C027-4F91-9CD0-D0876898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4774784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后续工作与计划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D1B16720-9E81-4470-A041-E85253BA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34" y="3705840"/>
            <a:ext cx="2252137" cy="320381"/>
          </a:xfrm>
          <a:custGeom xmlns:a="http://schemas.openxmlformats.org/drawingml/2006/main">
            <a:rect l="l" t="t" r="r" b="b"/>
            <a:pathLst>
              <a:path w="3547" h="505">
                <a:moveTo>
                  <a:pt x="259" y="0"/>
                </a:moveTo>
                <a:cubicBezTo>
                  <a:pt x="307" y="0"/>
                  <a:pt x="346" y="6"/>
                  <a:pt x="379" y="19"/>
                </a:cubicBezTo>
                <a:lnTo>
                  <a:pt x="379" y="119"/>
                </a:lnTo>
                <a:cubicBezTo>
                  <a:pt x="346" y="100"/>
                  <a:pt x="308" y="90"/>
                  <a:pt x="266" y="90"/>
                </a:cubicBezTo>
                <a:cubicBezTo>
                  <a:pt x="219" y="90"/>
                  <a:pt x="181" y="105"/>
                  <a:pt x="152" y="136"/>
                </a:cubicBezTo>
                <a:cubicBezTo>
                  <a:pt x="124" y="166"/>
                  <a:pt x="109" y="206"/>
                  <a:pt x="109" y="255"/>
                </a:cubicBezTo>
                <a:cubicBezTo>
                  <a:pt x="109" y="303"/>
                  <a:pt x="123" y="342"/>
                  <a:pt x="150" y="371"/>
                </a:cubicBezTo>
                <a:cubicBezTo>
                  <a:pt x="177" y="400"/>
                  <a:pt x="214" y="414"/>
                  <a:pt x="260" y="414"/>
                </a:cubicBezTo>
                <a:cubicBezTo>
                  <a:pt x="303" y="414"/>
                  <a:pt x="343" y="404"/>
                  <a:pt x="379" y="383"/>
                </a:cubicBezTo>
                <a:lnTo>
                  <a:pt x="379" y="478"/>
                </a:lnTo>
                <a:cubicBezTo>
                  <a:pt x="343" y="496"/>
                  <a:pt x="297" y="505"/>
                  <a:pt x="240" y="505"/>
                </a:cubicBezTo>
                <a:cubicBezTo>
                  <a:pt x="166" y="505"/>
                  <a:pt x="108" y="483"/>
                  <a:pt x="65" y="439"/>
                </a:cubicBezTo>
                <a:cubicBezTo>
                  <a:pt x="22" y="395"/>
                  <a:pt x="0" y="336"/>
                  <a:pt x="0" y="263"/>
                </a:cubicBezTo>
                <a:cubicBezTo>
                  <a:pt x="0" y="186"/>
                  <a:pt x="24" y="123"/>
                  <a:pt x="72" y="74"/>
                </a:cubicBezTo>
                <a:cubicBezTo>
                  <a:pt x="120" y="25"/>
                  <a:pt x="183" y="0"/>
                  <a:pt x="259" y="0"/>
                </a:cubicBezTo>
                <a:close/>
                <a:moveTo>
                  <a:pt x="3405" y="0"/>
                </a:moveTo>
                <a:cubicBezTo>
                  <a:pt x="3453" y="0"/>
                  <a:pt x="3493" y="6"/>
                  <a:pt x="3525" y="19"/>
                </a:cubicBezTo>
                <a:lnTo>
                  <a:pt x="3525" y="116"/>
                </a:lnTo>
                <a:cubicBezTo>
                  <a:pt x="3493" y="94"/>
                  <a:pt x="3454" y="83"/>
                  <a:pt x="3410" y="83"/>
                </a:cubicBezTo>
                <a:cubicBezTo>
                  <a:pt x="3385" y="83"/>
                  <a:pt x="3364" y="88"/>
                  <a:pt x="3349" y="97"/>
                </a:cubicBezTo>
                <a:cubicBezTo>
                  <a:pt x="3334" y="106"/>
                  <a:pt x="3326" y="119"/>
                  <a:pt x="3326" y="134"/>
                </a:cubicBezTo>
                <a:cubicBezTo>
                  <a:pt x="3326" y="147"/>
                  <a:pt x="3331" y="159"/>
                  <a:pt x="3342" y="169"/>
                </a:cubicBezTo>
                <a:cubicBezTo>
                  <a:pt x="3352" y="180"/>
                  <a:pt x="3378" y="194"/>
                  <a:pt x="3419" y="212"/>
                </a:cubicBezTo>
                <a:cubicBezTo>
                  <a:pt x="3468" y="233"/>
                  <a:pt x="3501" y="255"/>
                  <a:pt x="3519" y="278"/>
                </a:cubicBezTo>
                <a:cubicBezTo>
                  <a:pt x="3538" y="301"/>
                  <a:pt x="3547" y="329"/>
                  <a:pt x="3547" y="361"/>
                </a:cubicBezTo>
                <a:cubicBezTo>
                  <a:pt x="3547" y="407"/>
                  <a:pt x="3530" y="443"/>
                  <a:pt x="3497" y="468"/>
                </a:cubicBezTo>
                <a:cubicBezTo>
                  <a:pt x="3464" y="492"/>
                  <a:pt x="3417" y="505"/>
                  <a:pt x="3356" y="505"/>
                </a:cubicBezTo>
                <a:cubicBezTo>
                  <a:pt x="3300" y="505"/>
                  <a:pt x="3254" y="496"/>
                  <a:pt x="3218" y="477"/>
                </a:cubicBezTo>
                <a:lnTo>
                  <a:pt x="3218" y="373"/>
                </a:lnTo>
                <a:cubicBezTo>
                  <a:pt x="3257" y="406"/>
                  <a:pt x="3302" y="422"/>
                  <a:pt x="3352" y="422"/>
                </a:cubicBezTo>
                <a:cubicBezTo>
                  <a:pt x="3380" y="422"/>
                  <a:pt x="3402" y="417"/>
                  <a:pt x="3416" y="407"/>
                </a:cubicBezTo>
                <a:cubicBezTo>
                  <a:pt x="3430" y="398"/>
                  <a:pt x="3437" y="385"/>
                  <a:pt x="3437" y="370"/>
                </a:cubicBezTo>
                <a:cubicBezTo>
                  <a:pt x="3437" y="357"/>
                  <a:pt x="3432" y="344"/>
                  <a:pt x="3420" y="332"/>
                </a:cubicBezTo>
                <a:cubicBezTo>
                  <a:pt x="3409" y="321"/>
                  <a:pt x="3379" y="305"/>
                  <a:pt x="3331" y="284"/>
                </a:cubicBezTo>
                <a:cubicBezTo>
                  <a:pt x="3254" y="252"/>
                  <a:pt x="3216" y="205"/>
                  <a:pt x="3216" y="143"/>
                </a:cubicBezTo>
                <a:cubicBezTo>
                  <a:pt x="3216" y="98"/>
                  <a:pt x="3234" y="63"/>
                  <a:pt x="3268" y="38"/>
                </a:cubicBezTo>
                <a:cubicBezTo>
                  <a:pt x="3303" y="13"/>
                  <a:pt x="3348" y="0"/>
                  <a:pt x="3405" y="0"/>
                </a:cubicBezTo>
                <a:close/>
                <a:moveTo>
                  <a:pt x="976" y="8"/>
                </a:moveTo>
                <a:lnTo>
                  <a:pt x="1089" y="8"/>
                </a:lnTo>
                <a:lnTo>
                  <a:pt x="1288" y="315"/>
                </a:lnTo>
                <a:cubicBezTo>
                  <a:pt x="1301" y="335"/>
                  <a:pt x="1309" y="348"/>
                  <a:pt x="1312" y="354"/>
                </a:cubicBezTo>
                <a:lnTo>
                  <a:pt x="1314" y="354"/>
                </a:lnTo>
                <a:cubicBezTo>
                  <a:pt x="1312" y="342"/>
                  <a:pt x="1311" y="319"/>
                  <a:pt x="1311" y="286"/>
                </a:cubicBezTo>
                <a:lnTo>
                  <a:pt x="1311" y="8"/>
                </a:lnTo>
                <a:lnTo>
                  <a:pt x="1409" y="8"/>
                </a:lnTo>
                <a:lnTo>
                  <a:pt x="1409" y="496"/>
                </a:lnTo>
                <a:lnTo>
                  <a:pt x="1303" y="496"/>
                </a:lnTo>
                <a:lnTo>
                  <a:pt x="1096" y="180"/>
                </a:lnTo>
                <a:cubicBezTo>
                  <a:pt x="1085" y="164"/>
                  <a:pt x="1078" y="151"/>
                  <a:pt x="1073" y="141"/>
                </a:cubicBezTo>
                <a:lnTo>
                  <a:pt x="1071" y="141"/>
                </a:lnTo>
                <a:cubicBezTo>
                  <a:pt x="1073" y="158"/>
                  <a:pt x="1074" y="184"/>
                  <a:pt x="1074" y="219"/>
                </a:cubicBezTo>
                <a:lnTo>
                  <a:pt x="1074" y="496"/>
                </a:lnTo>
                <a:lnTo>
                  <a:pt x="976" y="496"/>
                </a:lnTo>
                <a:lnTo>
                  <a:pt x="976" y="8"/>
                </a:lnTo>
                <a:close/>
                <a:moveTo>
                  <a:pt x="1470" y="8"/>
                </a:moveTo>
                <a:lnTo>
                  <a:pt x="1852" y="8"/>
                </a:lnTo>
                <a:lnTo>
                  <a:pt x="1852" y="93"/>
                </a:lnTo>
                <a:lnTo>
                  <a:pt x="1713" y="93"/>
                </a:lnTo>
                <a:lnTo>
                  <a:pt x="1713" y="496"/>
                </a:lnTo>
                <a:lnTo>
                  <a:pt x="1609" y="496"/>
                </a:lnTo>
                <a:lnTo>
                  <a:pt x="1609" y="93"/>
                </a:lnTo>
                <a:lnTo>
                  <a:pt x="1470" y="93"/>
                </a:lnTo>
                <a:lnTo>
                  <a:pt x="1470" y="8"/>
                </a:lnTo>
                <a:close/>
                <a:moveTo>
                  <a:pt x="1921" y="8"/>
                </a:moveTo>
                <a:lnTo>
                  <a:pt x="2198" y="8"/>
                </a:lnTo>
                <a:lnTo>
                  <a:pt x="2198" y="93"/>
                </a:lnTo>
                <a:lnTo>
                  <a:pt x="2024" y="93"/>
                </a:lnTo>
                <a:lnTo>
                  <a:pt x="2024" y="208"/>
                </a:lnTo>
                <a:lnTo>
                  <a:pt x="2186" y="208"/>
                </a:lnTo>
                <a:lnTo>
                  <a:pt x="2186" y="293"/>
                </a:lnTo>
                <a:lnTo>
                  <a:pt x="2024" y="293"/>
                </a:lnTo>
                <a:lnTo>
                  <a:pt x="2024" y="411"/>
                </a:lnTo>
                <a:lnTo>
                  <a:pt x="2209" y="411"/>
                </a:lnTo>
                <a:lnTo>
                  <a:pt x="2209" y="496"/>
                </a:lnTo>
                <a:lnTo>
                  <a:pt x="1921" y="496"/>
                </a:lnTo>
                <a:lnTo>
                  <a:pt x="1921" y="8"/>
                </a:lnTo>
                <a:close/>
                <a:moveTo>
                  <a:pt x="2296" y="8"/>
                </a:moveTo>
                <a:lnTo>
                  <a:pt x="2409" y="8"/>
                </a:lnTo>
                <a:lnTo>
                  <a:pt x="2608" y="315"/>
                </a:lnTo>
                <a:cubicBezTo>
                  <a:pt x="2621" y="335"/>
                  <a:pt x="2629" y="348"/>
                  <a:pt x="2632" y="354"/>
                </a:cubicBezTo>
                <a:lnTo>
                  <a:pt x="2634" y="354"/>
                </a:lnTo>
                <a:cubicBezTo>
                  <a:pt x="2632" y="342"/>
                  <a:pt x="2631" y="319"/>
                  <a:pt x="2631" y="286"/>
                </a:cubicBezTo>
                <a:lnTo>
                  <a:pt x="2631" y="8"/>
                </a:lnTo>
                <a:lnTo>
                  <a:pt x="2729" y="8"/>
                </a:lnTo>
                <a:lnTo>
                  <a:pt x="2729" y="496"/>
                </a:lnTo>
                <a:lnTo>
                  <a:pt x="2623" y="496"/>
                </a:lnTo>
                <a:lnTo>
                  <a:pt x="2416" y="180"/>
                </a:lnTo>
                <a:cubicBezTo>
                  <a:pt x="2405" y="164"/>
                  <a:pt x="2398" y="151"/>
                  <a:pt x="2393" y="141"/>
                </a:cubicBezTo>
                <a:lnTo>
                  <a:pt x="2391" y="141"/>
                </a:lnTo>
                <a:cubicBezTo>
                  <a:pt x="2393" y="158"/>
                  <a:pt x="2394" y="184"/>
                  <a:pt x="2394" y="219"/>
                </a:cubicBezTo>
                <a:lnTo>
                  <a:pt x="2394" y="496"/>
                </a:lnTo>
                <a:lnTo>
                  <a:pt x="2296" y="496"/>
                </a:lnTo>
                <a:lnTo>
                  <a:pt x="2296" y="8"/>
                </a:lnTo>
                <a:close/>
                <a:moveTo>
                  <a:pt x="2790" y="8"/>
                </a:moveTo>
                <a:lnTo>
                  <a:pt x="3172" y="8"/>
                </a:lnTo>
                <a:lnTo>
                  <a:pt x="3172" y="93"/>
                </a:lnTo>
                <a:lnTo>
                  <a:pt x="3033" y="93"/>
                </a:lnTo>
                <a:lnTo>
                  <a:pt x="3033" y="496"/>
                </a:lnTo>
                <a:lnTo>
                  <a:pt x="2929" y="496"/>
                </a:lnTo>
                <a:lnTo>
                  <a:pt x="2929" y="93"/>
                </a:lnTo>
                <a:lnTo>
                  <a:pt x="2790" y="93"/>
                </a:lnTo>
                <a:lnTo>
                  <a:pt x="2790" y="8"/>
                </a:lnTo>
                <a:close/>
                <a:moveTo>
                  <a:pt x="661" y="90"/>
                </a:moveTo>
                <a:cubicBezTo>
                  <a:pt x="620" y="90"/>
                  <a:pt x="588" y="105"/>
                  <a:pt x="564" y="135"/>
                </a:cubicBezTo>
                <a:cubicBezTo>
                  <a:pt x="541" y="166"/>
                  <a:pt x="529" y="205"/>
                  <a:pt x="529" y="253"/>
                </a:cubicBezTo>
                <a:cubicBezTo>
                  <a:pt x="529" y="300"/>
                  <a:pt x="541" y="339"/>
                  <a:pt x="564" y="369"/>
                </a:cubicBezTo>
                <a:cubicBezTo>
                  <a:pt x="586" y="399"/>
                  <a:pt x="618" y="414"/>
                  <a:pt x="658" y="414"/>
                </a:cubicBezTo>
                <a:cubicBezTo>
                  <a:pt x="699" y="414"/>
                  <a:pt x="730" y="400"/>
                  <a:pt x="753" y="371"/>
                </a:cubicBezTo>
                <a:cubicBezTo>
                  <a:pt x="776" y="342"/>
                  <a:pt x="787" y="303"/>
                  <a:pt x="787" y="255"/>
                </a:cubicBezTo>
                <a:cubicBezTo>
                  <a:pt x="787" y="204"/>
                  <a:pt x="776" y="164"/>
                  <a:pt x="754" y="134"/>
                </a:cubicBezTo>
                <a:cubicBezTo>
                  <a:pt x="732" y="105"/>
                  <a:pt x="701" y="90"/>
                  <a:pt x="661" y="90"/>
                </a:cubicBezTo>
                <a:close/>
                <a:moveTo>
                  <a:pt x="664" y="0"/>
                </a:moveTo>
                <a:cubicBezTo>
                  <a:pt x="733" y="0"/>
                  <a:pt x="790" y="23"/>
                  <a:pt x="832" y="70"/>
                </a:cubicBezTo>
                <a:cubicBezTo>
                  <a:pt x="875" y="116"/>
                  <a:pt x="896" y="176"/>
                  <a:pt x="896" y="248"/>
                </a:cubicBezTo>
                <a:cubicBezTo>
                  <a:pt x="896" y="324"/>
                  <a:pt x="874" y="386"/>
                  <a:pt x="830" y="434"/>
                </a:cubicBezTo>
                <a:cubicBezTo>
                  <a:pt x="785" y="481"/>
                  <a:pt x="727" y="505"/>
                  <a:pt x="656" y="505"/>
                </a:cubicBezTo>
                <a:cubicBezTo>
                  <a:pt x="586" y="505"/>
                  <a:pt x="529" y="482"/>
                  <a:pt x="486" y="436"/>
                </a:cubicBezTo>
                <a:cubicBezTo>
                  <a:pt x="442" y="390"/>
                  <a:pt x="420" y="331"/>
                  <a:pt x="420" y="259"/>
                </a:cubicBezTo>
                <a:cubicBezTo>
                  <a:pt x="420" y="182"/>
                  <a:pt x="442" y="120"/>
                  <a:pt x="487" y="72"/>
                </a:cubicBezTo>
                <a:cubicBezTo>
                  <a:pt x="532" y="24"/>
                  <a:pt x="590" y="0"/>
                  <a:pt x="664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99146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背景：数据选择需要服务多种微调配置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03954-E962-4745-94BB-EA9C10BD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数据高效微调减少样本，参数高效微调减少可训练参数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98167-15C1-49D5-A997-3FBBD588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860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数据侧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432FD-2AE9-4D3F-9AB9-DB9A521B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19350"/>
            <a:ext cx="434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E2E4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E856C-097A-4959-BD2D-D1B73552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19350"/>
            <a:ext cx="438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721F9-F1F9-4668-B2CF-2AE2D1AF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766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300K 候选样本中选取 30K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769FF-FB2D-413B-93C0-DD7A6242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67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参数侧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102DF-9767-4C93-AB0D-DCF911B4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1AEFD-9045-4F4A-85F2-F0273157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94BDF-638C-4CA0-8BA0-472F3AA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29F16-5519-4B61-88A7-0C19BD9E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A5B43-5B1D-4A8C-9527-639B179B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52D8E-4D2C-4BE8-B242-A90ED2A5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F82E0-EF0C-4D0B-B36A-C3FC894A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739E7-A54F-4AB1-B383-E53628EE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802B21-195A-4A87-ACEE-A056E9D8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038031-BEC6-4A73-938B-2E2178F9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777A88-5761-4FC9-BC55-E4BF0F07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C3B9C-276B-48E0-87A5-AD0F6166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444FE9-585B-4596-B77E-E21E6930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768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骨干大部分冻结，更新少量参数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78C88-D485-4A6C-A08C-25AA4490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0" cy="30956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84A44B-D718-4ADF-9315-70362279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57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真实使用场景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CF5D10-F2A4-425D-8D83-0500E46F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3250"/>
            <a:ext cx="35242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一个骨干</a:t>
            </a:r>
          </a:p>
          <a:p xmlns:a="http://schemas.openxmlformats.org/drawingml/2006/main">
            <a:pPr algn="l">
              <a:def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多类任务</a:t>
            </a:r>
          </a:p>
          <a:p xmlns:a="http://schemas.openxmlformats.org/drawingml/2006/main">
            <a:pPr algn="l">
              <a:def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多套 PEFT 配置</a:t>
            </a:r>
          </a:p>
          <a:p xmlns:a="http://schemas.openxmlformats.org/drawingml/2006/main">
            <a:pPr algn="l">
              <a:def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多种数据预算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57ECD4-0703-4E69-9BD5-D6BEC696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关键问题：配置变了，原来的数据选择还能直接复用吗？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B758D2-E6EE-4C17-973F-60EEDCBC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300K 候选与 10% 预算来自本文设定。蓝色表示选中数据或可训练参数，参数示意不按实际比例绘制。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ED94D0-8579-4179-B98F-8723A08D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现有方法：目标针对性与重复计算之间的矛盾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F4E1F-2FD3-4E07-8339-0B583DED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任务通用排序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61038-2BE6-4339-9F68-A1BE6910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81325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质量、表示或代理评分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FE2FE-D05B-47F1-AF4B-AB101317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90775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76805-62D4-45F8-81A3-66E262AF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66975"/>
            <a:ext cx="2152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同一任务排序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44744-DCA5-4D55-8638-348D5B5E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600325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454B6-FEFB-4727-9D8F-8E80ABE1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90775"/>
            <a:ext cx="38004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E5274-9832-42E5-85CB-AE889EEF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66975"/>
            <a:ext cx="3571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复用于多个 PEFT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33C33-7310-42D5-A697-F871D49F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09925"/>
            <a:ext cx="38004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缺少目标配置 p 的信息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DB04C-C71A-45BE-890E-3FF0E761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7665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2E657-A7D3-43A8-94ED-B660E5A9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逐配置 LESS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2D8A7-B9B4-4E85-A499-73972C71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053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读取目标 PEFT 的梯度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1FA30-DF52-42D3-A29A-77FEA391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14800"/>
            <a:ext cx="31527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75BD4C-D7FE-4BD0-A814-F3426157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2924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每个配置重建梯度库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97959-EF4C-48E8-8149-8E244150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24350"/>
            <a:ext cx="4476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12878-48CB-45FD-8949-E80FE6AC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14800"/>
            <a:ext cx="31146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D59D47-9B7C-4996-9E8E-E09CFE6B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886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各目标独立排序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66B32-6E55-4536-BB50-FED95136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33950"/>
            <a:ext cx="3114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新增配置带来重复建库成本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BD6DF1-4381-4D0C-88D3-0C52C125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本文目标：保留目标条件，同时共享昂贵的选择计算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5CD72-9FDE-4F02-920C-627E74DB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LESS 指本文采用的逐 PEFT 建库实现；RDS+ 与 Influence 为论文实现的对照基线。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E5A5DB-42DF-4F14-841D-71B8C0D9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动机：不同 PEFT 暴露不同的更新方向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24AB4-F72C-4A5D-A726-2A46CBE7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训练样本相同，可更新的位置、算子和容量仍然不同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1A5C5-2371-4588-BE14-A2FBE0EF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LoRA：低秩增量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3FAF0-1B11-49D4-A356-273F813F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33625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IA3：乘性缩放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F43B1-D5A5-406A-8F0D-F1ABC9D8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33625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Adapter：瓶颈更新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8BCB2-DAF3-4967-BE92-CB81FD97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8135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B98C0-BA8C-45BA-A33C-AB30AE78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575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模块输入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6C977-786F-4878-802B-BE516294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718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5D7F5-A476-438B-843F-880B3C43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57525"/>
            <a:ext cx="13525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F2687-E424-4C6A-9014-90523329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133725"/>
            <a:ext cx="112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W + BA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B9CF7-42B4-4AC9-B389-4317C6BE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14825"/>
            <a:ext cx="329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选定投影上的加性更新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由秩和目标模块限制容量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A39FA-04EF-4470-9E38-754C1B26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95525"/>
            <a:ext cx="0" cy="30765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2E260-41A6-4D49-A536-430E309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8135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AD134-E702-45D6-BFB6-746F0397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模块输入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4080E-8522-4CAE-B98D-9FAF2392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718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1E012-61AE-491A-8135-5D48AFD5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57525"/>
            <a:ext cx="13525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F13ADF-0F74-48AB-8ECF-71015185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33725"/>
            <a:ext cx="112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l ⊙ 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EDDFE7-DF71-4854-9756-10A18D44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14825"/>
            <a:ext cx="329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对激活按通道缩放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更新形式不同于加性增量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6211B8-69D4-4D82-AAE8-F5D2B3C2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295525"/>
            <a:ext cx="0" cy="30765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937C7-6BE6-4FA6-93E4-02640148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8135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5C44C1-0892-44F1-9C89-4976B499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2575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模块输入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F20ADA-55A6-4061-B564-594AA2CE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718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67FB9C-C177-4568-9721-D885D530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057525"/>
            <a:ext cx="13525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5581EF-8426-4653-9044-DE26C838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133725"/>
            <a:ext cx="112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下投影 / 上投影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62747A-9DE4-4C1D-8765-EB148AD9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14825"/>
            <a:ext cx="329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通过额外瓶颈路径更新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作用于残差输出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95268A-119A-4319-9531-E81CD987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样本价值应相对于“目标任务 + 可训练子空间”来定义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5FB214-77B8-4CCA-8F65-5A7ABABF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结构示意：不是原始参数梯度等价关系。本文通过共同模块输出坐标构建可复用的近似信号。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711DCE-A256-4B8E-BC05-86744A03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动机分析：直接复用子集可能丢失配置针对性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71D69-8F4A-496A-825C-06A60AD4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同一任务使用源配置 L-r8-qv 选出的子集，再迁移到其他 PEFT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218F2-DF30-4675-996A-BF56BDEF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47950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CA495-B8C7-4062-ABD4-80439B9A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24150"/>
            <a:ext cx="2628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源配置选出的子集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B89A4-AC3D-4EE2-8BD9-B8778779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14387-8A2D-4513-9B41-DB951A5F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00300"/>
            <a:ext cx="0" cy="13716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37B03-6AC9-4080-9F95-A7167334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00300"/>
            <a:ext cx="3333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0B964-C75B-4333-BDAB-9A9017A2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09800"/>
            <a:ext cx="17621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4112E-341E-4282-9814-6EBDC0B1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86000"/>
            <a:ext cx="1533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B46CB-DA7A-421E-9E63-0D9DFE71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09900"/>
            <a:ext cx="3333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E8067-018A-439F-AD5A-FDDB0A0D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19400"/>
            <a:ext cx="17621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3FDB4-05C9-4C4A-B700-79374575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95600"/>
            <a:ext cx="1533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IA3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6D261-27AF-416B-8A38-7ABFA301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19500"/>
            <a:ext cx="3333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EF17F-EBD6-4DC8-81C6-B81A31D2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29000"/>
            <a:ext cx="17621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8B4A4-378E-419D-B0F5-FC7801BC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05200"/>
            <a:ext cx="1533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其他 LoRA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ACAA83-2281-4B02-87E5-F7E85C4A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76725"/>
            <a:ext cx="5829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省去重复建库，</a:t>
            </a:r>
          </a:p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但沿用了源配置的偏好</a:t>
            </a:r>
          </a:p>
        </p:txBody>
      </p:sp>
      <p:graphicFrame>
        <p:nvGraphicFramePr>
          <p:cNvPr id="45" name=""/>
          <p:cNvGraphicFramePr/>
          <p:nvPr/>
        </p:nvGraphicFramePr>
        <p:xfrm>
          <a:off xmlns:a="http://schemas.openxmlformats.org/drawingml/2006/main" x="7134225" y="2390775"/>
          <a:ext xmlns:a="http://schemas.openxmlformats.org/drawingml/2006/main" cx="4343400" cy="2914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90850"/>
                <a:gridCol w="1352550"/>
              </a:tblGrid>
              <a:tr h="72866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选择策略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宏平均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72866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各配置各自运行 LESS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跨配置复用源 LESS 子集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34.24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72866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任务表示基线 RDS+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34.44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CABA85-4ADA-494D-8A06-EBC59899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复用计算能力，并为每个目标重新生成子集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9A6EBD-723C-48C2-9CCF-0381E19E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每个任务各有一个源子集，再跨 5 个目标 PEFT 复用；不是所有任务共用同一子集。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02A262-32D0-40EB-8B86-6FA22CA3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问题定义：预测样本在目标条件下的价值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9A351-BD7F-4878-819C-4D6BD556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5734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u(x, p, 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0C721-43C6-45A1-B6A9-E13422C2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47875"/>
            <a:ext cx="48291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 x 在配置 p 下训练，</a:t>
            </a:r>
          </a:p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对任务 t 能带来多少帮助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321CC-3EB3-4FEB-A3AB-3ED552CA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328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0B214-1372-4B33-8791-2C8EE2F3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657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7B33E-A0E0-4C01-B0FA-54BBBFF5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052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候选样本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031B5-66A9-42CE-AFE7-A9E7277A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3286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指令与回答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A618A-BDE3-46BE-9ABB-B274AADF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90925"/>
            <a:ext cx="328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6713C-E729-4FF8-95C1-FD59EEB4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05250"/>
            <a:ext cx="657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C5973-1C36-4AA3-A5EF-408181F7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9052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PEFT 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F0041-B080-4C06-9F87-5FAB8E42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572000"/>
            <a:ext cx="3286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位置、算子、容量、配方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5169F9-B36B-4ED8-A7DC-520C4051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590925"/>
            <a:ext cx="328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43D1B-AD9E-48D4-9642-B3BA3CB2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905250"/>
            <a:ext cx="657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29CCF4-D66E-4117-8D55-8CADDEDF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9052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B9173-D0A4-49AA-A210-F703581F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572000"/>
            <a:ext cx="3286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32 条训练或开发样本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D4C4CE-3A5F-4952-87BD-4CB607D6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在预算 B 内选出高效用子集，避免枚举并训练大量候选子集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744FE-D146-4BCE-9B40-83064538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测试集只定义最终评价目标，不参与任务表征、效用标签、评分器训练或选数。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DC925-C07E-40A8-9312-7A60EBAA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方法总览：共享监督信号，学习目标条件评分器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0602D-9F0F-4B92-ADE1-BA295D21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335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离线准备：共享的前期投入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8AE8B-32E1-450E-9928-E4774A2A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53352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在线选数：按目标生成子集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9984B-85F8-4272-A4FA-456A9DEC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55530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6A07A-E121-47EC-ACA9-D3821B4E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57450"/>
            <a:ext cx="5324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候选样本 / 任务样本 / PEFT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7B650-3BAF-4E09-A500-004FC549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81325"/>
            <a:ext cx="0" cy="4667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88B9F-D0FD-48B2-A9C2-A31CE8B3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81325"/>
            <a:ext cx="0" cy="4667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360B3-561E-49FB-9946-3E7864BF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295650"/>
            <a:ext cx="26670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4E793-E073-4606-B028-8160C59D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6670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84E59-5D9A-4291-8F44-007FE65C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C3D79-D533-4A97-8E34-5B1BAA5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共享位点与三类表征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7871B-B095-4E59-A763-57AD9CFE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48075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D43D8-F4FE-4A73-A1F0-D70F7C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2427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多保真效用标签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63EA4-5D7B-4879-ACB3-133C0B3F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29125"/>
            <a:ext cx="0" cy="3714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8224F-008E-46E6-8CBB-2688F0E5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0" cy="3714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367BA-19A0-4ABA-98FE-E653CA30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00600"/>
            <a:ext cx="2905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F02367-C031-4C76-AF59-65CA7A70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00600"/>
            <a:ext cx="2667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5C672-71F1-41D6-B3A8-B949F1A5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48863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A71AEA-D422-4EDD-BEF9-CCB9E6AD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10175"/>
            <a:ext cx="4657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训练一个条件评分器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C4703B-8002-429B-B106-2584CCA8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673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874C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675695-BCA5-49B1-B9CF-B6C8C895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0" cy="13906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874C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63F065-F135-480C-BE68-D6694DA6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6240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23D45-D876-436B-A510-56CA3108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00450"/>
            <a:ext cx="971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复用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878A07-DBE2-41FE-B007-85F1AC52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3867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D38891-A5D0-4D1E-B5D6-9D147F76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45745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目标配置 p + 任务 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85AD2D-A836-4E26-8C1B-81AD0C5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124200"/>
            <a:ext cx="238125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65597B-4617-4112-B994-DE1464B5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67125"/>
            <a:ext cx="38671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28D531-69F4-4BCF-A1E0-5D7021A3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743325"/>
            <a:ext cx="3638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评分器 + 缓存样本特征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4FB4EE-EDB0-43D1-A68D-266DF361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667250"/>
            <a:ext cx="238125" cy="2952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A65B3F-8CA1-4B7D-A73D-6498FAED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133975"/>
            <a:ext cx="3867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B40022-A637-4065-8B59-B14BCCE1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210175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保守评分 / 聚类配额 / 子集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BC995C-CB9E-4F80-B4B4-FB5052EA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已见与近支持目标在线使用缓存和前向评分；结构偏移较大的目标需校准或回退逐目标选择。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F2434B-B568-4C55-8932-02656DBC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方法一：在 24 个共享位点观察不同 PEFT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62551-4E93-4189-B5F0-1509DE05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不同参数张量难以共用梯度库，模块输出提供共同的观察位置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D4BCB-98F8-409F-9CB7-D606F846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479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Attention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AE280-4D8D-4731-A6C2-CC2E048D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479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MLP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EEF06-9D7A-4B8E-B0C4-1133AC2C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479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残差输出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66008-5F6C-46E0-8E19-1999471B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04E5C-87D3-455E-9AEC-786B03F2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57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95572-D77D-44A7-BB17-5711656E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57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4AA36-86E8-4820-B2D6-FF68EF1F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57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06481-E235-49EA-A227-F690E343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27FC4-2F9F-4BB1-BE74-98821997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2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BD101-CBBB-4C18-912A-EF2E2E29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62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88FEC-ECED-4253-93F0-63515D12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62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9CC53-4BE2-453E-8160-D527D917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670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559BF-E21E-4745-8518-29F5E929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67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89580-8542-4D09-B81D-8C18C04E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67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6EDAF-FF65-4661-BA33-F6C736BD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67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F095C9-04F6-4747-9BE7-35FA7430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8256C-35E8-424E-89A7-F683A095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80701-267A-4B1B-8F26-7F27A911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718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E475EB-CE4D-4C98-8E49-E2DC287F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718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8205AB-A945-4D11-B493-1700B758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8B5A8-8832-4F18-A1CF-98059A36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766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FAF174-BC28-4DCC-9508-F5AB0E18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766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C7A742-2C50-4D6A-AEE3-9F57C9C2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766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CBAD47-4D5D-4DA8-ABB9-68A01352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67BDD7-A2F7-497C-B8D7-EA607858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81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064D74-E24B-4737-A2CB-755206F8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81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EDA92E-F411-45D0-AC9E-9AB122E2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BDC4F3-DF94-44F2-B6B9-8F080E76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7112C3-9CFD-49A9-8D43-8793FAC6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86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9A9673-6B75-4E0A-9A92-E9BFC1FA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4025A6-CDE2-4BBE-BAB5-1AF43C30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86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F136F1-B855-4D50-8B0F-C9408C31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910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23BDA6-C6EC-4BCC-8268-44B7880E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91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A29C53-B549-4BDB-9F30-97B54FD0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91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293B15-424B-4FA4-86F1-A55528B9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91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1CD8C6-C6C7-4F68-B1A3-B8E46290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05425"/>
            <a:ext cx="446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八个均匀采样层 × 三类模块输出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640E94-F1BD-4DE5-878D-DABB3ADA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52675"/>
            <a:ext cx="4886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配置映射到同一组位点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303BA6-7419-4DB9-807D-C44E9AB9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81350"/>
            <a:ext cx="4810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注意力 LoRA、IA3-attn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843DF0-8138-4DA1-9DB9-82C5A55B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581400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对应 Attention 输出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19FA6A-AB20-49C5-B646-5679427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71950"/>
            <a:ext cx="4810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MLP LoRA、IA3-FFN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D4A46F-8BAC-4E5C-ADBD-F9AC96D4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72000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对应 MLP 输出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563241-15A4-4251-8542-F398FFBB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1970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Adapter 对应残差输出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274B45-7DD9-4B3F-BD41-F9CE1CB5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位点梯度通过链式法则关联参数更新，但只提供结构近似；更新算子与容量仍由 PEFT 编码保留。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76DF20-9925-41CA-BF96-B3C31FA6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方法二：三类表征分别描述样本、任务与更新方式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FC6FD-87FF-4347-B3EE-CDAB6B12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47900"/>
            <a:ext cx="2009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 zₓ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7C4FB-FA77-4842-AEC4-E5641DE5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848 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D71D0-7E36-4BB2-A166-3EE5339F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479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778EA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037BE-4003-4160-8363-2527D869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52675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 768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6A705-6662-46BC-A52C-83DE8762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2479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869E"/>
          </a:solidFill>
          <a:ln xmlns:a="http://schemas.openxmlformats.org/drawingml/2006/main" w="12383">
            <a:solidFill>
              <a:srgbClr val="87869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C6D19-9A34-4009-BC8B-5458C6DB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5267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统计 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34478-AC01-4A0B-8129-CA95CFBA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47900"/>
            <a:ext cx="2019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E9DC7-2D03-49F2-8B72-39A636A1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526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激活 64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C5EAA-A036-488B-83A4-A721525A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05125"/>
            <a:ext cx="802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冻结语义编码器，补充长度、损失、熵和模块激活特征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B6352-E2B8-424D-AF03-A3F5A1EA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2009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PEFT zₚ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6887B-6965-4E49-90F7-D6FF04A4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128 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4B05B-DB7B-49A9-A2DE-498C7CC8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195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7372F-6F16-42C5-84D1-B433BA14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24275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位点 / 算子 96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A25C49-260A-4B92-8808-09E032F3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6195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869E"/>
          </a:solidFill>
          <a:ln xmlns:a="http://schemas.openxmlformats.org/drawingml/2006/main" w="12383">
            <a:solidFill>
              <a:srgbClr val="87869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4D76B6-FE51-4211-9CE7-48C6BA89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2427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容量 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4356F7-D569-42BD-9A18-7294C765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19500"/>
            <a:ext cx="2019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433F74-E64D-4ABA-8195-649A1F80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242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配方 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18B728-97DB-47A3-A423-6B0E76A7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276725"/>
            <a:ext cx="802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24 位点 × 4 通道，再描述 rank、瓶颈宽度及训练配方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4A9EFD-BD84-4364-8150-E357EA54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91100"/>
            <a:ext cx="2009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任务 zₜ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50CCEB-AAFC-4BB7-B495-3EBA2008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864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848 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0CC23A-AFEF-42EF-A83D-63C10376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991100"/>
            <a:ext cx="8020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778EA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0ED9F2-755B-47FC-B091-BA6BCB8A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95875"/>
            <a:ext cx="784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 条任务样本的表示均值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8CE493-2D04-4414-A857-6D1F68D1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648325"/>
            <a:ext cx="802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用小型样本集表达目标需求；单独缓存的位点梯度仅用于构造标签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9BA41B-E3E3-4636-B1F9-AC3ED3C2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分块宽度为版式示意，不按维度比例缩放。任务梯度为 24 × 256，位于 zₜ 之外。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978EF0-061E-4D0A-8764-A14847C7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方法三：用梯度对齐构造低成本监督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08F0E-FFCA-4ABD-AD49-323BBE44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问题：样本的更新方向，是否与目标任务需要的方向一致？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38F7B-0F43-4A82-ACB4-0572A810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34385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E2A43-DF5A-4AC6-9749-6CAB4AC4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05100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 x 的位点梯度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88C14-364C-428B-B32E-F2424079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14825"/>
            <a:ext cx="34385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9496E-6FF7-4581-AAC9-6F23D22C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910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任务样本的平均梯度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BCFE1-F1FF-4F3A-93E1-8B4987BE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90850"/>
            <a:ext cx="4857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209C8-E91D-4524-B6F6-08D4759A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76775"/>
            <a:ext cx="4857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80DC0-AF70-40C4-9AC3-DE4F0628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90850"/>
            <a:ext cx="0" cy="16859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6E231-C218-42F2-A949-072EF407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9567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B1753-9A7E-4C19-BE7A-C009F9CD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67050"/>
            <a:ext cx="29146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5BCAC-59D7-4E83-9776-A32DBF31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143250"/>
            <a:ext cx="2686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逐位点计算</a:t>
            </a:r>
          </a:p>
          <a:p xmlns:a="http://schemas.openxmlformats.org/drawingml/2006/main">
            <a:pPr algn="ctr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余弦相似度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EE41B2-4E75-4619-AB20-F3D435BC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3243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gₓ 与 gₜ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EF661-BABC-4A7F-B131-66E3AA12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495675"/>
            <a:ext cx="3714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0FE614-31F0-4948-9560-D31262F1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95600"/>
            <a:ext cx="24384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按目标 PEFT 的</a:t>
            </a:r>
          </a:p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位点权重</a:t>
            </a:r>
          </a:p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加权汇总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6C723-3459-4F94-93ED-B175999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代理效用 = Σ（PEFT 位点权重 × 梯度余弦相似度）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04F619-5D47-43B6-8790-D6190018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每个位点梯度随机投影至 256 维并归一化；在同一 (p,t) 桶内做秩归一化。共享信号可用于多个配置。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D10E57-D3E0-402B-AC83-26DF5916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方法四：短更新标签校正代理排序误差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B786C-8AD8-4ECD-90B9-B9BF2EE4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问题：真正进行少量更新后，任务样本集的损失是否下降？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4A7C3-F9A9-4EFC-82F7-624BD1D4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2876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9D23A-614F-468D-9A2E-28F8A307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47950"/>
            <a:ext cx="264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基础模型 / 热身检查点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A3D3F-8AA6-40A0-A923-4B11964C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857500"/>
            <a:ext cx="3905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03D09-EDD7-4653-9D52-540EF0F7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257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4244F-A47B-4F66-B608-04016593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目标样本 + 7 条匹配样本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2D80F-654B-400D-9890-D1E584F7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37147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76D8C-9E99-4614-87D6-F54D836E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304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8E65E-CAA2-4AD4-B041-A6964553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47950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执行 1 步 / 4 步 PEFT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CDA1E-9C40-4549-A450-18969AA5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385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Δ = 更新前任务损失 − 更新后任务损失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16D17-8062-4805-81DC-846D268D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91075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24555-8213-4609-B9E0-49C7F1B7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10K 标签预算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A8F14C-6D7F-480B-A107-5DD746DD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81600"/>
            <a:ext cx="220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覆盖采样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A6C7E4-1D0F-4AA9-AB82-7CB4F4B1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81600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不确定性采样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D1C67-C242-440B-83ED-41A089E1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181600"/>
            <a:ext cx="2419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边界误差采样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3DB7C7-A240-4EAB-B526-2FBE936D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197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先覆盖配置与任务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D0CFC1-87DB-4885-96BC-E1211543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2447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补充预测不稳定区域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4E447B-BA9B-4CB4-AA99-05C2F1A2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6197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关注选择阈值附近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234B97-4046-4174-83A7-26E617FF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在相同配置、任务、锚点和步数内比较相对秩；标签近似小批次短期作用，不等同于单样本长期因果贡献。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85CFA-059F-4D57-9F3B-94FDCE34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方法五：让配置与任务调节样本评分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76E75-6474-4E68-9C3F-60388B55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71725"/>
            <a:ext cx="24384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E029F-FDA6-4D74-B787-52649D39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47925"/>
            <a:ext cx="2209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样本表征 zₓ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2A6B0-E928-4BE3-A88D-7CA39411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86225"/>
            <a:ext cx="2438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E242B-F68B-4F48-A610-AF179906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62425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配置 zₚ + 任务 zₜ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37B6A-3BF0-4EB4-ABE0-75539AD9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90800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69704-E898-4047-A8A0-A16694E5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71725"/>
            <a:ext cx="20669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EF999-129A-453A-A181-74D42B81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47925"/>
            <a:ext cx="18383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样本编码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E3D1A-4EC8-4EC0-B9AB-AEA81659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28975"/>
            <a:ext cx="257175" cy="6762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135A9-0B50-49C5-919B-070E2D3F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371975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46922-A7F8-43F8-8075-DB036AA6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86225"/>
            <a:ext cx="20669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9089B-C27C-42C1-9629-C7AE2645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162425"/>
            <a:ext cx="1838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FiLM 调节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AB63E-E642-4E19-87F2-B51B996D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7197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67027-0FE2-4F54-91ED-B9E1311B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86225"/>
            <a:ext cx="26860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102A1-0F8A-45EE-9BEC-C49EAC21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6242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融合与双线性交互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1796D-796F-47D9-8801-4580A666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848225"/>
            <a:ext cx="0" cy="2952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2DCDB-C095-4E2D-B9CB-5578242D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143500"/>
            <a:ext cx="60388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F91239-48B9-4DE8-82AF-717752FE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943475"/>
            <a:ext cx="190500" cy="2000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662F6-2D23-4769-BD21-09190B2A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9112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配置与任务编码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1215D7-D999-4176-BD0E-8D71554B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3719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325D58-8BFD-41B1-BA26-42223C99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95750"/>
            <a:ext cx="1619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μ：效用预测</a:t>
            </a:r>
          </a:p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σ：预测噪声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A167DC-4903-4A8F-8519-2F7C9920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阶段 A：学习代理排序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CDD84D-3D5A-456C-9AE1-99ECC76A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阶段 B：短更新校正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排序 + 回归 + 不确定性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3A5F64-22AE-45CB-B701-7905B22E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57850"/>
            <a:ext cx="5210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q = μ − 0.2σ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1D3B2D-FB81-4E0B-94BC-44C32CCB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00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先理解样本，再用目标条件调整价值判断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95B44C-0181-492E-8B25-AAA0E94B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FiLM 用目标信息缩放、平移样本特征；双线性项刻画样本与配置的相容性。σ 用于排序惩罚，不是置信区间。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A28A52-E74D-4F23-9FBA-6ACAB21B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方法六：把预算分给不同语义簇，再做簇内选择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95351-F1FE-4F32-9B60-9221766A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全局 Top-k 可能选中大量近似样本，聚类配额兼顾效用与覆盖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B5C6C-70C3-4289-9EAD-F39A671C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669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语义簇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16629-F173-4921-BCC4-4633E6C3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24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按簇内得分从高到低排列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3F6F3-254A-4199-BB88-6C2F8A8F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A5957-89CF-4233-9821-57E2D55D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89387-6BAD-4608-8147-5B1B7C98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B94DA-8308-42B4-9FC8-29BD319B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1B2B2-2B4A-4335-97C3-D010D9B9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090B2-0AF3-4F8E-93B8-A822335B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78FE7-A966-401B-9CA1-109A8967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CC086-6602-4BD0-A3C9-647A4DDC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7E277-60AC-4DC9-8A2C-E9498050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29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分配 3 个名额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97FB2A-0E02-4B85-B827-1EBE5510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语义簇 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49A26F-181A-4001-A1D2-429DAC42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24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按簇内得分从高到低排列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5DFF6-6A13-404A-8817-8CFEEBB3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B183E-54AA-47B2-9963-0D646199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307FE2-210E-4D0D-A324-AE2E3339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C3CBED-E0CD-4BF9-9AB8-96F9E23E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F7C69E-C330-4605-8489-DD68AA94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A840FC-8772-4D77-854E-04CC4C94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5B5124-93D7-4174-ADBB-328CE219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6291B-DF70-4F44-BFE4-DC797848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49BB44-C6D9-4BEF-89B1-5D6BFFD9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29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分配 4 个名额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BB72E9-097E-4409-AD54-4EEB622F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669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语义簇 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FDEF1F-3710-496A-B044-79EC2EE5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24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按簇内得分从高到低排列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2BC4EA-A93B-4189-B11A-D5A19A5A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965218-1BEC-44C6-8E75-948F3EEC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634F5F-91BA-42C5-A493-729B9EBA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33B624-67CD-46C0-9119-CA69B214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701A66-38E8-4766-A222-595B1B23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3A33F6-BE97-4C03-8D15-1F3BAD0E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F1E7B9-62C9-4193-9AA4-B6447DDD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888ADC-5DA6-41B0-AA26-8211E09F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1257D4-C23B-4B2C-91A6-F80BFB61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29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分配 5 个名额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4415B4-786A-4353-AD61-E0C50536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76900"/>
            <a:ext cx="6648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bₖ ∝ (簇价值⁺)⁰·⁶ × (簇规模)⁰·⁴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C13C62-F634-49B4-8FA6-A7630337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791200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总配额严格等于 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469B87-21CB-48E9-895A-365A2315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图为 12 个名额的说明性示意。实际设定：300K 候选、547 簇、30K 子集；按簇内前 10% 平均分估计簇价值。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35C5F0-F5E2-436D-83A4-0EF2C86E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实验设置：在同一骨干上比较多任务、多配置选数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C3DAB-3299-425B-A6E9-23B032C3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244E8-20D3-4E8C-ACF9-2E600441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956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固定骨干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7FCF1-E007-4EE0-A783-49437D2E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194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Llama-2-7B</a:t>
            </a:r>
          </a:p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共用冻结基础检查点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78DC8-34A3-4840-BA20-403145B6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574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B32A6-CE55-4A21-A569-48725F51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D3FCF-3878-4B33-A91C-F114060C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194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GSM8K / HumanEval</a:t>
            </a:r>
          </a:p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MMLU / TyDiQA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8CF48-5C02-4EE9-820C-A07BF5B8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574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E8CBB-17D0-45CF-B87D-EFD75C4A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956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已见 PEFT 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F72C4-6188-4418-BC1A-8257428B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194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LoRA 3 种配置</a:t>
            </a:r>
          </a:p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IA3 与 Adapter 各 1 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75E7E-D9E4-4034-BF0A-C1E641A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9329C-629F-4993-A99C-2B8C8B68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149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300K 候选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0E226-C13D-473A-910E-8206B9BC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14925"/>
            <a:ext cx="3933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10% 预算 = 30K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A6E49-F430-4BC6-8569-C80EEAA7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114925"/>
            <a:ext cx="300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32 条任务样本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40B79-CBE4-4481-AD37-8C7F4C15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比较 Random、RDS+、Influence、LESS 和 PCU-Select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E8095-392A-4A5B-9275-336166B0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稿件设定：固定选择种子，下游种子 0 / 1 / 2。按下游训练种子汇总结果。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084089-B65D-416F-B4CF-BA69950E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总体结果：PCU-Select 的质量与逐配置 LESS 接近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F958F-5F5F-4526-8BD2-92845F2A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四任务、五配置宏平均，均使用 10% 的候选数据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14375" y="2419350"/>
          <a:ext xmlns:a="http://schemas.openxmlformats.org/drawingml/2006/main" cx="7848600" cy="325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3195a2488545ca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7242A-D465-444C-9807-23BB8559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33650"/>
            <a:ext cx="2428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35.18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4142A-8663-450B-B623-966D0AA4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81375"/>
            <a:ext cx="2428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PCU-Select 宏平均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8F744-09F6-4E4A-AA58-F252D082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62450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相对 LESS  +0.04</a:t>
            </a:r>
          </a:p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相对 RDS+  +0.74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4EBA5-4260-44B2-B607-F5344BEA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主要价值：保持目标针对性，为后续计算摊销创造空间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54044-9C62-4DC2-AA4B-61043528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宏平均为任务原始百分制指标的等权均值，不是统一准确率；+0.04 不解释为显著领先。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F57F5-6250-45CC-8568-581E2E9B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任务分析：收益因任务而异，不应只看宏平均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22D52-71C8-41F5-8520-ECFA7692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PCU-Select 相对 LESS 的变化，零线表示两者持平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2343150"/>
          <a:ext xmlns:a="http://schemas.openxmlformats.org/drawingml/2006/main" cx="6410325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b4e604e7894ec1"/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7620000" y="2419350"/>
          <a:ext xmlns:a="http://schemas.openxmlformats.org/drawingml/2006/main" cx="3857625" cy="30384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14475"/>
                <a:gridCol w="1162050"/>
                <a:gridCol w="1181100"/>
              </a:tblGrid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任务指标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LESS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PCU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EM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21.91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22.20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Pass@1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17.10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17.06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Accuracy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48.48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49.14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53.07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52.30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BFF5D-5515-4F4A-8239-BD36699A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GSM8K、MMLU 较高，HumanEval 接近，TyDiQA 有下降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F85DF-380F-4EBD-8624-C32E65D8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每个任务先对 5 个 PEFT 求均值。差值依据未四舍五入值计算，单位为各任务原始指标点。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3E759-A92B-436A-A008-B918EFA7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消融分析：配置条件与聚类配额都影响质量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F83F1-5FF2-43F7-9660-DA1B15E3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去除相应组件后，相对完整方法 19.72 的分数下降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14375" y="2333625"/>
          <a:ext xmlns:a="http://schemas.openxmlformats.org/drawingml/2006/main" cx="7743825" cy="3295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7c9ff858094876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C4E23-FA6A-4282-9E37-E48D9F01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14600"/>
            <a:ext cx="2419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7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1.37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E6949-72AB-459A-B009-A4304125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71850"/>
            <a:ext cx="24193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去除 PEFT 编码</a:t>
            </a:r>
          </a:p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下降最大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F4716-8C25-4FEE-85DC-EE16BBF8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4767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1.08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A74D8-544D-4FF1-A2A5-CF830AEC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197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改用全局 Top-k 的下降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F0EBC-FE3C-4175-9861-2C3748C3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GSM8K + HumanEval、两个代表配置、10% 预算，与总体主表的 35.18 口径不同。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1195D-7117-4B19-BEFB-446F14E3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成本分析：前期投入随服务配置数摊销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81446-A8B1-4A76-AF6E-6BAFC375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累计选数成本 / GPU 小时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95325" y="2152650"/>
          <a:ext xmlns:a="http://schemas.openxmlformats.org/drawingml/2006/main" cx="7753350" cy="3362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9917f4365c4449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86246-1104-4E33-8D16-FA147926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295525"/>
            <a:ext cx="2590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PCU：144 + 1.51P</a:t>
            </a:r>
          </a:p>
          <a:p xmlns:a="http://schemas.openxmlformats.org/drawingml/2006/main">
            <a:pPr algn="l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LESS：63.2P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E83B0-BA30-4B71-9189-4FA7C99F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629025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约第 3 套配置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45243-E229-4E9E-B727-665C9FA8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105275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跨过累计成本交点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07260-A4A0-4F9D-9E6C-21E00E19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810125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5 套配置时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01BB6-DA2C-4F62-A907-548DDD51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238750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151.6 对 316.0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C86ED-1E49-4D95-91E2-EFFEBCF8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LESS / PCU 成本比：新增配置约 42，五配置累计约 2.09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818F9-9FD8-48C2-99B6-C0FC6974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PCU 含一次 144 GPU 小时前期投入，成本不含下游训练。边际比较是新增 PEFT × 4 任务。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D3B34-33BC-472E-9C32-BF1F6E52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适用边界：根据目标与训练支持集的距离使用评分器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AE0B2-6420-433E-BBF7-28489A83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已见目标可直接评分，未见目标按支持距离分级；当前限定同一骨干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AC7FD-0AD9-45A4-8A14-8B50F184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L0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D567D-8062-4DAE-A068-7F7ED19D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近支持目标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6A201-2D9F-49E2-B49F-1C82EAC5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95550"/>
            <a:ext cx="4791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直接使用已训练评分器与缓存表征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20C9B-CB4F-40C5-93CF-BEEFF9ED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38500"/>
            <a:ext cx="91916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7DAE6-678D-4EB7-BE60-63E3AF47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95675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L1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F65B5-F91C-4C85-A3DB-68A8A50D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71875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家族内较大配置变化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71042-BFE7-4124-86F4-308D8718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90925"/>
            <a:ext cx="4791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兼容标签可用时校准，否则逐目标选择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C4D521-98C1-4EAD-BD04-8E428E5C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33875"/>
            <a:ext cx="91916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A0CAC-258D-47D5-A9E9-96B0B6D5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910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L2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1A317D-B5F9-41F1-957D-00E5CC5F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6725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未见更新结构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8F0A0-92E9-4255-94EF-5840AEF4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4791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兼容时校准，否则回退逐目标选择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7A97E-DBDA-4B1F-82B0-CB93D25C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Prefix、P-Tuning 等结构不直接承诺零样本通用支持。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BD713-EBFB-4056-8DD9-C7B80F11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工作一进展：形成条件选数方法与可复用实现基础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B7B8E-D70A-4DEB-8323-1F594564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62175"/>
            <a:ext cx="1190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1FA66-A810-46C7-B706-1B921556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问题建模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650B4-047D-48CF-A048-54CDAFCF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90750"/>
            <a:ext cx="5791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将数据价值建模为样本、配置与任务的条件效用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8ED8B-829E-4BA1-8B4D-402D314C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67050"/>
            <a:ext cx="92487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87223-419D-496B-861F-B76A8C4C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43275"/>
            <a:ext cx="1190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458B7-3C1D-47F6-ABCA-DD6935E4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0995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方法设计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BBA92-7C84-4520-AB66-8C0CCD48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371850"/>
            <a:ext cx="5791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共享位点、多保真标签、条件评分与聚类配额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0DB13-BA66-442A-BBA9-1F73F092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248150"/>
            <a:ext cx="92487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C358B-0997-40FD-BAF4-D179C9D6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190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4EEC9-2976-495F-A4E7-0791AF8D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9105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论文与实现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A0FAF-570A-4AA9-8452-786158F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552950"/>
            <a:ext cx="5791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形成论文稿件，具备特征缓存、PEFT 注册与训练评测脚本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1DAE4-685A-4F9B-830E-00E08B5B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下一步：原始日志核验、独立重复、分项计时与未见配置复验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36AF5-3295-4986-B668-61722721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后续工作：让算法支撑可重复的多配置实验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72291-C773-41E5-9DEB-24787C28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763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基于 PCU-Select 的多配置数据选择与微调实验管理系统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17E27-5484-45C0-9496-251C0601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38385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已有算法能力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2909D-1BF9-4A2A-8E26-564F0D8B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427672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样本与任务表征缓存</a:t>
            </a:r>
          </a:p>
          <a:p xmlns:a="http://schemas.openxmlformats.org/drawingml/2006/main">
            <a:pPr algn="l">
              <a:def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条件评分与聚类配额</a:t>
            </a:r>
          </a:p>
          <a:p xmlns:a="http://schemas.openxmlformats.org/drawingml/2006/main">
            <a:pPr algn="l">
              <a:def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PEFT 注册、训练评测脚本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91E01-599C-4074-AF0C-04A74525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914775"/>
            <a:ext cx="742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8A2EC-2015-424D-9F81-59D8A18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14625"/>
            <a:ext cx="4781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系统增加的能力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1B9C7-4F73-4277-9E7F-00E8CFA8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76625"/>
            <a:ext cx="47815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识别产物依赖，避免错误复用</a:t>
            </a:r>
          </a:p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合并公共计算，批量执行</a:t>
            </a:r>
          </a:p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隔离结果，中断后按阶段恢复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E5F77-B989-415B-91C6-FAB6328B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首版采用单工作节点、任务队列、元数据索引与本地产物库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09A67-1A56-4ADD-9776-6037F96C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提供简洁控制台，完成登记数据与任务、提交实验矩阵、查看复用计划、执行与报告导出。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D9DF1-93A0-4708-A871-9584D792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两项工程机制：正确复用产物，可靠执行实验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E7AA6-19B4-44FD-8815-5A22EB79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5095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分层缓存与增量复用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18952-AA1A-4771-BCAF-8B43D5AE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公共计算去重与阶段恢复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3AFD4-A3E7-4E3D-BA51-44B01258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24050"/>
            <a:ext cx="0" cy="39243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0CDCA-84BD-4064-B72A-EF711D44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219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7C0E8-2855-4BAC-B3CF-27CB4E7D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527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内容与版本依赖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51DE3-CA80-4F4C-BD53-AFE1E0E7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68C40-3144-4323-BE51-7ECE20DF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76550"/>
            <a:ext cx="2152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1F4EE-7F1E-4C8E-B668-DF0D5E16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527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受影响节点重算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A3E7E-0D36-4B33-9696-ABDCD7C3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5095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仅改预算：复用评分、聚类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仅改训练种子：复用子集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追加样本：补算特征与评分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832D7-23E8-4431-80AA-20EF9988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2047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D56068-2B11-4988-A258-FEBFE94A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52750"/>
            <a:ext cx="1819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相同输入节点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8D3FB-30E6-4F7F-9BB0-10F2083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0515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A5DAC-D49B-40AE-938D-4D5CAF31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76550"/>
            <a:ext cx="2152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880FF-3600-46A7-8E28-7F7BB7BD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9527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只执行一次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E34A5-5F66-4714-B287-910FD566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62400"/>
            <a:ext cx="48672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临时写入、校验与原子提交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完成标记和请求独立目录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中断后仅重跑失败阶段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029C53-7F54-4038-BDD0-43F53BBF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追加样本仍需重算完整池聚类与配额。首版固定评分器版本，候选顺序纳入依赖，恢复到阶段边界。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57575E-0445-4D7A-BC53-F416D105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执行示例：24 次训练共享哪些前置计算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342B3-4BB7-4906-B63D-EF1641A8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2 种 PEFT × 2 个任务 × 3 个预算 × 2 个训练种子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7A6A7-A232-4723-A896-B4C7512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38450"/>
            <a:ext cx="2419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02D22-4031-4B01-B31E-F959E714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24193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1FE40-B2A5-4689-A543-D01FC29B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1485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FA7E8-6EED-4E87-B662-2524B85E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43500"/>
            <a:ext cx="2514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 配置 × 2 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D34AF-3A38-466B-B0DE-61B8B0FD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8450"/>
            <a:ext cx="2419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D3417-9441-4ABD-8117-2BBC51EF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38625"/>
            <a:ext cx="24193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BDBC2-CD7E-4D10-9B70-EA5292FB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1485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完整池聚类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EF7AA-3E87-497E-A6B2-0611FAE5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43500"/>
            <a:ext cx="2514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同一语义候选池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3B5E2-00D3-4D3B-958E-26F5F9F7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38450"/>
            <a:ext cx="2419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4F137-D6C5-4676-96C7-DDFBE75E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38625"/>
            <a:ext cx="24193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38AF5-B5E0-424C-A83A-AA282BC8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1485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独立子集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DC3BA-93D0-4254-8E37-9921E20C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143500"/>
            <a:ext cx="2514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4 个目标 × 3 预算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6EBD5-58EF-44B8-83BF-626BAACA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38450"/>
            <a:ext cx="2419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C87C1-C44F-4A4D-B0F4-ACEA0DED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38625"/>
            <a:ext cx="24193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B1F30B-2923-4245-B3BE-7A124AEB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1485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训练实验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ABE322-4997-4974-8689-27963D20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43500"/>
            <a:ext cx="2514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 子集 × 2 种子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126EE-CC9A-420A-959A-BB24F0CC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固定特征、评分器、聚类配置与选择种子。各任务与配置仍使用自己的子集；执行次数不等于端到端加速倍数。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2EC0EB-AE6B-4DF8-94A7-5F298457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验证计划：比较三组流程，分别测量两项机制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45503-2097-466C-BEC3-E62034C8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已有批量脚本 / 加入依赖缓存 / 完整系统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14375" y="2324100"/>
          <a:ext xmlns:a="http://schemas.openxmlformats.org/drawingml/2006/main" cx="10763250" cy="30765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4219575"/>
                <a:gridCol w="3971925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怎样测试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记录什么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14001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缓存与增量复用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改变预算或训练种子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 1% / 5% / 10% 样本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 ID 改内容、改变顺序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重算样本与节点数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评分和子集一致性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时间与存储开销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11239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去重与阶段恢复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冷启动执行 24 组矩阵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评分、写子集、训练阶段中断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节点执行次数、恢复时间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额外重算量、结果隔离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8FEC9-1386-4476-92C3-5A3EDA61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先与完整重算核对正确性，再报告选数和端到端耗时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B7DBB-5EB1-4DEE-828E-97FA241F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已有脚本已含特征缓存，作为实际基线。冷启动去重与热缓存增量复用分开统计，不预设收益倍数。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12C8C-53F1-47BE-B158-82A9A752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后续安排：中期后 8 周分阶段推进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9215F-BE38-4E41-88D6-4D3EF846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204C9-0CA4-4464-B302-92BF0B3B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9098F-D8CF-4E32-8A35-AD156083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D481A-1414-4342-B86E-1A72FE6C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F2E7E-8773-4761-AAB7-73220720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F9717-8619-4332-BAEF-9441A6D4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57662-A00F-4A05-8361-9C20D251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CE5B5-1535-4FB8-9CD0-F408CB32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6556B-07D2-428F-B7C3-CD928AD0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周次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659BD-06FD-4A70-83AD-8A87A5DF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241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依赖规范与接口拆分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D4539-9237-4A33-A196-C260F471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72E2B-73D9-4E4F-AC63-E38132BD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A5958-93F7-47BD-9784-0FC124AA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7AB6D7-3D37-4E8E-ADA3-1B2C1463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909A8-46AC-4569-8457-CD8CAFD5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978C7A-9418-4088-BDA3-2D2C88EA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65F326-824A-4149-8E87-DCEE2282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1F37BC-A70F-409A-9155-0739D37A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9ADC31-EEEA-4376-BA5E-75BEF783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9875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893740-4755-4C5D-931B-9126CAE8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缓存与增量复用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065E37-0F2B-4B22-9157-6FBD9812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EDCAF4-58A3-4E43-9D08-78F8C772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084F3D-BDE7-4E3D-97D2-08ACF6F1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33DEA1-03BD-41EF-99CA-3095521E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084052-FE0B-4493-AC89-D5DB0097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7E8363-40A6-48E5-8F75-F8455709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6424EE-3ACA-4275-8090-B3E3E840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FD2DE7-9975-413D-9DEE-F496BA4F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55DDE4-9459-4D14-86B4-AE3776FC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8BC6D2-FA54-4472-A349-7F0C945D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719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去重、恢复与控制台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850D10-50F8-466E-B472-B1A6FB27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F45A9F-6D64-41CF-AD9A-844E621A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E9E647-1CA2-48B1-A5AF-01B6B001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042762-048B-44A0-AAFD-2B6E390E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DA59D1-20A3-4C28-92BA-204C44B5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43DF3A-B785-4F77-88F5-AB14A22F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03B7E2-085E-4B38-81DE-B93A940C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006FE3-3E6D-40CF-81CF-2B649AC8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C0E86B-E694-47A6-B71B-2FABE2B8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57675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10E0B0-6461-456F-AD27-475C2F62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对照验证与论文整合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4A35EA-288E-44BE-A8DC-948B88B3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AFC0B4-0990-49D2-B936-0539A13D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24AB63-1158-4CB4-AFC8-887CF3BD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6BE83D-E93D-4512-9776-F13D05B8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3F1E9D-8D6F-49DD-8C80-F75386E0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9326A0-8B7D-4C05-A6DD-6F583D7B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1C3BAA-ADCC-4A2A-83E1-90372FCD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83C120-B341-473A-AC89-990A395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5E80A5-EAEE-462D-B550-F29174BB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81575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0FF49D-8B60-4678-8D6D-E4FC5404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7692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并行推进工作一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1FD052-E86E-4D35-A544-5A293B2A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76925"/>
            <a:ext cx="742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整理实验记录、配置协议与分项计时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65F9B3-FE07-41CE-8BC2-9E5DD7D8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第 2 周交付最小流程，第 4 周验证复用边界，第 6 周演示 24 组矩阵，第 8 周交付系统与验证报告。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06929E-A871-4F07-9567-F5ED5D79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总结：条件选数方法与实验系统形成衔接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48BC2-2750-4745-ADB6-83C43CB9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2638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工作一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B2977-717E-4417-BE8C-2E502AB7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57400"/>
            <a:ext cx="766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PCU-Select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DFC1E-494D-4F09-9DFD-38A790D4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667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通过共享表征与条件评分，为不同目标生成各自的数据子集</a:t>
            </a:r>
          </a:p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稿件分析重点是质量保持，以及跨配置服务的成本摊销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47A2B-700D-4F57-95AE-197A1BD2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4815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B8DEE-09B7-4CCC-8138-5CE98A46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0100"/>
            <a:ext cx="2638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工作二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7064A-E4CD-4677-85D1-740FAB04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0100"/>
            <a:ext cx="766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多配置实验管理系统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3087F-B824-467F-8C65-11C0E87E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48300"/>
            <a:ext cx="766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复用工作一的算法模块，验证缓存、去重与阶段恢复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交付可运行系统、对照报告及可追溯实验材料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86C58-86A8-4D29-A74E-6392AA39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3817B2AF-1857-46A9-BE72-E1460AE2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84236"/>
          </a:bodyPr>
          <a:lstStyle xmlns:a="http://schemas.openxmlformats.org/drawingml/2006/main"/>
          <a:p xmlns:a="http://schemas.openxmlformats.org/drawingml/2006/main">
            <a:r>
              <a:t>感谢各位老师</a:t>
            </a:r>
            <a:endParaRPr/>
          </a:p>
          <a:p xmlns:a="http://schemas.openxmlformats.org/drawingml/2006/main">
            <a:r>
              <a:t>请批评指正</a:t>
            </a:r>
            <a:endParaRPr/>
          </a:p>
        </p:txBody>
      </p:sp>
      <p:sp>
        <p:nvSpPr>
          <p:cNvPr id="10" name="署名">
            <a:extLst xmlns:a="http://schemas.openxmlformats.org/drawingml/2006/main">
              <a:ext uri="{FF2B5EF4-FFF2-40B4-BE49-F238E27FC236}">
                <a16:creationId xmlns:a16="http://schemas.microsoft.com/office/drawing/2014/main" id="{ABCC7FA1-F642-4E71-B282-AF62852DF608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汇报人: 林肯</a:t>
            </a:r>
            <a:r>
              <a:t>达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671695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备用：四任务均值在五个 PEFT 上的比较</a:t>
            </a:r>
            <a:endParaRPr/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14375" y="2028825"/>
          <a:ext xmlns:a="http://schemas.openxmlformats.org/drawingml/2006/main" cx="10763250" cy="3371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14550"/>
                <a:gridCol w="1485900"/>
                <a:gridCol w="1485900"/>
                <a:gridCol w="1485900"/>
                <a:gridCol w="1485900"/>
                <a:gridCol w="1485900"/>
                <a:gridCol w="1219200"/>
              </a:tblGrid>
              <a:tr h="7524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Adapter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b64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IA3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attn+mlp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LoRA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r16-qkvo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LoRA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r8-mlp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LoRA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r8-qv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Random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32.79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31.74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33.11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31.97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31.82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32.29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RDS+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35.27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33.54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35.00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34.46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33.91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34.44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Influence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35.08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33.84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35.24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34.69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34.53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34.68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LESS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35.52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34.44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35.80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35.13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34.80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PCU-Select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35.61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34.60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35.93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34.56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2DCB8-455A-4FCE-8A31-A26757F8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宏平均接近不代表每套配置、每项任务都更优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B7AF1-3515-4FE0-9681-B6D45A16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四项任务原始百分制指标等权平均。仅展示均值。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C4C2D-2196-48DB-8816-C838377B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备用：前期成本、在线成本与校准成本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4B10D-0838-49A7-95EA-2DE3C40F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前期共 144 GPU 小时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14375" y="2305050"/>
          <a:ext xmlns:a="http://schemas.openxmlformats.org/drawingml/2006/main" cx="4743450" cy="2838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05150"/>
                <a:gridCol w="1638300"/>
              </a:tblGrid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离线项目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小时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样本特征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48.0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梯度代理标签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短更新标签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评分器训练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C5B22-D757-48A6-B548-9354E12E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47825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在线成本取决于新增目标的类型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105525" y="2609850"/>
          <a:ext xmlns:a="http://schemas.openxmlformats.org/drawingml/2006/main" cx="5372100" cy="2533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1257300"/>
                <a:gridCol w="125730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PCU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LESS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9810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已有 PEFT 新增 1 任务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0.3775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 PEFT × 4 任务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1.51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63.20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313B7-585B-46F7-9AD8-0D58BE9D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578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Cal-500 额外成本：每个 (p,t) +1.05，四任务合计 +4.20 GPU 小时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10AE5-AF67-4D6B-AE98-CDEC61E1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成本不含下游训练。在线 0.3775 包含聚类口径，分项残差仍需核对；边际 42 倍不适用于只新增任务。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46E68-2BA2-49E5-AE3E-1E311D5D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备用：输入变化对应的复用与重算范围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819275"/>
          <a:ext xmlns:a="http://schemas.openxmlformats.org/drawingml/2006/main" cx="10763250" cy="3810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71825"/>
                <a:gridCol w="3705225"/>
                <a:gridCol w="3886200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输入变化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允许复用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需要重算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6286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只改变选数预算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特征、任务表示、评分、聚类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配额与各自子集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只改变下游训练种子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选择种子保持不变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选择结果及其上游产物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训练与评测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10096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追加候选样本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评分条件保持不变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旧样本的兼容特征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旧样本逐样本评分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新增样本特征、评分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完整池聚类、配额与子集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内容、版本或顺序变化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依赖检查后仍兼容的产物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受影响节点及其下游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FE6E4-3F8A-4065-B9A6-6D1A9C4C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内容摘要、模型与评分器版本、预处理、候选顺序、随机种子和产物校验值纳入清单。同名样本不能绕过内容检查。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8A37C-79EB-457A-A3F1-3A35A0C6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备用：实验数据口径与复现要求</a:t>
            </a:r>
            <a:endParaRPr/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14375" y="1962150"/>
          <a:ext xmlns:a="http://schemas.openxmlformats.org/drawingml/2006/main" cx="10763250" cy="34004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19350"/>
                <a:gridCol w="4000500"/>
                <a:gridCol w="4343400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检查项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当前记录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下一步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95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主表与独立重复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按训练种子汇总实验结果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整理训练日志与独立重复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按任务与配置汇总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动机分析与成本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PEFT 配置相关性实验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成本采用稿件汇总口径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整理配置迁移结果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逐阶段记录计时与硬件条件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95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结构外配置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LN-Tuning 校准实验结果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结构差异需兼容性检查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整理独立实验记录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明确校准、回退范围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6DF9D-E59A-4FE9-AA7D-FF9BEA60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实验记录关联数据版本、配置、训练种子与计时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2803D-F2F2-4339-A0BF-FB694ABA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核对来源：competition_numbers.py、revise_motivation_figure.py、competition_revision_notes.md。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F384C-62D8-4818-AE6F-52504DCE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备用：代理标签、保守评分与预算分配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3D916-F3C7-480C-89EE-1599C8B8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代理标签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2916E-1016-48FC-B7DC-13105E64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823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uˡᵒ(x,p,t) = Σ w̃ₚ(ω) · cos(gₓ(ω), gₜ(ω))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BA7AE-E72B-4EC6-8DEE-7B7777E7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05100"/>
            <a:ext cx="823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对共享位点 ω 求和，权重由激活掩码与容量缩放决定并归一化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641E4-BE34-487F-AFF8-C9476AB3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D8495-A832-4CCA-BB71-63915B24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保守评分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2B007-99D9-4228-A7CF-8C117710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29000"/>
            <a:ext cx="823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q(x,p,t) = μ(x,p,t) − 0.2 σ(x,p,t)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5AB30-A42F-466F-90F5-D9282E2E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57650"/>
            <a:ext cx="823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以效用预测为主，惩罚预测噪声带来的过度乐观排序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5D270-BD30-448D-8357-2FAD1676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5295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C88F0-D90E-4301-B8F6-C0C1471F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815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预算分配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13CED-6342-4C47-BEAC-5D2D8A56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823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bₖ ∝ (vₖ⁺)⁰·⁶ × |Cₖ|⁰·⁴ ， Σₖ bₖ =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A85B2-E1F7-4C7F-8585-7014BC90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10200"/>
            <a:ext cx="823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vₖ 取簇内前 10% 平均分，确定性余数分配保证预算一致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89B77-928D-4559-BA4F-6CEFF95B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高保真标签使用更新前后任务损失之差，在相同配置、任务、锚点和步数内归一化。σ 不是置信区间。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D7641-7EF9-4B3B-9393-58E0F72F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2026-09-11T08:50:26.2720000Z</dcterms:created>
  <dcterms:modified xsi:type="dcterms:W3CDTF">2026-09-11T08:50:26.2720000Z</dcterms:modified>
</coreProperties>
</file>