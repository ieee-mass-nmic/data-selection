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3a8d3b7ce84e0f" /><Relationship Type="http://schemas.openxmlformats.org/officeDocument/2006/relationships/extended-properties" Target="/docProps/app.xml" Id="R7c25c82454884d46" /><Relationship Type="http://schemas.openxmlformats.org/officeDocument/2006/relationships/officeDocument" Target="/ppt/presentation.xml" Id="Re9b19b0c621246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a8367ccd3e477a"/>
  </p:sldMasterIdLst>
  <p:notesMasterIdLst>
    <p:notesMasterId xmlns:r="http://schemas.openxmlformats.org/officeDocument/2006/relationships" r:id="Rb82d25d4e87c403e"/>
  </p:notesMasterIdLst>
  <p:sldIdLst>
    <p:sldId xmlns:r="http://schemas.openxmlformats.org/officeDocument/2006/relationships" id="256" r:id="R3b6be44abad14890"/>
    <p:sldId xmlns:r="http://schemas.openxmlformats.org/officeDocument/2006/relationships" id="257" r:id="R03421b57402c4132"/>
    <p:sldId xmlns:r="http://schemas.openxmlformats.org/officeDocument/2006/relationships" id="258" r:id="R4590577174cf43c0"/>
    <p:sldId xmlns:r="http://schemas.openxmlformats.org/officeDocument/2006/relationships" id="259" r:id="Ra5df94963aa9433b"/>
    <p:sldId xmlns:r="http://schemas.openxmlformats.org/officeDocument/2006/relationships" id="260" r:id="R5e570455b80945ae"/>
    <p:sldId xmlns:r="http://schemas.openxmlformats.org/officeDocument/2006/relationships" id="261" r:id="R041b6dbe361f444b"/>
    <p:sldId xmlns:r="http://schemas.openxmlformats.org/officeDocument/2006/relationships" id="262" r:id="Rb5a1bdd4dc7f4aea"/>
    <p:sldId xmlns:r="http://schemas.openxmlformats.org/officeDocument/2006/relationships" id="263" r:id="Rd48013a1eb1a4310"/>
    <p:sldId xmlns:r="http://schemas.openxmlformats.org/officeDocument/2006/relationships" id="264" r:id="Rdb745406657a4300"/>
    <p:sldId xmlns:r="http://schemas.openxmlformats.org/officeDocument/2006/relationships" id="265" r:id="R1e0e20d097a74f3c"/>
    <p:sldId xmlns:r="http://schemas.openxmlformats.org/officeDocument/2006/relationships" id="266" r:id="R3972fefd77e941a2"/>
    <p:sldId xmlns:r="http://schemas.openxmlformats.org/officeDocument/2006/relationships" id="267" r:id="R5b5424a6d0104535"/>
    <p:sldId xmlns:r="http://schemas.openxmlformats.org/officeDocument/2006/relationships" id="268" r:id="R8987b43408074e68"/>
    <p:sldId xmlns:r="http://schemas.openxmlformats.org/officeDocument/2006/relationships" id="269" r:id="Rbc6e87f93b59458d"/>
    <p:sldId xmlns:r="http://schemas.openxmlformats.org/officeDocument/2006/relationships" id="270" r:id="R9ba80e91c5994d74"/>
    <p:sldId xmlns:r="http://schemas.openxmlformats.org/officeDocument/2006/relationships" id="271" r:id="R356063136d494e2c"/>
    <p:sldId xmlns:r="http://schemas.openxmlformats.org/officeDocument/2006/relationships" id="272" r:id="Rb450707078a340bd"/>
    <p:sldId xmlns:r="http://schemas.openxmlformats.org/officeDocument/2006/relationships" id="273" r:id="R2312123ee0624165"/>
    <p:sldId xmlns:r="http://schemas.openxmlformats.org/officeDocument/2006/relationships" id="274" r:id="Rb3344e4f0ffa41f4"/>
    <p:sldId xmlns:r="http://schemas.openxmlformats.org/officeDocument/2006/relationships" id="275" r:id="Rbb636bf55e224f4b"/>
    <p:sldId xmlns:r="http://schemas.openxmlformats.org/officeDocument/2006/relationships" id="276" r:id="Rda172752a156431a"/>
    <p:sldId xmlns:r="http://schemas.openxmlformats.org/officeDocument/2006/relationships" id="277" r:id="Rbd73106c41f94d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7e7be0eb4543d5" /><Relationship Type="http://schemas.openxmlformats.org/officeDocument/2006/relationships/slideMaster" Target="/ppt/slideMasters/slideMaster1.xml" Id="R15a8367ccd3e477a" /><Relationship Type="http://schemas.openxmlformats.org/officeDocument/2006/relationships/notesMaster" Target="/ppt/notesMasters/notesMaster1.xml" Id="Rb82d25d4e87c403e" /><Relationship Type="http://schemas.openxmlformats.org/officeDocument/2006/relationships/presProps" Target="/ppt/presProps.xml" Id="R1b0f87efb9e740af" /><Relationship Type="http://schemas.openxmlformats.org/officeDocument/2006/relationships/tableStyles" Target="/ppt/tableStyles.xml" Id="R479d9d3cbe2447d9" /><Relationship Type="http://schemas.openxmlformats.org/officeDocument/2006/relationships/slide" Target="/ppt/slides/slide1.xml" Id="R3b6be44abad14890" /><Relationship Type="http://schemas.openxmlformats.org/officeDocument/2006/relationships/slide" Target="/ppt/slides/slide2.xml" Id="R03421b57402c4132" /><Relationship Type="http://schemas.openxmlformats.org/officeDocument/2006/relationships/slide" Target="/ppt/slides/slide3.xml" Id="R4590577174cf43c0" /><Relationship Type="http://schemas.openxmlformats.org/officeDocument/2006/relationships/slide" Target="/ppt/slides/slide4.xml" Id="Ra5df94963aa9433b" /><Relationship Type="http://schemas.openxmlformats.org/officeDocument/2006/relationships/slide" Target="/ppt/slides/slide5.xml" Id="R5e570455b80945ae" /><Relationship Type="http://schemas.openxmlformats.org/officeDocument/2006/relationships/slide" Target="/ppt/slides/slide6.xml" Id="R041b6dbe361f444b" /><Relationship Type="http://schemas.openxmlformats.org/officeDocument/2006/relationships/slide" Target="/ppt/slides/slide7.xml" Id="Rb5a1bdd4dc7f4aea" /><Relationship Type="http://schemas.openxmlformats.org/officeDocument/2006/relationships/slide" Target="/ppt/slides/slide8.xml" Id="Rd48013a1eb1a4310" /><Relationship Type="http://schemas.openxmlformats.org/officeDocument/2006/relationships/slide" Target="/ppt/slides/slide9.xml" Id="Rdb745406657a4300" /><Relationship Type="http://schemas.openxmlformats.org/officeDocument/2006/relationships/slide" Target="/ppt/slides/slide10.xml" Id="R1e0e20d097a74f3c" /><Relationship Type="http://schemas.openxmlformats.org/officeDocument/2006/relationships/slide" Target="/ppt/slides/slide11.xml" Id="R3972fefd77e941a2" /><Relationship Type="http://schemas.openxmlformats.org/officeDocument/2006/relationships/slide" Target="/ppt/slides/slide12.xml" Id="R5b5424a6d0104535" /><Relationship Type="http://schemas.openxmlformats.org/officeDocument/2006/relationships/slide" Target="/ppt/slides/slide13.xml" Id="R8987b43408074e68" /><Relationship Type="http://schemas.openxmlformats.org/officeDocument/2006/relationships/slide" Target="/ppt/slides/slide14.xml" Id="Rbc6e87f93b59458d" /><Relationship Type="http://schemas.openxmlformats.org/officeDocument/2006/relationships/slide" Target="/ppt/slides/slide15.xml" Id="R9ba80e91c5994d74" /><Relationship Type="http://schemas.openxmlformats.org/officeDocument/2006/relationships/slide" Target="/ppt/slides/slide16.xml" Id="R356063136d494e2c" /><Relationship Type="http://schemas.openxmlformats.org/officeDocument/2006/relationships/slide" Target="/ppt/slides/slide17.xml" Id="Rb450707078a340bd" /><Relationship Type="http://schemas.openxmlformats.org/officeDocument/2006/relationships/slide" Target="/ppt/slides/slide18.xml" Id="R2312123ee0624165" /><Relationship Type="http://schemas.openxmlformats.org/officeDocument/2006/relationships/slide" Target="/ppt/slides/slide19.xml" Id="Rb3344e4f0ffa41f4" /><Relationship Type="http://schemas.openxmlformats.org/officeDocument/2006/relationships/slide" Target="/ppt/slides/slide20.xml" Id="Rbb636bf55e224f4b" /><Relationship Type="http://schemas.openxmlformats.org/officeDocument/2006/relationships/slide" Target="/ppt/slides/slide21.xml" Id="Rda172752a156431a" /><Relationship Type="http://schemas.openxmlformats.org/officeDocument/2006/relationships/slide" Target="/ppt/slides/slide22.xml" Id="Rbd73106c41f94d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d9c9dd7c194b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e8f7ebeace4a2d" /><Relationship Type="http://schemas.openxmlformats.org/officeDocument/2006/relationships/notesMaster" Target="/ppt/notesMasters/notesMaster1.xml" Id="R9c4acf21be2045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b2f38169b2447d" /><Relationship Type="http://schemas.openxmlformats.org/officeDocument/2006/relationships/notesMaster" Target="/ppt/notesMasters/notesMaster1.xml" Id="Ra3c7cd3aad6f40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0c756510f7442c" /><Relationship Type="http://schemas.openxmlformats.org/officeDocument/2006/relationships/notesMaster" Target="/ppt/notesMasters/notesMaster1.xml" Id="R3ce4cdcefe5a43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4189dfc5474d32" /><Relationship Type="http://schemas.openxmlformats.org/officeDocument/2006/relationships/notesMaster" Target="/ppt/notesMasters/notesMaster1.xml" Id="R34b4e1d0d0e44c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b432126e9a4e2c" /><Relationship Type="http://schemas.openxmlformats.org/officeDocument/2006/relationships/notesMaster" Target="/ppt/notesMasters/notesMaster1.xml" Id="Rba40a2dec4594b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a8b2e2da9c4900" /><Relationship Type="http://schemas.openxmlformats.org/officeDocument/2006/relationships/notesMaster" Target="/ppt/notesMasters/notesMaster1.xml" Id="R95ef9a5fc9ca4f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863ce0b5834dbb" /><Relationship Type="http://schemas.openxmlformats.org/officeDocument/2006/relationships/notesMaster" Target="/ppt/notesMasters/notesMaster1.xml" Id="R1b3817af6d3144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2261c9c21f4806" /><Relationship Type="http://schemas.openxmlformats.org/officeDocument/2006/relationships/notesMaster" Target="/ppt/notesMasters/notesMaster1.xml" Id="Re48b07e9d7064e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59aac6bcd74cbf" /><Relationship Type="http://schemas.openxmlformats.org/officeDocument/2006/relationships/notesMaster" Target="/ppt/notesMasters/notesMaster1.xml" Id="R1bb4cf693fb149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9c9d54489a4ca7" /><Relationship Type="http://schemas.openxmlformats.org/officeDocument/2006/relationships/notesMaster" Target="/ppt/notesMasters/notesMaster1.xml" Id="Rdd44e18ace9a47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5afd4ba1614a6b" /><Relationship Type="http://schemas.openxmlformats.org/officeDocument/2006/relationships/notesMaster" Target="/ppt/notesMasters/notesMaster1.xml" Id="Re4d0de8a0fc949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3f86493f6644fd" /><Relationship Type="http://schemas.openxmlformats.org/officeDocument/2006/relationships/notesMaster" Target="/ppt/notesMasters/notesMaster1.xml" Id="Rf977e3d106fa44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379a25fd2d4fd3" /><Relationship Type="http://schemas.openxmlformats.org/officeDocument/2006/relationships/notesMaster" Target="/ppt/notesMasters/notesMaster1.xml" Id="Rf83194b468834e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f3c31ad71e4448" /><Relationship Type="http://schemas.openxmlformats.org/officeDocument/2006/relationships/notesMaster" Target="/ppt/notesMasters/notesMaster1.xml" Id="R0113c5f38edc43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f8603fc92b4d9d" /><Relationship Type="http://schemas.openxmlformats.org/officeDocument/2006/relationships/notesMaster" Target="/ppt/notesMasters/notesMaster1.xml" Id="R0f023b47831e48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98f4c195dd14131" /><Relationship Type="http://schemas.openxmlformats.org/officeDocument/2006/relationships/notesMaster" Target="/ppt/notesMasters/notesMaster1.xml" Id="Ra3aa2e771e6d42b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f6e868379b4125" /><Relationship Type="http://schemas.openxmlformats.org/officeDocument/2006/relationships/notesMaster" Target="/ppt/notesMasters/notesMaster1.xml" Id="R1a0b3eb802d1419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3b286d96264624" /><Relationship Type="http://schemas.openxmlformats.org/officeDocument/2006/relationships/notesMaster" Target="/ppt/notesMasters/notesMaster1.xml" Id="R3e48c8090024495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9af478b2eb46b4" /><Relationship Type="http://schemas.openxmlformats.org/officeDocument/2006/relationships/notesMaster" Target="/ppt/notesMasters/notesMaster1.xml" Id="R62423af899fb4a5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bfa1de1e85a42b9" /><Relationship Type="http://schemas.openxmlformats.org/officeDocument/2006/relationships/notesMaster" Target="/ppt/notesMasters/notesMaster1.xml" Id="R0a372f414366407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66bc146f42c4eaa" /><Relationship Type="http://schemas.openxmlformats.org/officeDocument/2006/relationships/notesMaster" Target="/ppt/notesMasters/notesMaster1.xml" Id="R00bc366058a64c2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35b0380d09248dc" /><Relationship Type="http://schemas.openxmlformats.org/officeDocument/2006/relationships/notesMaster" Target="/ppt/notesMasters/notesMaster1.xml" Id="Rbd58d5c1bb7a4c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本页核心：让训练数据的选择适应具体的微调配置，并复用昂贵的选数计算。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各位老师好，我的论文课题是 PCU-Select，研究跨 PEFT 配置复用的数据选择。简单来说，我希望解决的是：大模型采用不同的微调方式时，怎样选择更适合它的训练数据，同时减少重复选数的成本。下面先解释问题，再介绍方法和评价方案。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过渡：先看这个问题出现在哪种实际场景中。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讲述提示：先读中文题目，再用最后一句概括研究问题。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/Users/bytedance/code/data-selection/paper/main.tex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/Users/bytedance/code/data-selection/paper/Sections/00_abstract.tex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本页核心：数据预算有限，同一任务也可能需要多套微调配置。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可以把基础模型理解成一个已经学过大量知识的学生。我们现在希望它适应数学、代码等具体任务，但训练预算有限，所以只选择一部分练习题。PEFT 的中文是参数高效微调，它只更新模型中的一小部分参数。不同配置会改变哪些位置能够更新，以及更新的容量。我的研究场景是，一个平台要长期维护多套这样的配置。此时，我们既要选到有用的数据，又要避免每增加一套配置就重新做一遍昂贵的选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过渡：现有方法在处理配置差异时，有哪些代价？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讲述提示：用学生和练习题的类比解释一次，随后回到模型、数据和配置。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/Users/bytedance/code/data-selection/paper/Sections/01_introduction.tex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/Users/bytedance/code/data-selection/paper/Sections/03_problem_formulation.tex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本页核心：目标配置越具体，选数通常越需要重复计算。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这里比较四种做法。第一种是按语义相似度选数据，例如本文的 RDS+，它知道任务需要什么，但不接收微调配置。第二种是共享梯度方法，它复用一份梯度信息，仍然不区分目标配置。第三种是每套配置分别运行 LESS，根据目标参数的梯度来选数据，但每套配置都需要建立梯度缓存。还有一种简单复用方式，是把某个配置选出的子集直接用于其他配置。PCU-Select 希望复用特征和评分器，同时让每个配置仍然得到自己的数据子集。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过渡：这就需要先回答：配置差异是否真的会影响数据价值？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讲述提示：从表格上往下讲，强调复用的对象是计算结果和评分器。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/Users/bytedance/code/data-selection/paper/Sections/01_introduction.tex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/Users/bytedance/code/data-selection/paper/Sections/08_appendix.tex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本页核心：同时检验排序变化、子集变化和下游效果变化。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核心假设是，数据的价值会随可训练参数的变化而变化。验证时需要看两个层次。首先，对同一批样本，比较不同配置给出的排序，以及排名靠前的样本有多少重合。其次，把配置 A 选出的数据交给配置 B 训练，比较它与 B 自己选数的效果。还要加入同一配置的独立重复，排除随机波动。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过渡：有了这个假设，就可以给数据价值一个明确的定义。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讲述提示：指向两行实验设计，解释独立重复的作用。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/Users/bytedance/code/data-selection/paper/Sections/01_introduction.tex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/Users/bytedance/code/data-selection/scripts/paper/revise_motivation_figure.py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/Users/bytedance/code/data-selection/paper/data/competition_motivation_summary.json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本页核心：用 u(x, p, t) 表达有条件的数据价值。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我用 u(x, p, t) 表示一条样本的条件效用。x 是候选样本，p 是微调配置，t 是目标任务。直观地说，就是在这个配置下，训练这条样本，对这个任务有多大帮助。任务用一个小型任务样本集来描述，文中称为 task sketch，默认包含 32 条训练或开发样本。理想目标是选出固定预算内、最终测试表现最好的子集。由于逐个尝试子集太贵，我们学习一个评分器来近似这个效用。测试集只用于最后评估。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过渡：要跨配置复用计算，首先要找到不同微调方法可以共用的表示位置。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讲述提示：依次读 x、p、t 的含义，不需要逐字朗读公式。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/Users/bytedance/code/data-selection/paper/Sections/03_problem_formulation.tex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本页核心：在共同的模块输出位置观察信号，避开参数张量形状差异。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LoRA、IA3 和 Adapter 的可训练参数形状不一样，直接拼接它们的原始梯度很难共用。因此，我把观察位置放到模型内部的模块输出上。具体选择 8 个均匀分布的 Transformer 层，每层观察注意力输出、MLP 输出和残差输出，一共得到 24 个干预位点。可以把它理解成在同一台机器上固定了 24 个测量点。不同改装方案会影响不同测量点，但观察坐标保持一致。配置掩码记录作用位置，算子和容量编码补充说明如何更新、能更新多少。这个表示是近似共享坐标，并不恢复所有参数梯度。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过渡：在这个共同坐标下，评分器分别读取哪些信息？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讲述提示：先解释为什么参数梯度不能直接共用，再讲 8 乘 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/Users/bytedance/code/data-selection/paper/tables/table_peft_configs.tex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本页核心：样本描述内容，任务描述需求，配置描述可用的更新方式。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评分器的输入有三部分。样本表示描述这条数据的语义、长度、难度和模型激活特征，一共 848 维。任务表示对 32 条任务样本的表示取平均，也是 848 维。PEFT 编码是 128 维，包含位点掩码、更新类型、容量和训练配方。这里最关键的是配置编码描述了具体结构，不能只用一个 LoRA 或 Adapter 的名称替代。还需要区分，位点梯度主要用于离线构造监督标签，并不作为任务表示额外拼接进线上评分器。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过渡：接下来是训练这个评分器的监督信号从哪里来。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讲述提示：重点讲三种输入各自回答什么问题，维度简要带过。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本页核心：用廉价代理覆盖候选池，用少量短更新补充更直接的反馈。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保真可以理解成两种精细程度不同的测量。低保真标签比较样本梯度与任务梯度的方向，在目标配置涉及的位点上加权。如果方向接近，就把它作为可能有用的信号。这种计算可以利用缓存，覆盖整个候选池。高保真标签则实际做少量微调，观察任务样本集的损失下降。文中用两个起点、一或四步更新，构造一万条标签。一次更新使用目标样本加七条匹配样本，所以测到的是小批次的短期作用。它仍然只是长期训练收益的近似。两类信号结合，用来减少完全依赖代理信号造成的排序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过渡：这些成本集中在线下完成，部署时就能使用同一个评分器。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讲述提示：低保真讲方向是否一致，高保真讲实际小步训练后的变化。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本页核心：支持范围内的新目标复用缓存和评分器。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个流程分为离线和在线两部分。离线阶段提取候选数据特征、构造监督标签，并训练条件评分器。这部分是主要的前期投入。在线阶段输入新的配置和任务，结合缓存中的样本表示，输出效用预测和不确定性。论文通过 FiLM 调整样本特征，再用双线性交互表达样本与配置的匹配关系。部署时，我们把不确定性乘以 0.2，从效用预测中减去，得到保守分数。这个不确定性是排序惩罚项，不是统计置信区间。对于偏离训练支持范围的配置，还需要额外校准。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过渡：得到分数后，还需要处理高分样本彼此重复的问题。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讲述提示：沿着离线和在线两列讲，最后解释 q 的直观含义。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本页核心：高分优先，同时限制近似重复样本集中占用预算。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直接在全局取分数最高的三万条，可能选到许多表达不同但内容接近的样本。我的做法是先按语义把数据分簇，再给每个簇分配预算。配额同时考虑簇的规模和簇内高分样本的价值，最后在每个簇里取排名靠前的样本。这里的多样性来自语义分组，并不是平均分配给每个类别。对于三十万条候选数据，默认得到 547 个簇。配额取整后，通过确定性的余量处理，保证最终选出的数量满足预算。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过渡：方法讲完后，下面说明如何评价它的质量和成本。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讲述提示：用练习题重复的例子帮助理解分簇，再讲价值和规模的平衡。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本页核心：固定训练条件，分别衡量下游质量和选数成本。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评价方案使用 Llama-2-7B，覆盖数学、代码、知识和问答四类任务。每种选择器都从三十万条候选样本中选出百分之十，也就是三万条，再用相同的目标配置和训练预算训练。主比较覆盖五套已见配置，固定选择流程并比较三次下游训练种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过渡：先看质量比较的读法。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讲述提示：明确说明各方法共同采用的训练与评测协议。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/Users/bytedance/code/data-selection/paper/Sections/05_experiments.tex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/Users/bytedance/code/data-selection/scripts/paper/competition_numbers.py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/Users/bytedance/code/data-selection/paper/data/competition_revision_notes.md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本页核心：当前均值接近 LESS，不能据此宣称显著优于 LESS。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这张图展示四个任务原生百分制指标的等权平均。当前稿件中，PCU-Select 是 35.18，逐配置运行 LESS 是 35.14，二者只相差 0.04 个点。相对于 RDS+，差值是 0.74 个点。只复用一套 LESS 子集时，平均分是 34.24。即使后续真实实验复现出相同数字，合理表述也应是平均质量接近 LESS。稿件中的描述性区间从负 0.26 到正 0.33，包含零，而且只在 20 个配置与任务单元中赢了 10 个。不能把这组汇总数解释为显著优越，也不能把宏平均称为统一的准确率。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过渡：平均分还会遮住不同任务上的差异。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讲述提示：先指 35.18 和 35.14，再解释差值和统计边界。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/Users/bytedance/code/data-selection/paper/tables/table_main_results.tex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/Users/bytedance/code/data-selection/paper/tables/table_quality_cost_headline.tex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/Users/bytedance/code/data-selection/paper/data/competition_stats.md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本页核心：总体接近，并不代表每个任务都占优。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按任务拆开，当前稿件数值中，PCU-Select 在 GSM8K 和 MMLU 上高于 LESS，HumanEval 基本接近，在 TyDiQA 上低了 0.77 个点。因此，需要把平均质量和具体任务表现一起报告。如果部署目标只关注问答，就不能直接用总体均值来支持选择 PCU-Select。后续扩展实验也应保留逐任务结果，检查效用监督是否对某些任务不够贴合。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过渡：方法的主要目标还包括减少跨配置的重复选数成本。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讲述提示：先讲正负方向，再点出 TyDiQA 的具体限制。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/Users/bytedance/code/data-selection/paper/tables/table_per_task_compact.tex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/Users/bytedance/code/data-selection/paper/data/competition_stats.md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70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本页核心：42 倍对应新增配置的选数成本，五配置总成本约降低 2.09 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成本要区分前期投入和新增配置的成本。按当前稿件的成本模型，LESS 每增加一套配置，需要 62 个 GPU 小时建立缓存，再用 1.2 个 GPU 小时处理四个任务，合计 63.2。PCU-Select 先投入 144 个 GPU 小时，随后每套四任务配置只需要 1.51。两者相除约为 42，所以这个倍数对应的是无需校准的新配置选数成本。把前期投入算上，五套配置的总成本分别是 316 和 151.6，约相差 2.09 倍。盈亏平衡点是 2.33 套，也就是从第三套开始摊回投入。所有这些都排除了下游训练成本。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过渡：接着看哪些设计值得通过消融实验验证。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讲述提示：先解释两条线的起点和斜率，停顿后再读两个不同倍数。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/Users/bytedance/code/data-selection/paper/data/competition_cost_model.json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/Users/bytedance/code/data-selection/paper/Sections/03_problem_formulation.tex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/Users/bytedance/code/data-selection/paper/Sections/05_experiments.tex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本页核心：分别移除配置条件、任务条件和选择策略，检查性能变化。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消融实验用于判断每个组件是否真的有用。当前稿件数值中，去掉 PEFT 编码下降 1.37 个点，改成全局取最高分下降 1.08，只使用梯度代理标签下降 0.85，去掉任务表示下降 0.82。这些比较分别对应配置感知、多样性控制和监督信号。消融只覆盖 GSM8K、HumanEval 和两套代表配置，因此不能直接扩展为整个注册表的结论。比较消融结果时，需要保持其他训练条件一致，并记录每个组件带来的额外成本。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过渡：对于训练时没见过的配置，方法还需要明确使用边界。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讲述提示：只解释最大的几项，其余数值留给老师查看。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/Users/bytedance/code/data-selection/paper/tables/table_ablations.tex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/Users/bytedance/code/data-selection/paper/Sections/05_experiments.tex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本页核心：接近已见配置可直接评分，结构偏移较大时需要校准或回退。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论文把新配置分为三个层次。L0 与已见配置接近，可以尝试直接评分。L1 是同一家族内较大的变化，例如秩或作用位置偏移，需要少量目标标签校准。L2 是新的方法家族，只有兼容标签可用时才做校准，否则回到逐目标选择。校准时冻结共享评分器，只训练一个线性残差头。Prefix 和 P-Tuning 不在支持的零样本范围内，现有校准还依赖外部兼容标签。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过渡：这些边界决定了课题接下来最需要补足的工作。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讲述提示：强调支持级别取决于训练注册表，不能只看方法名称。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/Users/bytedance/code/data-selection/paper/Sections/05_experiments.tex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/Users/bytedance/code/data-selection/paper/project_context.md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/Users/bytedance/code/data-selection/paper/data/competition_revision_notes.md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本页核心：检查更广范围的泛化能力。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有三类限制。第一，短更新标签近似长期贡献，而且包含匹配样本的小批次作用。第二，方法的收益依赖同一候选池和模型家族内重复新增配置，单次任务可能无法摊回前期成本。第三，评价范围仍然有限，不能直接推到其他模型家族。后续比较不同 backbone、任务样本集大小和候选池变化下的稳定性，检查共享位点的近似是否仍然有效。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过渡：最后概括这项课题的贡献方向。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讲述提示：先讲技术限制，再明确最优先的验证工作。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/Users/bytedance/code/data-selection/paper/Sections/05_experiments.tex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/Users/bytedance/code/data-selection/paper/data/competition_revision_notes.md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本页核心：把配置条件保留下来，让数据选择计算可以复用。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项课题的主要思路是，把数据价值明确写成样本、任务和微调配置共同决定的效用，再用共享干预位点和结构化编码，学习可以复用的条件评分器。目标是在维持逐配置选数质量的同时，降低不断增加配置时的边际成本。实验结果用于分析质量、成本与适用范围。以上是我的汇报，谢谢各位老师，请批评指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讲述提示：放慢最后两句。结束后停留在此页，备用页按追问打开。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/Users/bytedance/code/data-selection/paper/Sections/01_introduction.tex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/Users/bytedance/code/data-selection/paper/Sections/07_conclusion.tex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/Users/bytedance/code/data-selection/paper/data/competition_revision_notes.md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备用页，按追问使用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本页核心：左侧提取共享信号，中间学习评分器，右侧执行目标选择。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这张是论文的完整架构图。左侧统一样本、任务与配置的观察坐标，中间结合两类监督训练评分器，右侧完成支持范围检查、条件评分和配额选择。在线复用的是样本缓存与训练好的评分器。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讲述提示：仅在老师要求展开整体流程时使用。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/Users/bytedance/code/data-selection/paper/Figures/image.png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备用页，按追问使用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本页核心：当前稿件中，MLP LoRA 是需要重点检查的配置。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这里把五套配置分开列出。当前稿件的均值显示，PCU-Select 在 MLP LoRA 上低于 LESS，因此平均接近不能替代对具体配置的分析。本页只展示均值。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讲述提示：解释配置名称：L 是 LoRA，r 是秩，AD 是 Adapter，b 是瓶颈宽度。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/Users/bytedance/code/data-selection/paper/tables/table_main_results.tex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/Users/bytedance/code/data-selection/scripts/paper/competition_numbers.py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备用页，按追问使用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本页核心：新增任务和新增配置对应不同的计算增量。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新增任务时，LESS 可以沿用已有配置的梯度缓存，只付一次任务排序成本。新增配置时，它才需要重建缓存。PCU-Select 的收益主要发生在后者。如果每套四任务配置都需要 500 标签校准，还要额外增加 4.2 个 GPU 小时，此时盈亏平衡点约为 2.50。这里每个数字都来自稿件成本模型，不能解释为已经完成的端到端实测加速。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讲述提示：若被问到 42 倍是否包含训练成本，用此页直接回答。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/Users/bytedance/code/data-selection/paper/data/competition_cost_model.json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/Users/bytedance/code/data-selection/paper/Sections/05_experiments.tex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数据状态：实验页展示实验结果。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备用页，按追问使用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本页核心：训练、选数和最终评估使用不同的数据角色。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逐字讲稿：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任务样本集来自训练或开发数据，最终测试集不进入评分器训练和选数。HumanEval 没有训练划分，所以使用 MBPP 和 CodeAlpaca 构造任务样本，并对候选池进行内容和代码结构去重。高保真标签衡量的是小批次更新前后的任务样本集损失差，再在相同配置、任务、起点和步数的桶内做秩归一化。因此它比较相对效用，不假设所有任务的原始损失有相同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讲述提示：用于回答测试泄漏、标签含义和归一化相关追问。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/Users/bytedance/code/data-selection/paper/Sections/03_problem_formulation.tex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/Users/bytedance/code/data-selection/paper/Sections/04_method.tex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/Users/bytedance/code/data-selection/paper/Sections/05_experiments.tex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c9e7c7deb49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992fb1cb9e4357" /><Relationship Type="http://schemas.openxmlformats.org/officeDocument/2006/relationships/slideLayout" Target="/ppt/slideLayouts/slideLayout1.xml" Id="R90befefe056d4e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befefe056d4e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937b5bd794156" /><Relationship Type="http://schemas.openxmlformats.org/officeDocument/2006/relationships/notesSlide" Target="/ppt/notesSlides/notesSlide1.xml" Id="Raf308207e82e48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f253f66ae494e" /><Relationship Type="http://schemas.openxmlformats.org/officeDocument/2006/relationships/notesSlide" Target="/ppt/notesSlides/notesSlide2.xml" Id="R6f634b2082a945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a76542ea14708" /><Relationship Type="http://schemas.openxmlformats.org/officeDocument/2006/relationships/notesSlide" Target="/ppt/notesSlides/notesSlide3.xml" Id="Rac139f596e8d47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4e23fef1e4313" /><Relationship Type="http://schemas.openxmlformats.org/officeDocument/2006/relationships/notesSlide" Target="/ppt/notesSlides/notesSlide4.xml" Id="R9954811ff28347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3a02545444012" /><Relationship Type="http://schemas.openxmlformats.org/officeDocument/2006/relationships/notesSlide" Target="/ppt/notesSlides/notesSlide5.xml" Id="R2dbeb7a495954c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965fcc6904ea2" /><Relationship Type="http://schemas.openxmlformats.org/officeDocument/2006/relationships/notesSlide" Target="/ppt/notesSlides/notesSlide6.xml" Id="Rf45ffbe268f442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7592d547742d3" /><Relationship Type="http://schemas.openxmlformats.org/officeDocument/2006/relationships/notesSlide" Target="/ppt/notesSlides/notesSlide7.xml" Id="R18e6812d567147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db1bc5ce746f0" /><Relationship Type="http://schemas.openxmlformats.org/officeDocument/2006/relationships/notesSlide" Target="/ppt/notesSlides/notesSlide8.xml" Id="Rd90b27f3ea9d46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4c6ce5df24e7b" /><Relationship Type="http://schemas.openxmlformats.org/officeDocument/2006/relationships/notesSlide" Target="/ppt/notesSlides/notesSlide9.xml" Id="R44582b6720da49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efae3cf804c6b" /><Relationship Type="http://schemas.openxmlformats.org/officeDocument/2006/relationships/notesSlide" Target="/ppt/notesSlides/notesSlide10.xml" Id="R83e779b7817448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6df4044b9441d" /><Relationship Type="http://schemas.openxmlformats.org/officeDocument/2006/relationships/notesSlide" Target="/ppt/notesSlides/notesSlide11.xml" Id="Rba97847e84c94c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9e07ee6354a92" /><Relationship Type="http://schemas.openxmlformats.org/officeDocument/2006/relationships/chart" Target="/ppt/slides/charts/chart1.xml" Id="R3bd3890c07ca4464" /><Relationship Type="http://schemas.openxmlformats.org/officeDocument/2006/relationships/notesSlide" Target="/ppt/notesSlides/notesSlide12.xml" Id="R41c01647cb4c4e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1b66f19704406" /><Relationship Type="http://schemas.openxmlformats.org/officeDocument/2006/relationships/notesSlide" Target="/ppt/notesSlides/notesSlide13.xml" Id="Rcf785dab63e94d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91be4b1634a89" /><Relationship Type="http://schemas.openxmlformats.org/officeDocument/2006/relationships/chart" Target="/ppt/slides/charts/chart2.xml" Id="Ra43ea8c1175f4822" /><Relationship Type="http://schemas.openxmlformats.org/officeDocument/2006/relationships/notesSlide" Target="/ppt/notesSlides/notesSlide14.xml" Id="Rb4fd52ab5baf42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f30a4ce5748f8" /><Relationship Type="http://schemas.openxmlformats.org/officeDocument/2006/relationships/chart" Target="/ppt/slides/charts/chart3.xml" Id="R3191f539a63c489f" /><Relationship Type="http://schemas.openxmlformats.org/officeDocument/2006/relationships/notesSlide" Target="/ppt/notesSlides/notesSlide15.xml" Id="R5b6b91a5fd9641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7c25ca7a445e9" /><Relationship Type="http://schemas.openxmlformats.org/officeDocument/2006/relationships/notesSlide" Target="/ppt/notesSlides/notesSlide16.xml" Id="R9a73f6cbdc2749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c50fd13cc478a" /><Relationship Type="http://schemas.openxmlformats.org/officeDocument/2006/relationships/notesSlide" Target="/ppt/notesSlides/notesSlide17.xml" Id="R1e4865968c0e44c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992f4722a469f" /><Relationship Type="http://schemas.openxmlformats.org/officeDocument/2006/relationships/notesSlide" Target="/ppt/notesSlides/notesSlide18.xml" Id="R6b739c1f4181440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d3dea49aa4f8e" /><Relationship Type="http://schemas.openxmlformats.org/officeDocument/2006/relationships/image" Target="/ppt/media/image.png" Id="R160e0f9b957c4acd" /><Relationship Type="http://schemas.openxmlformats.org/officeDocument/2006/relationships/notesSlide" Target="/ppt/notesSlides/notesSlide19.xml" Id="R86d954ddfa98469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38b4028ed4b29" /><Relationship Type="http://schemas.openxmlformats.org/officeDocument/2006/relationships/notesSlide" Target="/ppt/notesSlides/notesSlide20.xml" Id="R566ec57b43fa454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9431396324046" /><Relationship Type="http://schemas.openxmlformats.org/officeDocument/2006/relationships/notesSlide" Target="/ppt/notesSlides/notesSlide21.xml" Id="R02bf5bc292a44ca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88a070f104c7b" /><Relationship Type="http://schemas.openxmlformats.org/officeDocument/2006/relationships/notesSlide" Target="/ppt/notesSlides/notesSlide22.xml" Id="Rcc11dc4de5b143e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007E85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7A5B8"/>
              </a:solidFill>
              <a:ln xmlns:a="http://schemas.openxmlformats.org/drawingml/2006/main" w="0">
                <a:solidFill>
                  <a:srgbClr val="97A5B8"/>
                </a:solidFill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97A5B8"/>
              </a:solidFill>
              <a:ln xmlns:a="http://schemas.openxmlformats.org/drawingml/2006/main" w="0">
                <a:solidFill>
                  <a:srgbClr val="97A5B8"/>
                </a:solidFill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97A5B8"/>
              </a:solidFill>
              <a:ln xmlns:a="http://schemas.openxmlformats.org/drawingml/2006/main" w="0">
                <a:solidFill>
                  <a:srgbClr val="97A5B8"/>
                </a:solidFill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97A5B8"/>
              </a:solidFill>
              <a:ln xmlns:a="http://schemas.openxmlformats.org/drawingml/2006/main" w="0">
                <a:solidFill>
                  <a:srgbClr val="97A5B8"/>
                </a:solidFill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63599A"/>
              </a:solidFill>
              <a:ln xmlns:a="http://schemas.openxmlformats.org/drawingml/2006/main" w="0">
                <a:solidFill>
                  <a:srgbClr val="63599A"/>
                </a:solidFill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007E85"/>
              </a:solidFill>
              <a:ln xmlns:a="http://schemas.openxmlformats.org/drawingml/2006/main" w="0">
                <a:solidFill>
                  <a:srgbClr val="007E85"/>
                </a:solidFill>
              </a:ln>
            </c:spPr>
          </c:dPt>
          <c:cat>
            <c:strRef>
              <c:f>'Chart Data'!$A$2:$A$7</c:f>
              <c:strCache>
                <c:ptCount val="6"/>
                <c:pt idx="0">
                  <c:v>Random</c:v>
                </c:pt>
                <c:pt idx="1">
                  <c:v>RDS+</c:v>
                </c:pt>
                <c:pt idx="2">
                  <c:v>Influence</c:v>
                </c:pt>
                <c:pt idx="3">
                  <c:v>复用 LESS</c:v>
                </c:pt>
                <c:pt idx="4">
                  <c:v>LESS</c:v>
                </c:pt>
                <c:pt idx="5">
                  <c:v>PCU-Select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32.29</c:v>
                </c:pt>
                <c:pt idx="1">
                  <c:v>34.44</c:v>
                </c:pt>
                <c:pt idx="2">
                  <c:v>34.68</c:v>
                </c:pt>
                <c:pt idx="3">
                  <c:v>34.24</c:v>
                </c:pt>
                <c:pt idx="4">
                  <c:v>35.14</c:v>
                </c:pt>
                <c:pt idx="5">
                  <c:v>35.18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2F4D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B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CE3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每配置 LESS</c:v>
          </c:tx>
          <c:spPr>
            <a:ln xmlns:a="http://schemas.openxmlformats.org/drawingml/2006/main" w="38100">
              <a:solidFill>
                <a:srgbClr val="63599A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63599A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Data'!$B$2:$B$6</c:f>
              <c:numCache>
                <c:formatCode>0</c:formatCode>
                <c:ptCount val="5"/>
                <c:pt idx="0">
                  <c:v>63.2</c:v>
                </c:pt>
                <c:pt idx="1">
                  <c:v>126.4</c:v>
                </c:pt>
                <c:pt idx="2">
                  <c:v>189.6</c:v>
                </c:pt>
                <c:pt idx="3">
                  <c:v>252.8</c:v>
                </c:pt>
                <c:pt idx="4">
                  <c:v>316</c:v>
                </c:pt>
              </c:numCache>
            </c:numRef>
          </c:val>
          <c:smooth val="0"/>
        </c:ser>
        <c:ser>
          <c:idx val="1"/>
          <c:order val="1"/>
          <c:tx>
            <c:v>PCU-Select</c:v>
          </c:tx>
          <c:spPr>
            <a:ln xmlns:a="http://schemas.openxmlformats.org/drawingml/2006/main" w="38100">
              <a:solidFill>
                <a:srgbClr val="007E8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007E85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Data'!$D$2:$D$6</c:f>
              <c:numCache>
                <c:formatCode>0</c:formatCode>
                <c:ptCount val="5"/>
                <c:pt idx="0">
                  <c:v>145.51</c:v>
                </c:pt>
                <c:pt idx="1">
                  <c:v>147.02</c:v>
                </c:pt>
                <c:pt idx="2">
                  <c:v>148.53</c:v>
                </c:pt>
                <c:pt idx="3">
                  <c:v>150.04</c:v>
                </c:pt>
                <c:pt idx="4">
                  <c:v>151.55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7687C"/>
                    </a:solidFill>
                    <a:latin typeface="Heiti TC"/>
                    <a:ea typeface="Heiti TC"/>
                    <a:cs typeface="Heiti TC"/>
                  </a:rPr>
                  <a:t>四任务配置数量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7687C"/>
                  </a:solidFill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57687C"/>
              </a:solidFill>
              <a:latin typeface="Heiti TC"/>
              <a:ea typeface="Heiti TC"/>
              <a:cs typeface="Heiti T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007E85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07E85"/>
              </a:solidFill>
              <a:ln xmlns:a="http://schemas.openxmlformats.org/drawingml/2006/main" w="0">
                <a:solidFill>
                  <a:srgbClr val="007E85"/>
                </a:solidFill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63599A"/>
              </a:solidFill>
              <a:ln xmlns:a="http://schemas.openxmlformats.org/drawingml/2006/main" w="0">
                <a:solidFill>
                  <a:srgbClr val="63599A"/>
                </a:solidFill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97A5B8"/>
              </a:solidFill>
              <a:ln xmlns:a="http://schemas.openxmlformats.org/drawingml/2006/main" w="0">
                <a:solidFill>
                  <a:srgbClr val="97A5B8"/>
                </a:solidFill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97A5B8"/>
              </a:solidFill>
              <a:ln xmlns:a="http://schemas.openxmlformats.org/drawingml/2006/main" w="0">
                <a:solidFill>
                  <a:srgbClr val="97A5B8"/>
                </a:solidFill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97A5B8"/>
              </a:solidFill>
              <a:ln xmlns:a="http://schemas.openxmlformats.org/drawingml/2006/main" w="0">
                <a:solidFill>
                  <a:srgbClr val="97A5B8"/>
                </a:solidFill>
              </a:ln>
            </c:spPr>
          </c:dPt>
          <c:cat>
            <c:strRef>
              <c:f>'Chart Data'!$A$2:$A$6</c:f>
              <c:strCache>
                <c:ptCount val="5"/>
                <c:pt idx="0">
                  <c:v>去配置编码</c:v>
                </c:pt>
                <c:pt idx="1">
                  <c:v>全局 Top-k</c:v>
                </c:pt>
                <c:pt idx="2">
                  <c:v>仅代理标签</c:v>
                </c:pt>
                <c:pt idx="3">
                  <c:v>去任务表示</c:v>
                </c:pt>
                <c:pt idx="4">
                  <c:v>仅家族编码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1.37</c:v>
                </c:pt>
                <c:pt idx="1">
                  <c:v>1.08</c:v>
                </c:pt>
                <c:pt idx="2">
                  <c:v>0.85</c:v>
                </c:pt>
                <c:pt idx="3">
                  <c:v>0.82</c:v>
                </c:pt>
                <c:pt idx="4">
                  <c:v>0.68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2F4D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B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CE3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F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88DB4-FFB5-4DAB-B641-E43F33F6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DCCD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BDCCD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EF266-8FB8-4C2A-9377-78E8ABD6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DCED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BDCEDD"/>
                </a:solidFill>
                <a:latin typeface="Heiti TC"/>
                <a:ea typeface="Heiti TC"/>
                <a:cs typeface="Heiti TC"/>
              </a:rPr>
              <a:t>论文课题答辩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B280F-3EF6-486C-8B17-87F43C0D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73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PCU-Select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92DB1-7286-4A0D-9FC8-F14C2A60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9FC"/>
                </a:solidFill>
                <a:latin typeface="Heiti TC"/>
                <a:ea typeface="Heiti TC"/>
                <a:cs typeface="Heiti TC"/>
              </a:defRPr>
            </a:pPr>
            <a:r>
              <a:rPr sz="3750" b="1">
                <a:solidFill>
                  <a:srgbClr val="F4F9FC"/>
                </a:solidFill>
                <a:latin typeface="Heiti TC"/>
                <a:ea typeface="Heiti TC"/>
                <a:cs typeface="Heiti TC"/>
              </a:rPr>
              <a:t>跨 PEFT 配置复用的数据选择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253D7-B776-4FD4-9058-A93D3FB2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1525"/>
            <a:ext cx="10382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DCEDD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BDCEDD"/>
                </a:solidFill>
                <a:latin typeface="Heiti TC"/>
                <a:ea typeface="Heiti TC"/>
                <a:cs typeface="Heiti TC"/>
              </a:rPr>
              <a:t>Amortizing Target-Specific Data Selection</a:t>
            </a:r>
          </a:p>
          <a:p xmlns:a="http://schemas.openxmlformats.org/drawingml/2006/main">
            <a:pPr algn="l">
              <a:defRPr sz="2025" b="0">
                <a:solidFill>
                  <a:srgbClr val="BDCEDD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BDCEDD"/>
                </a:solidFill>
                <a:latin typeface="Heiti TC"/>
                <a:ea typeface="Heiti TC"/>
                <a:cs typeface="Heiti TC"/>
              </a:rPr>
              <a:t>Across PEFT Configurations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D4756-9283-4E4D-BFAE-8E525F8B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CEDD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BDCEDD"/>
                </a:solidFill>
                <a:latin typeface="Heiti TC"/>
                <a:ea typeface="Heiti TC"/>
                <a:cs typeface="Heiti TC"/>
              </a:rPr>
              <a:t>方法设计与实验分析</a:t>
            </a:r>
          </a:p>
        </p:txBody>
      </p:sp>
    </p:spTree>
    <p:extLst>
      <p:ext uri="{BB962C8B-B14F-4D97-AF65-F5344CB8AC3E}">
        <p14:creationId xmlns:p14="http://schemas.microsoft.com/office/powerpoint/2010/main" val="14177024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19307-D89C-41DE-B560-1F4E61ED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多配置微调中的选数问题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D6196-7F28-4C24-98AA-9DD45E81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训练只使用部分数据，同时要适配多套微调配置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73FD2-244D-4E73-890E-CA2C258E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E782F-9C8E-4EB8-B762-D7794823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615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300,000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591E1-1863-4287-815D-CA1439F4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候选指令样本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DF509-346E-4753-8495-9A8AE70D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24050"/>
            <a:ext cx="4810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61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30,000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950FC-5C06-4981-A9B5-8E261364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990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每个目标选用 10%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12BF9-DEE1-4824-80E9-ED821C4B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1014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PEFT 参数高效微调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A5EB9-8C86-42F4-944A-99586248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0057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只训练少量参数。配置决定更新的位置、方式和容量。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2F922-DD23-4812-9A5E-FE1ABEBC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研究场景：同一基础模型和候选池，持续增加微调配置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0242C-48D5-4E56-A857-15DF8415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300K 候选池与 10% 预算来自论文实验设定</a:t>
            </a:r>
          </a:p>
        </p:txBody>
      </p:sp>
    </p:spTree>
    <p:extLst>
      <p:ext uri="{BB962C8B-B14F-4D97-AF65-F5344CB8AC3E}">
        <p14:creationId xmlns:p14="http://schemas.microsoft.com/office/powerpoint/2010/main" val="3671547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7881E-2C33-492B-9F52-2427AB6E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现有选择方法的计算方式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23698-0A9F-4EC2-806B-C396E069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比较目标针对性与跨配置复用方式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70FF3-B389-428C-9749-284F570C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972800" cy="3219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81400"/>
                <a:gridCol w="2352675"/>
                <a:gridCol w="5038725"/>
              </a:tblGrid>
              <a:tr h="6438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方法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接收目标配置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每套配置的主要工作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6438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RDS+ / 共享 Influence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否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复用任务相关排序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每套配置运行 LESS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是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重建梯度缓存，再排序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复用一套 LESS 子集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仅源配置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直接沿用所选子集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PCU-Select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是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复用特征和评分器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15BA9-75BE-482A-97FC-EAA31474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复用昂贵计算，保留每个目标自己的训练子集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87D30-0E51-400F-82D2-181B207E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RDS+ 与 Influence 指本文实现的基线；LESS 采用逐 PEFT 重算实现</a:t>
            </a:r>
          </a:p>
        </p:txBody>
      </p:sp>
    </p:spTree>
    <p:extLst>
      <p:ext uri="{BB962C8B-B14F-4D97-AF65-F5344CB8AC3E}">
        <p14:creationId xmlns:p14="http://schemas.microsoft.com/office/powerpoint/2010/main" val="954047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FDF26-9110-40F5-9FBC-4B6D5401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配置依赖性的检验思路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5FBAB-74BF-46F2-A7FA-1E1F1E54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假设：可训练方向变化，会改变样本对目标任务的作用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8B449-E826-4481-B411-E7FDF55D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10972800" cy="2724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38375"/>
                <a:gridCol w="4857750"/>
                <a:gridCol w="3876675"/>
              </a:tblGrid>
              <a:tr h="9080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检验层次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如何比较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需要的对照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9080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排序与选集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Spearman 排序相关</a:t>
                      </a:r>
                    </a:p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Top-5% 集合重合度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同配置独立重复</a:t>
                      </a:r>
                    </a:p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跨配置比较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9080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下游表现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A 配置选数，B 配置训练</a:t>
                      </a:r>
                    </a:p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与 B 自己选数比较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固定训练预算</a:t>
                      </a:r>
                    </a:p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配对训练种子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F04AE-E25E-4AFE-9DA8-939AEFBD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只有排序差异与下游差异结合，才能支持配置依赖性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687D4-AD30-446B-B694-DF2FC582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固定候选池与目标任务，比较配置间的排序和子集差异</a:t>
            </a:r>
          </a:p>
        </p:txBody>
      </p:sp>
    </p:spTree>
    <p:extLst>
      <p:ext uri="{BB962C8B-B14F-4D97-AF65-F5344CB8AC3E}">
        <p14:creationId xmlns:p14="http://schemas.microsoft.com/office/powerpoint/2010/main" val="539211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564E0-D544-4024-8FE4-571A6960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数据价值由样本、配置和任务共同决定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5650E-D3DC-4820-9B07-BA0EDC78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条件效用是评分器学习的目标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FB94D-BFF2-4004-9120-1EDBA78F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4C494-18D0-4A47-BA1B-F23E7CDB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5334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58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u(x, p, 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EF78C-9951-4A92-8CE4-6D5371B8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57400"/>
            <a:ext cx="5086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在配置 p 下训练样本 x，</a:t>
            </a:r>
          </a:p>
          <a:p xmlns:a="http://schemas.openxmlformats.org/drawingml/2006/main">
            <a:pPr algn="l">
              <a:defRPr sz="2325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对任务 t 能带来多少帮助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3390900"/>
          <a:ext xmlns:a="http://schemas.openxmlformats.org/drawingml/2006/main" cx="10972800" cy="2095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3533775"/>
                <a:gridCol w="6010275"/>
              </a:tblGrid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符号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含义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如何提供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x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候选指令与回答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候选数据池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p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PEFT 配置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作用位置、算子、容量与配方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t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目标任务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32 条训练或开发样本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26835-4AEC-4562-92B7-E7E3D0AC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目标是在预算 B 内选择子集。测试集只用于最终评估，不进入训练与选数。</a:t>
            </a:r>
          </a:p>
        </p:txBody>
      </p:sp>
    </p:spTree>
    <p:extLst>
      <p:ext uri="{BB962C8B-B14F-4D97-AF65-F5344CB8AC3E}">
        <p14:creationId xmlns:p14="http://schemas.microsoft.com/office/powerpoint/2010/main" val="16629747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49EFC-16D1-430E-8A44-C5415B9D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24 个共享干预位点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140B3-5ADD-4088-9E18-3FF52DDE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不同参数空间，通过共同的模块输出位置建立联系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B3BFA-D04A-43C6-9B59-7548F3C4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8FC04-91E1-4368-A963-11F334A6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8 层 × 3 类输出 = 24 位点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867025"/>
          <a:ext xmlns:a="http://schemas.openxmlformats.org/drawingml/2006/main" cx="10972800" cy="2533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57550"/>
                <a:gridCol w="4619625"/>
                <a:gridCol w="3095625"/>
              </a:tblGrid>
              <a:tr h="63341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共同观察位置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主要映射配置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更新特征由编码区分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63341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Attention 输出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注意力 LoRA、IA3-attn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加性或乘性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3341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MLP 输出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MLP LoRA、IA3-FFN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加性或乘性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3341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残差输出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Adapter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瓶颈更新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BA78C-02D7-4B98-A98D-7DFE695B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位点提供可复用的近似坐标；算子、容量和训练配方保留进一步的结构区别。</a:t>
            </a:r>
          </a:p>
        </p:txBody>
      </p:sp>
    </p:spTree>
    <p:extLst>
      <p:ext uri="{BB962C8B-B14F-4D97-AF65-F5344CB8AC3E}">
        <p14:creationId xmlns:p14="http://schemas.microsoft.com/office/powerpoint/2010/main" val="10003002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6D564-D595-45B1-ACFD-6D0F7532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评分器接收三类信息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964F5-3A3E-44F1-922C-D5A46851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样本、任务和配置共同调节效用预测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3FC22-D7F8-4693-9785-55943268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0575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24075"/>
                <a:gridCol w="6991350"/>
                <a:gridCol w="1857375"/>
              </a:tblGrid>
              <a:tr h="764381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输入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信息内容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维度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764381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样本 zₓ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语义 768 + 描述 16 + 激活 64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848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任务 zₜ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32 条任务样本表示的均值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848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配置 zₚ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位点与算子 96 + 容量 16 + 配方 16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128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1BEB0-F9F0-4F78-A589-169305EA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同一条样本遇到不同的配置或任务，可以获得不同分数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791FF-B600-451D-ADE7-47F3F44E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位点梯度另存，用于离线监督标签；不拼接到线上任务表示 zₜ。</a:t>
            </a:r>
          </a:p>
        </p:txBody>
      </p:sp>
    </p:spTree>
    <p:extLst>
      <p:ext uri="{BB962C8B-B14F-4D97-AF65-F5344CB8AC3E}">
        <p14:creationId xmlns:p14="http://schemas.microsoft.com/office/powerpoint/2010/main" val="21251848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D1ACA-1BCB-455F-BC06-18A09A01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多保真监督兼顾覆盖和直接反馈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94431-D6C3-48E0-814D-85A87779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低保真代理覆盖全池，高保真短更新提供更直接的标签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103D5-783D-4E6D-9551-7C96AFA9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28479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62125"/>
                <a:gridCol w="4419600"/>
                <a:gridCol w="4791075"/>
              </a:tblGrid>
              <a:tr h="711994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/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梯度代理标签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短更新标签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7119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直观含义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样本与任务的更新方向是否一致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少量更新后任务损失是否下降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119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计算方式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目标位点加权的梯度余弦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更新前损失减去更新后损失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11994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覆盖与设置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缓存复用，覆盖候选池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10K 标签，2 个起点，1 / 4 步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7399E-8342-4253-88A1-D9957CCD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53025"/>
            <a:ext cx="414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便宜但间接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B6D4F-CFC3-4C02-AE0F-FC6619C9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153025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63599A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63599A"/>
                </a:solidFill>
                <a:latin typeface="Heiti TC"/>
                <a:ea typeface="Heiti TC"/>
                <a:cs typeface="Heiti TC"/>
              </a:rPr>
              <a:t>更直接，但仍是短期近似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6300E-24F8-43F6-BC2B-89348CE9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短更新使用目标样本与 7 条匹配样本。标签在相同条件桶内做秩归一化。</a:t>
            </a:r>
          </a:p>
        </p:txBody>
      </p:sp>
    </p:spTree>
    <p:extLst>
      <p:ext uri="{BB962C8B-B14F-4D97-AF65-F5344CB8AC3E}">
        <p14:creationId xmlns:p14="http://schemas.microsoft.com/office/powerpoint/2010/main" val="20455338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EC077-1608-4AC6-A375-E3EAEBA5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离线学习与在线选择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6444A-2CC9-4F9A-9C80-B4B1114E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共享评分器把前期监督转化为可复用的选择能力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3DCB0-D908-4757-96CD-CDBA91BD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86400"/>
                <a:gridCol w="5486400"/>
              </a:tblGrid>
              <a:tr h="678656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离线  一次前期投入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在线  每个配置与任务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678656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提取并缓存样本特征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输入配置编码和任务表示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构造代理与短更新标签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用同一评分器预测效用与噪声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训练条件评分器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保守排序，再按预算选择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6C2F3-A555-4FCC-A2AE-27CFF357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14925"/>
            <a:ext cx="5200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3975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q = μ − 0.2σ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A5D70-7270-4653-813A-2BBD8EB0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19700"/>
            <a:ext cx="5372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预测效用高、噪声小的样本更优先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B98FF-3B0A-4A62-8F39-41718471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σ 用作排序惩罚，不是置信区间。超出支持范围的目标可能需要额外校准。</a:t>
            </a:r>
          </a:p>
        </p:txBody>
      </p:sp>
    </p:spTree>
    <p:extLst>
      <p:ext uri="{BB962C8B-B14F-4D97-AF65-F5344CB8AC3E}">
        <p14:creationId xmlns:p14="http://schemas.microsoft.com/office/powerpoint/2010/main" val="197624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288D9-2522-44B7-8F1F-69D98A37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语义分簇与自适应配额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591D1-966B-4AE1-955D-B80D0657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在高分样本中保留语义覆盖，控制近似重复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31DCD-297D-4D4B-A846-69186AAC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F9CE0-579C-42E0-8E32-16D8CE73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552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DC969-9D3F-4086-9D3C-814F39A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0193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625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按语义分簇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1B0FA-D51F-47ED-BE1B-3CDDC113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4795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300K 候选样本，对应 547 个簇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7629B-F06A-42BB-A7B0-A25FF0A3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43275"/>
            <a:ext cx="552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0AF60-E2B7-42CD-A0F4-AC8D3FAE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3528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625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按簇价值和规模分配预算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4A44E-BCB7-4631-B002-A984727F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981450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高价值簇分得更多，同时考虑簇规模，γ = 0.6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602D2-75B6-4B0D-B907-D064A317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95825"/>
            <a:ext cx="552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E8D02-B2B4-4317-A29B-9F8AEA75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053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625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簇内按保守分数选择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D285E-451F-4028-9B5A-4E6E48BA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32447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确定性处理取整余量，使总数满足预算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4469C-8EB0-4D5E-A293-16C5FBBD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簇价值取簇内 Top-10% 样本保守分数的均值；仅正价值参与配额分配。</a:t>
            </a:r>
          </a:p>
        </p:txBody>
      </p:sp>
    </p:spTree>
    <p:extLst>
      <p:ext uri="{BB962C8B-B14F-4D97-AF65-F5344CB8AC3E}">
        <p14:creationId xmlns:p14="http://schemas.microsoft.com/office/powerpoint/2010/main" val="11746973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0C674-8552-4AC7-82A1-4CC692EB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实验设计与评价范围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EC6BF-FE78-4CDD-B60F-7264B5B1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Llama-2-7B，五套已见配置，候选池 300K，选择预算 10%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5A3CF-5E70-4531-B5D5-4C7C7C5D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62325"/>
                <a:gridCol w="3905250"/>
                <a:gridCol w="3705225"/>
              </a:tblGrid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任务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能力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指标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GSM8K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数学推理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Exact Match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HumanEval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代码生成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Pass@1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MMLU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知识与理解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Accuracy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TyDiQA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多语言问答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F1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85593-3BC2-4715-BF69-7EB38D30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0810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统一实验协议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0E06A-1A1F-4808-9FC4-53FB2EDD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10715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各方法使用相同的目标训练与评测协议。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32AC6-DC24-40CF-A6ED-F5340C6F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固定选择流程，比较 3 个下游训练种子；相同配置训练 1000 步。</a:t>
            </a:r>
          </a:p>
        </p:txBody>
      </p:sp>
    </p:spTree>
    <p:extLst>
      <p:ext uri="{BB962C8B-B14F-4D97-AF65-F5344CB8AC3E}">
        <p14:creationId xmlns:p14="http://schemas.microsoft.com/office/powerpoint/2010/main" val="9801269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069E1-F02E-41BB-925D-CA82C2CC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稿件数值中的整体质量比较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1CDA6-367E-4A63-B9A2-6218CA5B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四任务原生百分制指标的等权平均，分数越高越好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40FB2-A31A-4887-AE68-62F539E7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8201025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d3890c07ca446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0E18C-CE47-4CEE-B883-68DF1BA2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24075"/>
            <a:ext cx="25050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43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+0.04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85384-668E-484E-8C20-6C147316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43225"/>
            <a:ext cx="2505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相对 LESS 的点差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F6A8C-88F8-40DD-830D-72C2F025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71925"/>
            <a:ext cx="2505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075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10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6D22F-46AD-4984-B05A-4E249C68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7200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配置与任务单元胜出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354CD-0CD0-42E6-B35C-C1443AC5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当前均值接近；描述性区间 [−0.26, +0.33] 跨零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518C0-A990-4371-94C8-35180DD7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实验结果；描述性统计不用于宣称统计显著。</a:t>
            </a:r>
          </a:p>
        </p:txBody>
      </p:sp>
    </p:spTree>
    <p:extLst>
      <p:ext uri="{BB962C8B-B14F-4D97-AF65-F5344CB8AC3E}">
        <p14:creationId xmlns:p14="http://schemas.microsoft.com/office/powerpoint/2010/main" val="4645736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D1869-7D22-473C-B287-C7DDE38C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任务差异需要单独观察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F0053-15F9-4FE2-80C5-1421D8FB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PCU-Select 相对逐配置 LESS 的点差，按五套配置平均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F18D1-E916-443A-A28B-C81AA9D3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29432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43350"/>
                <a:gridCol w="3362325"/>
                <a:gridCol w="3667125"/>
              </a:tblGrid>
              <a:tr h="58864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3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任务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PCU-Select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相对 LESS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58864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GSM8K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22.20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+0.29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HumanEval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17.06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−0.04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MMLU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49.14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+0.67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TyDiQA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52.30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−0.77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DB4B2-F1E3-4D26-BB62-639E4173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关注具体任务的收益与退化，不能只看总平均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EEED1-7BAF-4BB0-A9CE-E5559927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实验结果；各行指标不同，点差基于未四舍五入的原始稿件均值。</a:t>
            </a:r>
          </a:p>
        </p:txBody>
      </p:sp>
    </p:spTree>
    <p:extLst>
      <p:ext uri="{BB962C8B-B14F-4D97-AF65-F5344CB8AC3E}">
        <p14:creationId xmlns:p14="http://schemas.microsoft.com/office/powerpoint/2010/main" val="1945980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9AA0D-1FD4-4B69-8838-A0151EB6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跨配置复用摊薄前期投入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F2A9A-07F8-4664-A855-BB86912D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每套配置包含四个任务，纵轴仅计选择成本，单位 GPU 小时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58A28-FD93-42E1-950A-40654DD0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7620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3ea8c1175f482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7063C-15AA-45E0-B4E6-EEB44674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03835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约 42 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862AE-85AA-4F5A-BA7F-CA03832A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43200"/>
            <a:ext cx="27908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新增配置边际成本比</a:t>
            </a:r>
          </a:p>
          <a:p xmlns:a="http://schemas.openxmlformats.org/drawingml/2006/main">
            <a:pPr algn="l">
              <a:defRPr sz="1950" b="0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63.2 ÷ 1.51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B23CA-E089-4FD6-BFD0-FC4BAC52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8145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75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约 2.09 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54662-20B0-4CA1-A470-9422A2DB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76775"/>
            <a:ext cx="285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五配置选择总成本比</a:t>
            </a:r>
          </a:p>
          <a:p xmlns:a="http://schemas.openxmlformats.org/drawingml/2006/main">
            <a:pPr algn="l">
              <a:defRPr sz="1950" b="0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316.0 ÷ 151.6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71E05-181D-485A-8DD0-6FB74B13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前期投入 144 GPU 小时，约从第 3 套配置起摊回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9FEE7-C026-4343-A15B-F1DDC13F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按论文成本模型推算；42 倍适用于无需校准的新配置，不含下游训练。</a:t>
            </a:r>
          </a:p>
        </p:txBody>
      </p:sp>
    </p:spTree>
    <p:extLst>
      <p:ext uri="{BB962C8B-B14F-4D97-AF65-F5344CB8AC3E}">
        <p14:creationId xmlns:p14="http://schemas.microsoft.com/office/powerpoint/2010/main" val="7811416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190D1-DE71-4696-A2B4-F2082614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关键组件的消融设计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36954-E3A1-4827-84AB-BF73F5C0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相对完整方法的质量下降，单位为任务原生指标点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6E888-249F-4E80-B9ED-8CD0E4BF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19125" y="2143125"/>
          <a:ext xmlns:a="http://schemas.openxmlformats.org/drawingml/2006/main" cx="10944225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91f539a63c489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4201C-2620-4D38-B80F-C26F8BEA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消融分别检验条件信息、监督信号和覆盖策略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4A23C-EFA7-4D75-8359-DAACDDB5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实验结果；仅 GSM8K、HumanEval 与两套代表配置，不等同于主表评价范围。</a:t>
            </a:r>
          </a:p>
        </p:txBody>
      </p:sp>
    </p:spTree>
    <p:extLst>
      <p:ext uri="{BB962C8B-B14F-4D97-AF65-F5344CB8AC3E}">
        <p14:creationId xmlns:p14="http://schemas.microsoft.com/office/powerpoint/2010/main" val="13225341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C093F-145A-4D3C-8FAB-3A357086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新配置按结构支持程度处理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023A5-9CF3-4233-B0AB-301E24C7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支持程度相对于评分器训练时的配置注册表定义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910E2-2F22-4279-90F4-5C1E8CED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38275"/>
                <a:gridCol w="4133850"/>
                <a:gridCol w="5400675"/>
              </a:tblGrid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层次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结构变化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使用策略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L0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接近已见配置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直接评分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L1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已见家族内较大变化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用少量兼容标签校准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L2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未见方法家族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可校准则校准，否则逐目标选数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446D3-68A2-4FE8-B3C7-BD2ADF8C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72075"/>
            <a:ext cx="1090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校准只训练线性残差头，共享评分器保持冻结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AEAF4-9880-4D79-879B-82E0E862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Prefix / P-Tuning 不支持零样本使用，校准依赖外部兼容标签。</a:t>
            </a:r>
          </a:p>
        </p:txBody>
      </p:sp>
    </p:spTree>
    <p:extLst>
      <p:ext uri="{BB962C8B-B14F-4D97-AF65-F5344CB8AC3E}">
        <p14:creationId xmlns:p14="http://schemas.microsoft.com/office/powerpoint/2010/main" val="11388580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B7234-3D95-4E8E-AE9D-27553CE9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适用边界与后续验证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824A8-D3C0-4355-B0C2-249A895F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方法适合固定候选池与模型家族内的重复配置接入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B4427-D859-4C75-8A7E-0465CB01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2838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105400"/>
                <a:gridCol w="5867400"/>
              </a:tblGrid>
              <a:tr h="70961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边界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下一步验证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70961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短更新近似长期训练贡献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比较不同起点、更新步数与最终下游收益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模型、任务与配置覆盖有限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扩展 backbone 与任务，评估缓存更新成本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0961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跨家族校准开销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扩展任务与配置覆盖，比较校准成本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078DA-A489-497E-BBB6-F70FA54E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扩展任务与配置覆盖，继续分析泛化边界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8094C-72D8-4A97-B354-564F07E8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方法适用范围限定同一候选池和模型家族。</a:t>
            </a:r>
          </a:p>
        </p:txBody>
      </p:sp>
    </p:spTree>
    <p:extLst>
      <p:ext uri="{BB962C8B-B14F-4D97-AF65-F5344CB8AC3E}">
        <p14:creationId xmlns:p14="http://schemas.microsoft.com/office/powerpoint/2010/main" val="5107775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2F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7B5F9-5B23-449E-9790-4A55F92F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研究总结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B8BE2-B3D7-4783-A631-C6223F78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DCCD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BDCCDB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29046-301B-49F4-AF43-20FFA842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109537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472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配置条件保留下来，</a:t>
            </a:r>
          </a:p>
          <a:p xmlns:a="http://schemas.openxmlformats.org/drawingml/2006/main">
            <a:pPr algn="l">
              <a:defRPr sz="472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472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选数计算复用起来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0C853-170D-4FE1-8725-A8508240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0525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DDE8F1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DDE8F1"/>
                </a:solidFill>
                <a:latin typeface="Heiti TC"/>
                <a:ea typeface="Heiti TC"/>
                <a:cs typeface="Heiti TC"/>
              </a:rPr>
              <a:t>条件效用 u(x, p, t) 明确研究对象</a:t>
            </a:r>
          </a:p>
          <a:p xmlns:a="http://schemas.openxmlformats.org/drawingml/2006/main">
            <a:pPr algn="l">
              <a:defRPr sz="2325" b="0">
                <a:solidFill>
                  <a:srgbClr val="DDE8F1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DDE8F1"/>
                </a:solidFill>
                <a:latin typeface="Heiti TC"/>
                <a:ea typeface="Heiti TC"/>
                <a:cs typeface="Heiti TC"/>
              </a:rPr>
              <a:t>共享位点与结构化编码支持复用</a:t>
            </a:r>
          </a:p>
          <a:p xmlns:a="http://schemas.openxmlformats.org/drawingml/2006/main">
            <a:pPr algn="l">
              <a:defRPr sz="2325" b="0">
                <a:solidFill>
                  <a:srgbClr val="DDE8F1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DDE8F1"/>
                </a:solidFill>
                <a:latin typeface="Heiti TC"/>
                <a:ea typeface="Heiti TC"/>
                <a:cs typeface="Heiti TC"/>
              </a:rPr>
              <a:t>多配置成本分析检验摊销价值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31C35-A4B4-45AD-BC56-5BAF163E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9912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DE8F1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DDE8F1"/>
                </a:solidFill>
                <a:latin typeface="Heiti TC"/>
                <a:ea typeface="Heiti TC"/>
                <a:cs typeface="Heiti TC"/>
              </a:rPr>
              <a:t>谢谢各位老师，请批评指正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9887579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9F3A1-82CE-4303-88BA-2E3BA39B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备用  方法架构原图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397CD-60F2-4DF3-A526-930C483F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完整细节供问答时展开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EF70B-4C40-4875-8A65-8FE75BBA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e0f9b957c4acd"/>
          <a:stretch xmlns:a="http://schemas.openxmlformats.org/drawingml/2006/main"/>
        </p:blipFill>
        <p:spPr>
          <a:xfrm xmlns:a="http://schemas.openxmlformats.org/drawingml/2006/main">
            <a:off x="1690051" y="1895475"/>
            <a:ext cx="8811899" cy="4143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34DA0-8BFB-4ADB-8930-688D080A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来源：论文方法架构原图；输入维度和成本口径以正文讲解为准。</a:t>
            </a:r>
          </a:p>
        </p:txBody>
      </p:sp>
    </p:spTree>
    <p:extLst>
      <p:ext uri="{BB962C8B-B14F-4D97-AF65-F5344CB8AC3E}">
        <p14:creationId xmlns:p14="http://schemas.microsoft.com/office/powerpoint/2010/main" val="20893692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19F08-E47D-4F91-8F4F-BB48236D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备用  各配置质量明细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7D998-F454-4F6C-929B-B1E6E3B2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四任务原生指标的等权平均，仅列当前稿件均值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7D9DE-518D-4B1D-A379-544BC902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5147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14550"/>
                <a:gridCol w="1476375"/>
                <a:gridCol w="1476375"/>
                <a:gridCol w="1476375"/>
                <a:gridCol w="1476375"/>
                <a:gridCol w="1476375"/>
                <a:gridCol w="1476375"/>
              </a:tblGrid>
              <a:tr h="5857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方法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AD-b64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IA3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L-r16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qkvo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L-r8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mlp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L-r8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qv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平均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5857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Random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32.79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31.74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33.11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31.97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31.82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32.29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RDS+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35.27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33.54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35.00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34.46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33.91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34.44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Influence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35.08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33.84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35.24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34.69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34.53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34.68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LESS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35.52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34.44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35.80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35.13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34.80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35.14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PCU-Select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35.61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34.60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35.93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34.56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35.18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35.18</a:t>
                      </a:r>
                    </a:p>
                  </a:txBody>
                  <a:tcPr marL="142875" marR="142875" marT="95250" marB="95250" anchor="ctr">
                    <a:solidFill>
                      <a:srgbClr val="EAF3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F8125-155C-4849-AD42-906CD6A0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实验结果。IA3 指 IA3-attnmlp；L 为 LoRA，AD 为 Adapter。</a:t>
            </a:r>
          </a:p>
        </p:txBody>
      </p:sp>
    </p:spTree>
    <p:extLst>
      <p:ext uri="{BB962C8B-B14F-4D97-AF65-F5344CB8AC3E}">
        <p14:creationId xmlns:p14="http://schemas.microsoft.com/office/powerpoint/2010/main" val="15620206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48436-E963-402E-9E89-1CC9A912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备用  成本口径与校准开销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3B331-1A8D-48BF-BD3E-7972AA77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所有成本单位为 GPU 小时，属于稿件成本模型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7CD31-F302-4730-9365-21B35761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90725"/>
          <a:ext xmlns:a="http://schemas.openxmlformats.org/drawingml/2006/main" cx="10972800" cy="3028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924550"/>
                <a:gridCol w="2524125"/>
                <a:gridCol w="2524125"/>
              </a:tblGrid>
              <a:tr h="6057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成本项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LESS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PCU-Select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6057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共享前期投入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144.00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已有配置新增一个任务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0.30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0.3775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新增一套四任务配置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63.20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1.51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每任务 500 标签校准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不适用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额外 1.05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1F88D-C4C9-4F17-B54D-EE2A9B8C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67325"/>
            <a:ext cx="5381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3599A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63599A"/>
                </a:solidFill>
                <a:latin typeface="Heiti TC"/>
                <a:ea typeface="Heiti TC"/>
                <a:cs typeface="Heiti TC"/>
              </a:rPr>
              <a:t>C_LESS(P) = 63.2P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C9B82-C252-41E4-B324-901A8988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67325"/>
            <a:ext cx="5238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7E85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07E85"/>
                </a:solidFill>
                <a:latin typeface="Heiti TC"/>
                <a:ea typeface="Heiti TC"/>
                <a:cs typeface="Heiti TC"/>
              </a:rPr>
              <a:t>C_PCU(P) = 144 + 1.51P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5A217-0067-4051-B151-AB34EFAC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631B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94631B"/>
                </a:solidFill>
                <a:latin typeface="Heiti TC"/>
                <a:ea typeface="Heiti TC"/>
                <a:cs typeface="Heiti TC"/>
              </a:rPr>
              <a:t>每套配置都做四任务校准时，PCU 斜率变为 5.71，平衡点约 2.50；不含下游训练。</a:t>
            </a:r>
          </a:p>
        </p:txBody>
      </p:sp>
    </p:spTree>
    <p:extLst>
      <p:ext uri="{BB962C8B-B14F-4D97-AF65-F5344CB8AC3E}">
        <p14:creationId xmlns:p14="http://schemas.microsoft.com/office/powerpoint/2010/main" val="19173951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74FD3-5BFA-4D14-AB3F-763402BD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F4D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72F4D"/>
                </a:solidFill>
                <a:latin typeface="Heiti TC"/>
                <a:ea typeface="Heiti TC"/>
                <a:cs typeface="Heiti TC"/>
              </a:rPr>
              <a:t>备用  效用标签与数据隔离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16B34-9CA4-4D2A-ACD2-9D348D33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先保证数据角色隔离，再解释局部监督的含义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86B47-4BCC-4C75-B2E9-16FCEE10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1718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00300"/>
                <a:gridCol w="4191000"/>
                <a:gridCol w="4381500"/>
              </a:tblGrid>
              <a:tr h="6343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数据 / 信号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用途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关键约束</a:t>
                      </a:r>
                    </a:p>
                  </a:txBody>
                  <a:tcPr marL="142875" marR="142875" marT="95250" marB="95250" anchor="ctr">
                    <a:solidFill>
                      <a:srgbClr val="172F4D"/>
                    </a:solidFill>
                  </a:tcPr>
                </a:tc>
              </a:tr>
              <a:tr h="6343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任务样本集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描述任务、构造效用标签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来自训练或开发数据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最终测试集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衡量下游表现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不参与评分器训练和选数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短更新损失差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近似条件效用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目标样本加 7 条匹配样本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桶内秩归一化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比较相对效用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72F4D"/>
                          </a:solidFill>
                          <a:latin typeface="Heiti TC"/>
                          <a:ea typeface="Heiti TC"/>
                          <a:cs typeface="Heiti TC"/>
                        </a:rPr>
                        <a:t>固定配置、任务、起点与步数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7375B-424F-4E71-AEE6-96147D94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32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687C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7687C"/>
                </a:solidFill>
                <a:latin typeface="Heiti TC"/>
                <a:ea typeface="Heiti TC"/>
                <a:cs typeface="Heiti TC"/>
              </a:rPr>
              <a:t>HumanEval 使用 MBPP / CodeAlpaca 构建任务样本，并进行内容和 AST 签名去重。</a:t>
            </a:r>
          </a:p>
        </p:txBody>
      </p:sp>
    </p:spTree>
    <p:extLst>
      <p:ext uri="{BB962C8B-B14F-4D97-AF65-F5344CB8AC3E}">
        <p14:creationId xmlns:p14="http://schemas.microsoft.com/office/powerpoint/2010/main" val="2061434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2026-09-06T18:42:13.4490000Z</dcterms:created>
  <dcterms:modified xsi:type="dcterms:W3CDTF">2026-09-06T18:42:13.4490000Z</dcterms:modified>
</coreProperties>
</file>