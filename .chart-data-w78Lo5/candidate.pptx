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410df33b6047e1" /><Relationship Type="http://schemas.openxmlformats.org/officeDocument/2006/relationships/extended-properties" Target="/docProps/app.xml" Id="R996d202fe9e2476f" /><Relationship Type="http://schemas.openxmlformats.org/officeDocument/2006/relationships/officeDocument" Target="/ppt/presentation.xml" Id="R9d78f9c16b1f4d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701f9b2f72480d"/>
    <p:sldMasterId xmlns:r="http://schemas.openxmlformats.org/officeDocument/2006/relationships" id="2147483660" r:id="R41846978116f4156"/>
  </p:sldMasterIdLst>
  <p:notesMasterIdLst>
    <p:notesMasterId xmlns:r="http://schemas.openxmlformats.org/officeDocument/2006/relationships" r:id="Rcee8d5d1706849ad"/>
  </p:notesMasterIdLst>
  <p:sldIdLst>
    <p:sldId xmlns:r="http://schemas.openxmlformats.org/officeDocument/2006/relationships" id="256" r:id="Rcdfda39d21614976"/>
    <p:sldId xmlns:r="http://schemas.openxmlformats.org/officeDocument/2006/relationships" id="257" r:id="Re4188372a5634b88"/>
    <p:sldId xmlns:r="http://schemas.openxmlformats.org/officeDocument/2006/relationships" id="258" r:id="Re1cb30e2fb4949b7"/>
    <p:sldId xmlns:r="http://schemas.openxmlformats.org/officeDocument/2006/relationships" id="259" r:id="R6ac01fe35fb64a1b"/>
    <p:sldId xmlns:r="http://schemas.openxmlformats.org/officeDocument/2006/relationships" id="260" r:id="R935e59d023d14115"/>
    <p:sldId xmlns:r="http://schemas.openxmlformats.org/officeDocument/2006/relationships" id="261" r:id="Rab3cb854f1b1430a"/>
    <p:sldId xmlns:r="http://schemas.openxmlformats.org/officeDocument/2006/relationships" id="262" r:id="Ra975b212beb84110"/>
    <p:sldId xmlns:r="http://schemas.openxmlformats.org/officeDocument/2006/relationships" id="263" r:id="R4b71a554b5444019"/>
    <p:sldId xmlns:r="http://schemas.openxmlformats.org/officeDocument/2006/relationships" id="264" r:id="R7d224a833c844150"/>
    <p:sldId xmlns:r="http://schemas.openxmlformats.org/officeDocument/2006/relationships" id="265" r:id="R383ce9fbb0b045c3"/>
    <p:sldId xmlns:r="http://schemas.openxmlformats.org/officeDocument/2006/relationships" id="266" r:id="R917246697a2b45fe"/>
    <p:sldId xmlns:r="http://schemas.openxmlformats.org/officeDocument/2006/relationships" id="267" r:id="R3a721d230e7c4c55"/>
    <p:sldId xmlns:r="http://schemas.openxmlformats.org/officeDocument/2006/relationships" id="268" r:id="Rc5427a578fe74ff9"/>
    <p:sldId xmlns:r="http://schemas.openxmlformats.org/officeDocument/2006/relationships" id="269" r:id="Re78e5f47a50f4aea"/>
    <p:sldId xmlns:r="http://schemas.openxmlformats.org/officeDocument/2006/relationships" id="270" r:id="R16b8294150284b02"/>
    <p:sldId xmlns:r="http://schemas.openxmlformats.org/officeDocument/2006/relationships" id="271" r:id="R89e7589477a04756"/>
    <p:sldId xmlns:r="http://schemas.openxmlformats.org/officeDocument/2006/relationships" id="272" r:id="Rc2a4f9a67e574531"/>
    <p:sldId xmlns:r="http://schemas.openxmlformats.org/officeDocument/2006/relationships" id="273" r:id="R6187b5bf6ae74a01"/>
    <p:sldId xmlns:r="http://schemas.openxmlformats.org/officeDocument/2006/relationships" id="274" r:id="R7c69662671d34422"/>
    <p:sldId xmlns:r="http://schemas.openxmlformats.org/officeDocument/2006/relationships" id="275" r:id="Rd25db3a04a81443f"/>
    <p:sldId xmlns:r="http://schemas.openxmlformats.org/officeDocument/2006/relationships" id="276" r:id="R82beede93e684c42"/>
    <p:sldId xmlns:r="http://schemas.openxmlformats.org/officeDocument/2006/relationships" id="277" r:id="R9595a175b2cf4e3e"/>
    <p:sldId xmlns:r="http://schemas.openxmlformats.org/officeDocument/2006/relationships" id="278" r:id="R1efac2c7a83c4a70"/>
    <p:sldId xmlns:r="http://schemas.openxmlformats.org/officeDocument/2006/relationships" id="279" r:id="R9179330d912d4deb"/>
    <p:sldId xmlns:r="http://schemas.openxmlformats.org/officeDocument/2006/relationships" id="280" r:id="Rc93dd1a6241147a9"/>
    <p:sldId xmlns:r="http://schemas.openxmlformats.org/officeDocument/2006/relationships" id="281" r:id="R996456a41ff14474"/>
    <p:sldId xmlns:r="http://schemas.openxmlformats.org/officeDocument/2006/relationships" id="282" r:id="Rb15c8e1d66ce462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704b65cb9549f1" /><Relationship Type="http://schemas.openxmlformats.org/officeDocument/2006/relationships/slideMaster" Target="/ppt/slideMasters/slideMaster1.xml" Id="R71701f9b2f72480d" /><Relationship Type="http://schemas.openxmlformats.org/officeDocument/2006/relationships/slideMaster" Target="/ppt/slideMasters/slideMaster2.xml" Id="R41846978116f4156" /><Relationship Type="http://schemas.openxmlformats.org/officeDocument/2006/relationships/notesMaster" Target="/ppt/notesMasters/notesMaster1.xml" Id="Rcee8d5d1706849ad" /><Relationship Type="http://schemas.openxmlformats.org/officeDocument/2006/relationships/presProps" Target="/ppt/presProps.xml" Id="Rd43b7f65a96d4320" /><Relationship Type="http://schemas.openxmlformats.org/officeDocument/2006/relationships/viewProps" Target="/ppt/viewProps.xml" Id="Ra96101d2def742b8" /><Relationship Type="http://schemas.openxmlformats.org/officeDocument/2006/relationships/tableStyles" Target="/ppt/tableStyles.xml" Id="Re53ab754549746e5" /><Relationship Type="http://schemas.openxmlformats.org/officeDocument/2006/relationships/slide" Target="/ppt/slides/slide1.xml" Id="Rcdfda39d21614976" /><Relationship Type="http://schemas.openxmlformats.org/officeDocument/2006/relationships/slide" Target="/ppt/slides/slide2.xml" Id="Re4188372a5634b88" /><Relationship Type="http://schemas.openxmlformats.org/officeDocument/2006/relationships/slide" Target="/ppt/slides/slide3.xml" Id="Re1cb30e2fb4949b7" /><Relationship Type="http://schemas.openxmlformats.org/officeDocument/2006/relationships/slide" Target="/ppt/slides/slide4.xml" Id="R6ac01fe35fb64a1b" /><Relationship Type="http://schemas.openxmlformats.org/officeDocument/2006/relationships/slide" Target="/ppt/slides/slide5.xml" Id="R935e59d023d14115" /><Relationship Type="http://schemas.openxmlformats.org/officeDocument/2006/relationships/slide" Target="/ppt/slides/slide6.xml" Id="Rab3cb854f1b1430a" /><Relationship Type="http://schemas.openxmlformats.org/officeDocument/2006/relationships/slide" Target="/ppt/slides/slide7.xml" Id="Ra975b212beb84110" /><Relationship Type="http://schemas.openxmlformats.org/officeDocument/2006/relationships/slide" Target="/ppt/slides/slide8.xml" Id="R4b71a554b5444019" /><Relationship Type="http://schemas.openxmlformats.org/officeDocument/2006/relationships/slide" Target="/ppt/slides/slide9.xml" Id="R7d224a833c844150" /><Relationship Type="http://schemas.openxmlformats.org/officeDocument/2006/relationships/slide" Target="/ppt/slides/slide10.xml" Id="R383ce9fbb0b045c3" /><Relationship Type="http://schemas.openxmlformats.org/officeDocument/2006/relationships/slide" Target="/ppt/slides/slide11.xml" Id="R917246697a2b45fe" /><Relationship Type="http://schemas.openxmlformats.org/officeDocument/2006/relationships/slide" Target="/ppt/slides/slide12.xml" Id="R3a721d230e7c4c55" /><Relationship Type="http://schemas.openxmlformats.org/officeDocument/2006/relationships/slide" Target="/ppt/slides/slide13.xml" Id="Rc5427a578fe74ff9" /><Relationship Type="http://schemas.openxmlformats.org/officeDocument/2006/relationships/slide" Target="/ppt/slides/slide14.xml" Id="Re78e5f47a50f4aea" /><Relationship Type="http://schemas.openxmlformats.org/officeDocument/2006/relationships/slide" Target="/ppt/slides/slide15.xml" Id="R16b8294150284b02" /><Relationship Type="http://schemas.openxmlformats.org/officeDocument/2006/relationships/slide" Target="/ppt/slides/slide16.xml" Id="R89e7589477a04756" /><Relationship Type="http://schemas.openxmlformats.org/officeDocument/2006/relationships/slide" Target="/ppt/slides/slide17.xml" Id="Rc2a4f9a67e574531" /><Relationship Type="http://schemas.openxmlformats.org/officeDocument/2006/relationships/slide" Target="/ppt/slides/slide18.xml" Id="R6187b5bf6ae74a01" /><Relationship Type="http://schemas.openxmlformats.org/officeDocument/2006/relationships/slide" Target="/ppt/slides/slide19.xml" Id="R7c69662671d34422" /><Relationship Type="http://schemas.openxmlformats.org/officeDocument/2006/relationships/slide" Target="/ppt/slides/slide20.xml" Id="Rd25db3a04a81443f" /><Relationship Type="http://schemas.openxmlformats.org/officeDocument/2006/relationships/slide" Target="/ppt/slides/slide21.xml" Id="R82beede93e684c42" /><Relationship Type="http://schemas.openxmlformats.org/officeDocument/2006/relationships/slide" Target="/ppt/slides/slide22.xml" Id="R9595a175b2cf4e3e" /><Relationship Type="http://schemas.openxmlformats.org/officeDocument/2006/relationships/slide" Target="/ppt/slides/slide23.xml" Id="R1efac2c7a83c4a70" /><Relationship Type="http://schemas.openxmlformats.org/officeDocument/2006/relationships/slide" Target="/ppt/slides/slide24.xml" Id="R9179330d912d4deb" /><Relationship Type="http://schemas.openxmlformats.org/officeDocument/2006/relationships/slide" Target="/ppt/slides/slide25.xml" Id="Rc93dd1a6241147a9" /><Relationship Type="http://schemas.openxmlformats.org/officeDocument/2006/relationships/slide" Target="/ppt/slides/slide26.xml" Id="R996456a41ff14474" /><Relationship Type="http://schemas.openxmlformats.org/officeDocument/2006/relationships/slide" Target="/ppt/slides/slide27.xml" Id="Rb15c8e1d66ce46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538f836cdbf64f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108c5307ca43b8" /><Relationship Type="http://schemas.openxmlformats.org/officeDocument/2006/relationships/notesMaster" Target="/ppt/notesMasters/notesMaster1.xml" Id="R456eee0c1eeb4f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45ae2b08b0040da" /><Relationship Type="http://schemas.openxmlformats.org/officeDocument/2006/relationships/notesMaster" Target="/ppt/notesMasters/notesMaster1.xml" Id="R9882a3fdb77e4a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157c6e2d00f4208" /><Relationship Type="http://schemas.openxmlformats.org/officeDocument/2006/relationships/notesMaster" Target="/ppt/notesMasters/notesMaster1.xml" Id="R67a5aebf70d044f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33297c9464b4faf" /><Relationship Type="http://schemas.openxmlformats.org/officeDocument/2006/relationships/notesMaster" Target="/ppt/notesMasters/notesMaster1.xml" Id="R01bb649a637a4e8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510e7909fd842b8" /><Relationship Type="http://schemas.openxmlformats.org/officeDocument/2006/relationships/notesMaster" Target="/ppt/notesMasters/notesMaster1.xml" Id="R327cd653bc464d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6c998876b5140cb" /><Relationship Type="http://schemas.openxmlformats.org/officeDocument/2006/relationships/notesMaster" Target="/ppt/notesMasters/notesMaster1.xml" Id="R75e18e2ef0824e8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787bd7114e740ea" /><Relationship Type="http://schemas.openxmlformats.org/officeDocument/2006/relationships/notesMaster" Target="/ppt/notesMasters/notesMaster1.xml" Id="R3ba84acfff3c41e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db158ef7bb84ae6" /><Relationship Type="http://schemas.openxmlformats.org/officeDocument/2006/relationships/notesMaster" Target="/ppt/notesMasters/notesMaster1.xml" Id="R7337d9a3a9d44c1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61ec86d11b44fd8" /><Relationship Type="http://schemas.openxmlformats.org/officeDocument/2006/relationships/notesMaster" Target="/ppt/notesMasters/notesMaster1.xml" Id="R4defb43f29014c7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701a357495247f3" /><Relationship Type="http://schemas.openxmlformats.org/officeDocument/2006/relationships/notesMaster" Target="/ppt/notesMasters/notesMaster1.xml" Id="Rb18e3b6e7e4a436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f5dafe195e649b0" /><Relationship Type="http://schemas.openxmlformats.org/officeDocument/2006/relationships/notesMaster" Target="/ppt/notesMasters/notesMaster1.xml" Id="R7f3559a018cd43c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390d862063642b4" /><Relationship Type="http://schemas.openxmlformats.org/officeDocument/2006/relationships/notesMaster" Target="/ppt/notesMasters/notesMaster1.xml" Id="Rcd7a5ba57d514b6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9c89d8868274a12" /><Relationship Type="http://schemas.openxmlformats.org/officeDocument/2006/relationships/notesMaster" Target="/ppt/notesMasters/notesMaster1.xml" Id="R4130a1bddc364a5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5adcf5ab19c4827" /><Relationship Type="http://schemas.openxmlformats.org/officeDocument/2006/relationships/notesMaster" Target="/ppt/notesMasters/notesMaster1.xml" Id="R17f5ff5de825433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21bba9047614f41" /><Relationship Type="http://schemas.openxmlformats.org/officeDocument/2006/relationships/notesMaster" Target="/ppt/notesMasters/notesMaster1.xml" Id="R7251f040724c4e5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0da97cc8f9b46cb" /><Relationship Type="http://schemas.openxmlformats.org/officeDocument/2006/relationships/notesMaster" Target="/ppt/notesMasters/notesMaster1.xml" Id="Rbca6ba8f77234fe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84722968dfd43fc" /><Relationship Type="http://schemas.openxmlformats.org/officeDocument/2006/relationships/notesMaster" Target="/ppt/notesMasters/notesMaster1.xml" Id="R63f37fb6dbdb404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ab1b1349e5147b5" /><Relationship Type="http://schemas.openxmlformats.org/officeDocument/2006/relationships/notesMaster" Target="/ppt/notesMasters/notesMaster1.xml" Id="R1e174da462f1478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20a0618fbc249c6" /><Relationship Type="http://schemas.openxmlformats.org/officeDocument/2006/relationships/notesMaster" Target="/ppt/notesMasters/notesMaster1.xml" Id="R7ac217dfbcb740f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096563bd4c04520" /><Relationship Type="http://schemas.openxmlformats.org/officeDocument/2006/relationships/notesMaster" Target="/ppt/notesMasters/notesMaster1.xml" Id="R52cc7ad14222438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73ea11eb75d4d59" /><Relationship Type="http://schemas.openxmlformats.org/officeDocument/2006/relationships/notesMaster" Target="/ppt/notesMasters/notesMaster1.xml" Id="R879fa55a1ace4c0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6d681e7f7c44e7a" /><Relationship Type="http://schemas.openxmlformats.org/officeDocument/2006/relationships/notesMaster" Target="/ppt/notesMasters/notesMaster1.xml" Id="Rfd800a8a3aa6442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6248bf50ca146e0" /><Relationship Type="http://schemas.openxmlformats.org/officeDocument/2006/relationships/notesMaster" Target="/ppt/notesMasters/notesMaster1.xml" Id="R673dd6738eb94a3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8f40ad601304640" /><Relationship Type="http://schemas.openxmlformats.org/officeDocument/2006/relationships/notesMaster" Target="/ppt/notesMasters/notesMaster1.xml" Id="Rc8cfe3d8a66e403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107df955b0346ca" /><Relationship Type="http://schemas.openxmlformats.org/officeDocument/2006/relationships/notesMaster" Target="/ppt/notesMasters/notesMaster1.xml" Id="R52d6ccd216ae496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1f5131a1bde46f1" /><Relationship Type="http://schemas.openxmlformats.org/officeDocument/2006/relationships/notesMaster" Target="/ppt/notesMasters/notesMaster1.xml" Id="Reb3825183a31411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b3747716f3f42ea" /><Relationship Type="http://schemas.openxmlformats.org/officeDocument/2006/relationships/notesMaster" Target="/ppt/notesMasters/notesMaster1.xml" Id="R1941f04dbd9746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 页；建议 20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本页要点：中期答辩：已开展条件数据选择研究，后续推进多配置实验管理系统。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各位老师好，我是林肯达。今天汇报的课题是《面向大模型的数据与参数联合高效微调算法研究》。本次是中期答辩，我会重点说明已经开展的 PCU-Select 算法工作，以及接下来计划完成的实验管理系统。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转场：下面按四个部分汇报。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提示：完整读出总题目，明确“中期”定位。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/Users/bytedance/Library/Containers/com.tencent.xinWeChat/Data/Documents/xwechat_files/wxid_gv7hy4hchzzw22_bc53/msg/file/2026-09/开题答辩-林肯达.pptx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用户提供的第二工作点方案（本轮消息）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 页；建议 12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本页要点：围绕课题进展、工作一、工作二和后续计划展开。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首先交代开题目标与当前进展；接着介绍工作一的方法和验证边界；然后说明工作二的系统方案；最后汇报后续八周的建议计划与交付标准。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转场：先看课题目前推进到了哪里。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提示：快速指过四项，不展开技术细节。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/Users/bytedance/Library/Containers/com.tencent.xinWeChat/Data/Documents/xwechat_files/wxid_gv7hy4hchzzw22_bc53/msg/file/2026-09/开题答辩-林肯达.pptx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用户提供的第二工作点方案（本轮消息）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 页；建议 6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本页要点：将开题研究目标收敛为算法与系统两条主线。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第一部分是课题进展，重点说明研究目标怎样落实为两项可以完成和验证的工作。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转场：先对齐开题目标和中期聚焦。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提示：章节页短暂停顿后翻页。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/Users/bytedance/Library/Containers/com.tencent.xinWeChat/Data/Documents/xwechat_files/wxid_gv7hy4hchzzw22_bc53/msg/file/2026-09/开题答辩-林肯达.pptx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用户提供的第二工作点方案（本轮消息）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4 页；建议 38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本页要点：围绕数据与参数的协同，形成条件选数算法和多配置实验系统两项工作。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开题时，我希望同时考虑训练数据和可训练参数，降低大模型适配任务的成本。中期阶段，这个目标进一步聚焦为两项工作。第一项是 PCU-Select：给定任务和微调配置，选择更适合的数据。第二项是实验管理系统：当任务、配置和预算反复组合时，管理可复用计算与实验产物。开题中的动态路由方向暂时收敛为后续展望，当前优先把这两项工作的实现和验证做完整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转场：两项工作处于不同阶段，下面分别说明。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提示：强调总目标延续，研究内容有所聚焦；不要把动态路由说成已完成。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/Users/bytedance/Library/Containers/com.tencent.xinWeChat/Data/Documents/xwechat_files/wxid_gv7hy4hchzzw22_bc53/msg/file/2026-09/开题答辩-林肯达.pptx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用户提供的第二工作点方案（本轮消息）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5 页；建议 35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本页要点：算法与脚本已有基础；真实实验核验和系统工程机制仍需完成。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目前已经形成论文稿件和算法实现，包括特征缓存、任务表示、PEFT 编码、条件评分、聚类配额，以及训练评测脚本。这里的“已有”主要指方法和代码资产。实验数据已更新为真实运行结果。第二项工作目前处于方案阶段，分层依赖缓存、公共节点去重和恢复机制将作为后续新增内容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转场：接下来先介绍已经形成的方法。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提示：区分已有研究进展与计划新增的系统工作。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/Users/bytedance/code/data-selection/README.md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/Users/bytedance/code/data-selection/src/pcu_select/pipeline/apply.py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/Users/bytedance/code/data-selection/scripts/paper/competition_numbers.py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/Users/bytedance/code/data-selection/paper/data/competition_revision_notes.md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用户提供的第二工作点方案（本轮消息）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6 页；建议 6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本页要点：跨 PEFT 配置复用的数据选择方法。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第二部分介绍工作一，核心是让数据选择感知具体的微调配置，同时复用前期计算。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转场：先说明为什么选数要同时考虑配置和任务。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提示：PCU-Select 读作字母加 Select 即可。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/Users/bytedance/code/data-selection/paper/Sections/03_problem_formulation.tex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7 页；建议 46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本页要点：用 u(x,p,t) 表示一条样本在特定微调配置和目标任务下的价值。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PEFT 是参数高效微调，也就是只更新模型中的一小部分参数。不同配置会改变能更新的位置和容量。因此，同一道练习题对不同学习方式的帮助可能不同，数据价值也不能只看样本本身。我用 u(x,p,t) 表示这种条件效用：x 是样本，p 是微调配置，t 是目标任务。目标是在有限预算内选出有帮助的子集。逐一训练所有候选子集代价太高，所以需要学习一个评分器，近似判断每条样本对当前配置和任务的作用。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转场：为了让同一个评分器处理不同配置，需要先把三类信息表达清楚。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提示：解释一次练习题类比，再回到 x、p、t；强调这是要验证的建模假设。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/Users/bytedance/code/data-selection/paper/Sections/03_problem_formulation.tex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/Users/bytedance/code/data-selection/paper/Sections/04_method.tex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8 页；建议 50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本页要点：样本描述内容，任务描述需求，PEFT 描述更新方式；共享位点支持信号复用。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评分器读取三类表示。样本表示包括语义、难度和激活特征；任务表示由少量任务样本的表示平均得到；PEFT 编码记录作用位置、更新类型、容量和训练配方。不同微调方法的参数形状不同，不能直接共用原始参数梯度。因此，方法在模型内部固定观察位置：八个层，每层三个模块输出，共二十四个位点。可以把它看成固定的测量坐标。不同配置保留自己的作用方式，同时共用这些坐标下的样本信号。位点梯度主要服务于离线标签构造，不直接等同于全部参数梯度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转场：表示解决了如何输入，接下来需要说明评分器从什么信号学习。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提示：先讲三种表示分别回答什么，再解释 8×3；不要朗读所有维度。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/Users/bytedance/code/data-selection/paper/Sections/04_method.tex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/Users/bytedance/code/data-selection/src/pcu_select/pipeline/offline.py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/Users/bytedance/code/data-selection/src/pcu_select/peft_space/encoder.py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9 页；建议 55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本页要点：低成本代理覆盖候选池，短更新提供直接反馈，分簇配额控制重复与覆盖。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多保真指两种成本和直接程度不同的监督信号。低保真比较样本与任务在共享位点上的梯度方向，便宜，适合覆盖大量数据。高保真则做少量真实更新，观察任务样本集的损失是否下降，更直接，但仍然只是小批次短期作用，不能当成长程训练的真实贡献。评分器学习这些信号后，输出效用和不确定性，再对不确定性作惩罚。最后不直接全局取最高分，而是先按语义分簇，根据每个簇的价值和规模分配预算，再在簇内取高分样本，从而兼顾效用与覆盖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转场：把这些模块连起来，就是方法的完整流程。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提示：按“标签从哪来→如何评分→怎样选集”顺序，配额公式只讲价值和规模。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/Users/bytedance/code/data-selection/paper/Sections/04_method.tex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/Users/bytedance/code/data-selection/src/pcu_select/selection/selector.py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10 页；建议 48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本页要点：离线形成可复用资产，在线根据目标条件生成各自子集。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整体分成离线和在线两部分。离线阶段提取并保存样本特征、任务表示和位点信号，构造两类监督标签，训练条件评分器。这部分构成前期投入。在线阶段输入目标 PEFT 和任务，读取缓存，计算条件分数，再通过聚类和配额生成预算内子集，最后进入下游训练评测。这里复用的是特征和评分器，每个目标仍然使用自己的子集。对于超出训练支持范围的配置，需要按验证情况选择校准或其他选数方案，不能默认所有新配置都能直接使用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转场：评价时，我分别考察最终质量和选择侧成本。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提示：沿流程箭头讲，突出“复用公共资产＋保留目标条件”。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/Users/bytedance/code/data-selection/paper/Sections/04_method.tex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/Users/bytedance/code/data-selection/src/pcu_select/pipeline/offline.py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/Users/bytedance/code/data-selection/src/pcu_select/pipeline/apply.py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11 页；建议 58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本页要点：实验结果体现质量接近、选择计算可摊销的分析思路；按实验协议解释质量与成本。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这一页保留实验中的三个比较口径。质量方面，PCU-Select 的任务原生指标宏平均是三十五点一八，LESS 是三十五点一四，只能说稿件均值接近，不能据此宣称显著领先。选择成本方面，五套配置的合计分别是一百五十一点六和三百一十六个 GPU 小时；新增一套四任务配置的边际成本分别是一点五一和六十三点二。总成本包含前期摊销，边际成本描述新增目标，两者都排除下游训练。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转场：所以，中期阶段需要把方法进展和实验结论的成熟度分开说明。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提示：每组数字先报口径再比较；说明质量与成本的比较范围。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/Users/bytedance/code/data-selection/paper/tables/table_quality_cost_headline.tex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/Users/bytedance/code/data-selection/paper/data/competition_cost_model.json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/Users/bytedance/code/data-selection/scripts/paper/competition_numbers.py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/Users/bytedance/code/data-selection/paper/data/competition_revision_notes.md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12 页；建议 38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本页要点：已形成方法与代码基础；有效性、稳定性和成本结论以对应实验协议为限。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工作一已经形成共享位点、条件评分和聚类配额的完整方法，也有对应代码与实验入口。实验记录需关联数据版本、训练种子、配置与表格结果。方法本身也有边界：短更新只近似长期收益，共享位点是结构近似，现有范围不能直接推出跨模型家族的普遍结论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转场：当这些算法资产被反复用于实验时，就引出了第二项工作。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提示：小结先讲已有成果，再说明实验范围。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/Users/bytedance/code/data-selection/README.md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/Users/bytedance/code/data-selection/paper/Sections/04_method.tex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/Users/bytedance/code/data-selection/scripts/paper/competition_numbers.py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/Users/bytedance/code/data-selection/paper/data/competition_revision_notes.md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13 页；建议 6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本页要点：基于 PCU-Select 的多配置数据选择与微调实验管理系统（计划）。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第三部分是计划开展的工作二，将工作一的算法资产组织成可重复执行、可追溯的系统。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转场：先说明系统要解决的具体问题。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提示：明确本部分属于拟开展工作。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用户提供的第二工作点方案（本轮消息）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14 页；建议 44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本页要点：复用算法资产，补齐多配置实验的产物管理、公共计算和恢复能力。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重复做多任务、多配置实验时，会不断遇到三个问题：哪些旧结果还能用，相同计算是否重复执行，以及失败后从哪里继续。第一工作已经提供了特征缓存、任务表示、条件评分、聚类配额、PEFT 注册和实验脚本。第二工作将补上依赖清单、版本判定、公共节点执行以及请求独立目录。现有脚本已经能循环运行实验矩阵，所以新增内容重点是让复用规则可检查，让执行状态和产物对应清楚，而不是重新设计一套评分算法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转场：第一项工程机制先回答：一个产物什么时候还能复用？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提示：对照“已有资产→新增能力”，不要说系统已上线。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/Users/bytedance/code/data-selection/README.md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/Users/bytedance/code/data-selection/scripts/experiments/README.md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/Users/bytedance/code/data-selection/src/pcu_select/features/cache.py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/Users/bytedance/code/data-selection/scripts/experiments/run_e1.py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用户提供的第二工作点方案（本轮消息）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15 页；建议 50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本页要点：依据内容与版本判断兼容性，沿依赖关系定位受影响的计算。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分层缓存可以理解成给每份中间结果附上来源清单。样本特征依赖样本内容、模型和预处理；任务表示依赖任务样本与表示方式；评分再依赖目标 PEFT、任务表示和评分器版本；聚类依赖完整候选池的语义特征；子集依赖评分、聚类和预算。系统计划记录内容摘要、配置、随机种子及产物校验值。这样即使样本名字没变，只要内容变了，也能识别旧结果已经不适用。变化发生后，只沿受影响的依赖向下重算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转场：这些依赖关系对应几条明确的复用规则。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提示：用“来源清单”解释依赖；指一条完整的样本到子集路径。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/Users/bytedance/code/data-selection/src/pcu_select/features/cache.py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/Users/bytedance/code/data-selection/src/pcu_select/selection/selector.py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用户提供的第二工作点方案（本轮消息）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16 页；建议 60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本页要点：预算、训练种子和候选池变化作用于不同层级，不能使用同一种失效规则。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第一种情况，只改选数预算。评分和聚类不变，重新分配配额并生成子集即可。第二种情况，选择条件和选择种子都不变，只改下游训练随机种子，那么直接复用子集，重新训练和评测。第三种情况，候选池新增样本，而且评分条件不变，可以保留旧样本兼容的特征和逐样本分数，只补算新增样本。但整个数据池变了，完整池的聚类、配额和子集仍要重算。候选顺序也要进入依赖。另外，学习率等训练配方进入了 PEFT 编码，不能把它们的变化误当成仅改变训练种子。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转场：有了正确的复用判定，还需要保证一批请求能够可靠执行。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提示：逐行讲三个变化案例；最后专门区分训练种子与训练配方。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/Users/bytedance/code/data-selection/src/pcu_select/peft_space/encoder.py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/Users/bytedance/code/data-selection/src/pcu_select/selection/cluster.py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用户提供的第二工作点方案（本轮消息）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17 页；建议 54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本页要点：相同依赖节点只执行一次，完成产物经校验后供请求复用，失败从阶段恢复。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第二项机制把请求拆成特征、任务表示、评分、聚类、选数、训练和评测等阶段。两个请求如果某个阶段的输入依赖完全相同，就指向同一个计算节点，计划只执行一次。写结果时，先写临时文件，检查完整性后再原子发布，并记录完成标记；各请求则使用自己的目录和记录，避免互相覆盖。中断后，已经完成且校验通过的产物继续复用，只重跑失败或尚未完成的阶段。这里的恢复以阶段为单位，首版不承诺训练内部每一步的断点续训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转场：下面用一个小矩阵说明哪些计算能共享。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提示：解释“原子发布”为写完整后一次性变成可用；恢复边界要讲清。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/Users/bytedance/code/data-selection/src/pcu_select/pipeline/apply.py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/Users/bytedance/code/data-selection/scripts/experiments/run_e1.py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用户提供的第二工作点方案（本轮消息）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18 页；建议 52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本页要点：4 份目标评分、1 份公共聚类、12 份独立子集支撑 24 次训练；计数不代表加速倍数。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以同一候选池为例，两种 PEFT、两个任务、三个预算和两个训练种子，共有二十四次训练。固定特征、评分器、聚类配置和选择种子后，PEFT 与任务形成四种目标条件，因此需要四份评分。聚类只依赖这一份完整池的语义特征，所以可共享一份。四种条件各做三个预算，得到十二份子集，每份子集再使用两个训练种子，完成二十四次训练。各任务和配置仍保留自己的子集。这是计划中的节点数量示例，既不是现有系统的实测结果，也不等于端到端加速倍数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转场：围绕这一类实验矩阵，首版系统保持明确的实现范围。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提示：依次指 4→1→12→24；提醒计数未包含全部离线工作与 I/O。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/Users/bytedance/code/data-selection/src/pcu_select/selection/cluster.py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用户提供的第二工作点方案（本轮消息）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19 页；建议 38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本页要点：单工作节点、任务队列、元数据索引和本地产物库，提供简洁控制台。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首版采用单工作节点，不把分布式调度作为当前目标。系统包括任务队列、元数据索引和本地产物库，并提供简洁控制台。用户先登记数据与任务，再提交实验矩阵，查看预计复用和重算哪些阶段，然后执行选数，按需要接入训练评测，最后导出报告。支持范围继续沿用第一工作已经核验的骨干与 PEFT；尚未完成真实验证的配置只保留为待验证项。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转场：系统做出来后，需要用对照实验验证两项机制的价值。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提示：沿操作流程从左到右；不要把控制台设计图称为实际运行截图。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用户提供的第二工作点方案（本轮消息）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/Users/bytedance/code/data-selection/scripts/experiments/README.md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/Users/bytedance/code/data-selection/paper/data/competition_revision_notes.md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20 页；建议 55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本页要点：以已有脚本、加入依赖缓存和完整系统三组，分别验证正确性、效率和恢复代价。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验证计划分三组：已有脚本流程、加入依赖缓存、完整系统。已有脚本本来就缓存部分特征，因此比较时保留这项基础。机制一测试改预算、改种子、增加样本和同名样本改内容，记录各层重算数量、时间与存储，并检查结果是否与完整重算一致。机制二运行同一批实验矩阵，记录实际执行次数，再注入中断，测恢复时间、重复工作和结果隔离。选择阶段与端到端耗时分开报告。缓存和节点去重的收益可能重叠，不能把两项节省比例相加，提升幅度以最终测量为准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转场：最后说明如何在中期之后完成实现和验证。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提示：先说三组对照，再对应两项机制的场景与指标；不预填提升比例。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/Users/bytedance/code/data-selection/src/pcu_select/features/cache.py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/Users/bytedance/code/data-selection/scripts/experiments/run_e1.py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用户提供的第二工作点方案（本轮消息）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21 页；建议 6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本页要点：按建议的八周节奏完成算法核验、系统实现与定量评价。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第四部分是后续计划。我以中期答辩后八周为建议周期，将实现和实验核验并行推进。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转场：每两周设置一个可检查的里程碑。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提示：明确八周为相对建议计划，不是已确认的校历安排。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用户提供的第二工作点方案（本轮消息）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22 页；建议 50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本页要点：先确定依赖与接口，再完成缓存和执行机制，最后进行对照评价与论文整理。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第一到第二周，固定系统范围和评分器版本，整理依赖清单、请求规范，并拆开评分、聚类和配额接口。第三到第四周，完成内容摘要、版本判定和局部重算，覆盖预算、种子与样本变化场景。第五到第六周，接入队列、公共节点、阶段恢复、结果隔离和控制台，跑通矩阵示例。第七到第八周，完成机制对照与故障实验，整理报告和论文。同时整理第一工作的实验记录和论文结果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转场：完成与否，将用具体交付和验收标准判断。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提示：每阶段只讲任务和一个交付；强调双线并行及相对建议性质。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用户提供的第二工作点方案（本轮消息）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/Users/bytedance/code/data-selection/paper/data/competition_revision_notes.md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23 页；建议 38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本页要点：交付可运行系统、可追溯实验产物、机制评价报告和完善后的论文。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预期交付包括四项：第一，可运行的单节点系统，能够完成从矩阵提交到报告导出的流程；第二，带版本和依赖记录的实验产物；第三，两项工程机制的对照评价报告；第四，由实验结果支撑的论文。验收时重点检查：复用结果与参考重算是否一致，过期或损坏产物是否能识别，不同请求是否互不覆盖，中断后是否只重复必要阶段。效率提升不预设结论，由实际测量给出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转场：两项工作共同服务于课题最初的高效微调目标。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提示：将“验收目标”和“已经达到”明确区分。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用户提供的第二工作点方案（本轮消息）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24 页；建议 25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本页要点：工作一形成条件选数方法，工作二计划提高多配置实验的复用性和可管理性。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总结来说，工作一研究在不同任务和微调配置下如何选择数据，已经形成方法与代码基础；工作二计划把这些资产组织成可复用、可恢复、可追溯的实验系统。后续重点是完成两项工程机制的实现和定量验证。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转场：以上是我的中期汇报。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提示：用一句话对应每项工作，收束到剩余任务。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/Users/bytedance/code/data-selection/README.md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用户提供的第二工作点方案（本轮消息）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25 页；建议 10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本页要点：进入提问环节。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我的汇报到此结束。感谢各位老师的时间，恳请老师们对研究边界、验证方案和后续工作安排提出意见。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转场：根据老师提问展开回答。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提示：停留本页，准备根据问题调用两页备用内容。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/Users/bytedance/Library/Containers/com.tencent.xinWeChat/Data/Documents/xwechat_files/wxid_gv7hy4hchzzw22_bc53/msg/file/2026-09/开题答辩-林肯达.pptx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26 页；建议 70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本页要点：完整依赖决定复用资格；完成标记与校验共同确认产物；恢复以阶段为单位。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缓存键不能只使用样本名或文件路径。特征要记录样本内容摘要、模型权重与预处理版本；任务表示要记录任务样本和编码配置；评分还要加入 PEFT 编码、评分器及必要校准版本；聚类要加入完整池顺序、语义特征、聚类参数和种子；子集要加入预算、配额参数和确定性的排序规则。训练另有随机种子和运行配置。恢复时，完成标记和校验必须同时通过；只有文件存在还不够。若训练阶段失败，首版从该训练阶段重新执行，不承诺模型训练内部 step 的断点恢复。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转场：这样可以将复用判定与产物完整性分开检查。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提示：只回答被问到的层级，不必全文朗读。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/Users/bytedance/code/data-selection/src/pcu_select/features/cache.py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/Users/bytedance/code/data-selection/src/pcu_select/peft_space/encoder.py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/Users/bytedance/code/data-selection/src/pcu_select/selection/cluster.py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用户提供的第二工作点方案（本轮消息）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27 页；建议 70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本页要点：代码支持、稿件描述和真实实验验证是不同状态，需要逐项对齐。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目前主表按任务、配置和训练种子组织实验结果；计时也需要关联硬件、配置和原始阶段日志。复现实验时，应为每个实验记录数据版本、模型、PEFT、选择与训练种子、指标和产物路径，再由日志重建表格。系统首版以已经真实核验的骨干与 PEFT 为支持范围；仅在注册表或代码中出现，不代表完成了相同程度的实验验证。新增家族和跨骨干扩展列为后续验证事项。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转场：各项结论对应具体实验配置与计时口径。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提示：说明实验配置、统计口径与后续研究范围。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/Users/bytedance/code/data-selection/scripts/paper/competition_numbers.py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/Users/bytedance/code/data-selection/paper/data/competition_revision_notes.md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/Users/bytedance/code/data-selection/paper/data/competition_cost_model.json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/Users/bytedance/code/data-selection/src/pcu_select/experiments/registry.py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977676fa8a434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d9077c7ef04b3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5b9e08793f4e1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c114b3094a4fc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92d4893254416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498b52277b41b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9ba5f8b835478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2ceb20300f492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db4aac5bed472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f496b581d442d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5a88c65654471d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cd539742eb64027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1a0675d25a3471c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56f7ff4a48d4ee2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7664d5ab4e64c2b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12350f2ea1c4ee4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195387f755a477d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5b7f36212544ff5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dd1d02e341b431e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89feb4666f6485a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880f8cdd02e42af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913693fd3e34a13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A08CFC7-C1BE-4F99-B3AB-23ACF759187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2932889C-D737-40C8-BCC9-9DA0C85D988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4C89B69-0844-4417-B5EA-09B327D45BE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25B6C96-2FC3-4BE3-8748-FC83B1BA523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673C5EE-9429-4BCD-9B5A-FCF15A9DBCB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135A151-099C-4155-8D37-FCAF98E839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12495AB4-6B60-4343-BE89-9478E84900D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CF58304-8886-48BF-8334-392A395E0A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8F291CA-4E66-48D6-BE2F-E03A13C984F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A8D7088-E4D0-4EA1-9BAA-9474EB2128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C65B461-0E60-45BF-B680-AC4CA9A2E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99E7F98-D5FD-4646-A2D6-AEBD63C8D99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CAE0850-13E4-466F-BBA5-29AB6C7FEE1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9549568-D6D5-4A56-9DA0-D0446C728EC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89BD9E9-8F53-470A-A97E-12F782BCA2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F2A7FAF-189F-4894-A630-1AB23A0571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23A9DFC0-BC2D-4308-80AB-420EC1388D6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F2C6861F-A088-4DF8-B993-12B9FBA2DCC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04EDFFB-8C83-4682-B40D-156914895BC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0764E19-65CA-4237-B9D8-8C395E7D7FA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2FEB9628-CA3C-4F3B-9A33-3B6D7B01D89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2EF0426-AFCB-4037-AA36-AF97A3EE30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AFF9D405-0543-4372-8172-3EFEC368EDB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1D9930E3-98FA-4E9A-B3B3-7DB72B09B1C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8CE29044-0664-474B-B376-2AA5C421A016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37A1AC04-41CA-4960-9DB1-CE17E711497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D7CC7A71-6761-44F9-B009-402B1A5737B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4EBF8009-73D0-4974-A5EA-876938B869B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4AB2E592-9A46-4AEC-AC77-F4C86DC125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2D9AD17-2906-4825-A3AB-A3C2B1BCAF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F955A0D3-F01C-4FFA-9098-6C8BC8D4FC5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09DA58C7-45B5-4CAE-8415-D3A6FA28A9D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6ADAA28D-900A-4CA1-8008-AFEB8CF974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873E6BDB-FA0D-46B8-9D92-E808F7A720D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DC7D280C-1B2B-46D9-AD93-8FCBEC3D13F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95888663-42C7-49B1-8E86-A11FEBE630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32F0673-65F6-4D73-80EB-3B9274412A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DB0EB3D6-AA62-46E9-A5A9-219D6B2F0EE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65F605BB-2211-4E21-BD98-6EB8D580CD0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9130EFD8-02AF-48A2-A5CC-A76D34B73B8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0CF245DF-C508-4FE9-A8A2-1B5C13BEC99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A4E0FAC4-7A02-4A29-A6BC-F581C8CC89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4609960-CC64-4AB3-93C2-00B3E3BA41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A354C936-898A-492D-983F-AE87F3E15268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31E6D6D8-8B57-4841-A986-622EE336AE7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C96580EC-1496-4469-9966-2A4250AE3A9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4E134A3A-117D-4CDF-9F75-B7A7B90EF5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14F2A20-0468-41B0-A8D1-78D7D0B6498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875F446-1501-40C4-88E7-8325C93DEC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8DB75460-D37A-4E88-9582-9C712123BB8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6D7F638-3623-41E7-AF99-2D59C20CE3D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EC1B277-8770-4CF0-9A72-F2F8CBA5C9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7DAAF4F-EB5F-4A73-84D9-F5D8B884C9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32123ECB-CF6E-4DDC-83EF-39056664EC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214115FC-DE57-41ED-8427-B2CF8BAE99E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7E44464-6C85-4BF5-9B25-BF4E58AEB80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B49C296-AE82-4654-AD53-1F2A4ACAD7A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E8B5DE1-AEA4-4030-87C9-1454E32DFB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任意多边形: 形状 18">
            <a:extLst xmlns:a="http://schemas.openxmlformats.org/drawingml/2006/main">
              <a:ext uri="{FF2B5EF4-FFF2-40B4-BE49-F238E27FC236}">
                <a16:creationId xmlns:a16="http://schemas.microsoft.com/office/drawing/2014/main" id="{76CC1FAE-3C29-479D-9E76-0D917066D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787400"/>
            <a:ext cx="11095355" cy="3505200"/>
          </a:xfrm>
          <a:custGeom xmlns:a="http://schemas.openxmlformats.org/drawingml/2006/main">
            <a:gdLst>
              <a:gd name="connsiteX0" fmla="*/ 10131107 w 11095355"/>
              <a:gd name="connsiteY0" fmla="*/ 0 h 3505200"/>
              <a:gd name="connsiteX1" fmla="*/ 11095355 w 11095355"/>
              <a:gd name="connsiteY1" fmla="*/ 835025 h 3505200"/>
              <a:gd name="connsiteX2" fmla="*/ 11095355 w 11095355"/>
              <a:gd name="connsiteY2" fmla="*/ 3505200 h 3505200"/>
              <a:gd name="connsiteX3" fmla="*/ 0 w 11095355"/>
              <a:gd name="connsiteY3" fmla="*/ 180612 h 3505200"/>
              <a:gd name="connsiteX4" fmla="*/ 0 w 11095355"/>
              <a:gd name="connsiteY4" fmla="*/ 36392 h 3505200"/>
              <a:gd name="connsiteX0-1" fmla="*/ 0 w 11095355"/>
              <a:gd name="connsiteY0-2" fmla="*/ 180612 h 3505200"/>
              <a:gd name="connsiteX1-3" fmla="*/ 0 w 11095355"/>
              <a:gd name="connsiteY1-4" fmla="*/ 36392 h 3505200"/>
              <a:gd name="connsiteX2-5" fmla="*/ 10131107 w 11095355"/>
              <a:gd name="connsiteY2-6" fmla="*/ 0 h 3505200"/>
              <a:gd name="connsiteX3-7" fmla="*/ 11095355 w 11095355"/>
              <a:gd name="connsiteY3-8" fmla="*/ 835025 h 3505200"/>
              <a:gd name="connsiteX4-9" fmla="*/ 11095355 w 11095355"/>
              <a:gd name="connsiteY4-10" fmla="*/ 3505200 h 3505200"/>
              <a:gd name="connsiteX5" fmla="*/ 91440 w 11095355"/>
              <a:gd name="connsiteY5" fmla="*/ 272052 h 3505200"/>
              <a:gd name="connsiteX0-11" fmla="*/ 0 w 11095355"/>
              <a:gd name="connsiteY0-12" fmla="*/ 180612 h 3505200"/>
              <a:gd name="connsiteX1-13" fmla="*/ 0 w 11095355"/>
              <a:gd name="connsiteY1-14" fmla="*/ 36392 h 3505200"/>
              <a:gd name="connsiteX2-15" fmla="*/ 10131107 w 11095355"/>
              <a:gd name="connsiteY2-16" fmla="*/ 0 h 3505200"/>
              <a:gd name="connsiteX3-17" fmla="*/ 11095355 w 11095355"/>
              <a:gd name="connsiteY3-18" fmla="*/ 835025 h 3505200"/>
              <a:gd name="connsiteX4-19" fmla="*/ 11095355 w 11095355"/>
              <a:gd name="connsiteY4-20" fmla="*/ 3505200 h 3505200"/>
              <a:gd name="connsiteX0-21" fmla="*/ 0 w 11095355"/>
              <a:gd name="connsiteY0-22" fmla="*/ 36392 h 3505200"/>
              <a:gd name="connsiteX1-23" fmla="*/ 10131107 w 11095355"/>
              <a:gd name="connsiteY1-24" fmla="*/ 0 h 3505200"/>
              <a:gd name="connsiteX2-25" fmla="*/ 11095355 w 11095355"/>
              <a:gd name="connsiteY2-26" fmla="*/ 835025 h 3505200"/>
              <a:gd name="connsiteX3-27" fmla="*/ 11095355 w 11095355"/>
              <a:gd name="connsiteY3-28" fmla="*/ 3505200 h 3505200"/>
            </a:gdLst>
            <a:rect l="l" t="t" r="r" b="b"/>
            <a:pathLst>
              <a:path w="11095355" h="3505200">
                <a:moveTo>
                  <a:pt x="0" y="36392"/>
                </a:moveTo>
                <a:lnTo>
                  <a:pt x="10131107" y="0"/>
                </a:lnTo>
                <a:cubicBezTo>
                  <a:pt x="10663460" y="0"/>
                  <a:pt x="11095355" y="374015"/>
                  <a:pt x="11095355" y="835025"/>
                </a:cubicBezTo>
                <a:lnTo>
                  <a:pt x="11095355" y="3505200"/>
                </a:lnTo>
              </a:path>
            </a:pathLst>
          </a:custGeom>
          <a:noFill xmlns:a="http://schemas.openxmlformats.org/drawingml/2006/main"/>
          <a:ln xmlns:a="http://schemas.openxmlformats.org/drawingml/2006/main" w="31750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任意多边形: 形状 21">
            <a:extLst xmlns:a="http://schemas.openxmlformats.org/drawingml/2006/main">
              <a:ext uri="{FF2B5EF4-FFF2-40B4-BE49-F238E27FC236}">
                <a16:creationId xmlns:a16="http://schemas.microsoft.com/office/drawing/2014/main" id="{259FC8A2-955F-4249-81CC-5A008F6E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96646" y="2565400"/>
            <a:ext cx="11095355" cy="3505200"/>
          </a:xfrm>
          <a:custGeom xmlns:a="http://schemas.openxmlformats.org/drawingml/2006/main">
            <a:gdLst>
              <a:gd name="connsiteX0" fmla="*/ 11095355 w 11095355"/>
              <a:gd name="connsiteY0" fmla="*/ 3505200 h 3505200"/>
              <a:gd name="connsiteX1" fmla="*/ 0 w 11095355"/>
              <a:gd name="connsiteY1" fmla="*/ 180612 h 3505200"/>
              <a:gd name="connsiteX2" fmla="*/ 0 w 11095355"/>
              <a:gd name="connsiteY2" fmla="*/ 36392 h 3505200"/>
              <a:gd name="connsiteX3" fmla="*/ 10131107 w 11095355"/>
              <a:gd name="connsiteY3" fmla="*/ 0 h 3505200"/>
              <a:gd name="connsiteX4" fmla="*/ 11095355 w 11095355"/>
              <a:gd name="connsiteY4" fmla="*/ 835025 h 3505200"/>
              <a:gd name="connsiteX0-1" fmla="*/ 0 w 11095355"/>
              <a:gd name="connsiteY0-2" fmla="*/ 180612 h 3505200"/>
              <a:gd name="connsiteX1-3" fmla="*/ 0 w 11095355"/>
              <a:gd name="connsiteY1-4" fmla="*/ 36392 h 3505200"/>
              <a:gd name="connsiteX2-5" fmla="*/ 10131107 w 11095355"/>
              <a:gd name="connsiteY2-6" fmla="*/ 0 h 3505200"/>
              <a:gd name="connsiteX3-7" fmla="*/ 11095355 w 11095355"/>
              <a:gd name="connsiteY3-8" fmla="*/ 835025 h 3505200"/>
              <a:gd name="connsiteX4-9" fmla="*/ 11095355 w 11095355"/>
              <a:gd name="connsiteY4-10" fmla="*/ 3505200 h 3505200"/>
              <a:gd name="connsiteX5" fmla="*/ 91440 w 11095355"/>
              <a:gd name="connsiteY5" fmla="*/ 272052 h 3505200"/>
              <a:gd name="connsiteX0-11" fmla="*/ 0 w 11095355"/>
              <a:gd name="connsiteY0-12" fmla="*/ 180612 h 3505200"/>
              <a:gd name="connsiteX1-13" fmla="*/ 0 w 11095355"/>
              <a:gd name="connsiteY1-14" fmla="*/ 36392 h 3505200"/>
              <a:gd name="connsiteX2-15" fmla="*/ 10131107 w 11095355"/>
              <a:gd name="connsiteY2-16" fmla="*/ 0 h 3505200"/>
              <a:gd name="connsiteX3-17" fmla="*/ 11095355 w 11095355"/>
              <a:gd name="connsiteY3-18" fmla="*/ 835025 h 3505200"/>
              <a:gd name="connsiteX4-19" fmla="*/ 11095355 w 11095355"/>
              <a:gd name="connsiteY4-20" fmla="*/ 3505200 h 3505200"/>
              <a:gd name="connsiteX0-21" fmla="*/ 0 w 11095355"/>
              <a:gd name="connsiteY0-22" fmla="*/ 36392 h 3505200"/>
              <a:gd name="connsiteX1-23" fmla="*/ 10131107 w 11095355"/>
              <a:gd name="connsiteY1-24" fmla="*/ 0 h 3505200"/>
              <a:gd name="connsiteX2-25" fmla="*/ 11095355 w 11095355"/>
              <a:gd name="connsiteY2-26" fmla="*/ 835025 h 3505200"/>
              <a:gd name="connsiteX3-27" fmla="*/ 11095355 w 11095355"/>
              <a:gd name="connsiteY3-28" fmla="*/ 3505200 h 3505200"/>
            </a:gdLst>
            <a:rect l="l" t="t" r="r" b="b"/>
            <a:pathLst>
              <a:path w="11095355" h="3505200">
                <a:moveTo>
                  <a:pt x="0" y="36392"/>
                </a:moveTo>
                <a:lnTo>
                  <a:pt x="10131107" y="0"/>
                </a:lnTo>
                <a:cubicBezTo>
                  <a:pt x="10663460" y="0"/>
                  <a:pt x="11095355" y="374015"/>
                  <a:pt x="11095355" y="835025"/>
                </a:cubicBezTo>
                <a:lnTo>
                  <a:pt x="11095355" y="3505200"/>
                </a:lnTo>
              </a:path>
            </a:pathLst>
          </a:custGeom>
          <a:noFill xmlns:a="http://schemas.openxmlformats.org/drawingml/2006/main"/>
          <a:ln xmlns:a="http://schemas.openxmlformats.org/drawingml/2006/main" w="31750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1399E682-70A8-4402-898F-ECCC86E2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725150" y="4871720"/>
            <a:ext cx="295910" cy="681355"/>
          </a:xfrm>
          <a:custGeom xmlns:a="http://schemas.openxmlformats.org/drawingml/2006/main"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 sz="19900">
              <a:solidFill>
                <a:schemeClr val="bg1"/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3AA51DD3-7A80-45A0-9A68-5F3B87B1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1178540" y="4871720"/>
            <a:ext cx="286385" cy="681355"/>
          </a:xfrm>
          <a:custGeom xmlns:a="http://schemas.openxmlformats.org/drawingml/2006/main"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 sz="19900">
              <a:solidFill>
                <a:schemeClr val="bg1"/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FB268DC0-C015-48EB-A846-7791EB41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70305" y="1399540"/>
            <a:ext cx="295910" cy="681355"/>
          </a:xfrm>
          <a:custGeom xmlns:a="http://schemas.openxmlformats.org/drawingml/2006/main"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 sz="19900">
              <a:solidFill>
                <a:schemeClr val="bg1">
                  <a:alpha val="65000"/>
                </a:schemeClr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74B07969-6D99-47A5-AB21-BAF21969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26440" y="1399540"/>
            <a:ext cx="286385" cy="681355"/>
          </a:xfrm>
          <a:custGeom xmlns:a="http://schemas.openxmlformats.org/drawingml/2006/main"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 sz="19900">
              <a:solidFill>
                <a:schemeClr val="bg1">
                  <a:alpha val="65000"/>
                </a:schemeClr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13C0206-38B4-4DE6-BA55-BF46A6D0F2F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895B839-DB52-4C91-9926-8D48EDA14F0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E4A09C7-5F74-4D6C-8F70-68F456A0FF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A89F625-E564-4975-8378-9CF65BE3F3FC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506220" y="2680335"/>
            <a:ext cx="9180195" cy="1697990"/>
          </a:xfrm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6000"/>
            </a:lvl1pPr>
          </a:lstStyle>
          <a:p xmlns:a="http://schemas.openxmlformats.org/drawingml/2006/main">
            <a:r>
              <a:t>单击编辑母版标题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6D87DB70-24C5-4FC5-97A2-33D969879304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2470800" y="1926000"/>
            <a:ext cx="7250400" cy="460800"/>
          </a:xfrm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单击此处编辑副标题</a:t>
            </a:r>
            <a:endParaRPr/>
          </a:p>
        </p:txBody>
      </p:sp>
      <p:sp>
        <p:nvSpPr>
          <p:cNvPr id="24" name="署名占位符 10">
            <a:extLst xmlns:a="http://schemas.openxmlformats.org/drawingml/2006/main">
              <a:ext uri="{FF2B5EF4-FFF2-40B4-BE49-F238E27FC236}">
                <a16:creationId xmlns:a16="http://schemas.microsoft.com/office/drawing/2014/main" id="{93127C6C-C840-4667-AD39-5B2D64B914C0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3936000" y="4680000"/>
            <a:ext cx="4320000" cy="504000"/>
          </a:xfrm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000" b="1"/>
            </a:lvl1pPr>
          </a:lstStyle>
          <a:p xmlns:a="http://schemas.openxmlformats.org/drawingml/2006/main">
            <a:pPr lvl="0">
              <a:buNone/>
            </a:pPr>
            <a:r>
              <a:t>署名</a:t>
            </a:r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AD1F659-F984-4BAB-AA60-DFA2FEFDA5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5976AC31-F2BD-48DD-B404-6AF477C3F20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B4F3D69-4485-4C09-9738-19745A76AC8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E885D4C-73B5-4858-91C1-9B5C574BC13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29FF477-986D-45C3-A66E-81FC30E2647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showMasterSp="0" preserve="1" userDrawn="1">
  <p:cSld name="目录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51F666E-6392-4F78-BFB8-D694B2A5689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E0B9527-07A1-46A6-B88A-95568233419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DE9F3C-EF10-48F0-BC8D-C869B8EBF6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任意多边形 55">
            <a:extLst xmlns:a="http://schemas.openxmlformats.org/drawingml/2006/main">
              <a:ext uri="{FF2B5EF4-FFF2-40B4-BE49-F238E27FC236}">
                <a16:creationId xmlns:a16="http://schemas.microsoft.com/office/drawing/2014/main" id="{823AD89F-4774-410C-A03E-729F7782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55" y="2261235"/>
            <a:ext cx="923290" cy="1787525"/>
          </a:xfrm>
          <a:custGeom xmlns:a="http://schemas.openxmlformats.org/drawingml/2006/main">
            <a:gdLst>
              <a:gd name="connsiteX0" fmla="*/ 6 w 1454"/>
              <a:gd name="connsiteY0" fmla="*/ 2815 h 2815"/>
              <a:gd name="connsiteX1" fmla="*/ 0 w 1454"/>
              <a:gd name="connsiteY1" fmla="*/ 345 h 2815"/>
              <a:gd name="connsiteX2" fmla="*/ 310 w 1454"/>
              <a:gd name="connsiteY2" fmla="*/ 0 h 2815"/>
              <a:gd name="connsiteX3" fmla="*/ 1454 w 1454"/>
              <a:gd name="connsiteY3" fmla="*/ 9 h 2815"/>
            </a:gdLst>
            <a:rect l="l" t="t" r="r" b="b"/>
            <a:pathLst>
              <a:path w="1454" h="2815">
                <a:moveTo>
                  <a:pt x="6" y="2815"/>
                </a:moveTo>
                <a:lnTo>
                  <a:pt x="0" y="345"/>
                </a:lnTo>
                <a:cubicBezTo>
                  <a:pt x="0" y="154"/>
                  <a:pt x="138" y="0"/>
                  <a:pt x="310" y="0"/>
                </a:cubicBezTo>
                <a:lnTo>
                  <a:pt x="1454" y="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chemeClr val="accent1">
                <a:alpha val="6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2CCCED6A-A8C6-4A9B-BB5F-46065C4E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3881120" y="2251710"/>
            <a:ext cx="158750" cy="396875"/>
          </a:xfrm>
          <a:custGeom xmlns:a="http://schemas.openxmlformats.org/drawingml/2006/main"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 sz="19900">
              <a:solidFill>
                <a:schemeClr val="bg1">
                  <a:alpha val="65000"/>
                </a:schemeClr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AD32206D-566E-46CA-BB70-E8E1FF8A7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123690" y="2251710"/>
            <a:ext cx="153670" cy="396875"/>
          </a:xfrm>
          <a:custGeom xmlns:a="http://schemas.openxmlformats.org/drawingml/2006/main"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 sz="19900">
              <a:solidFill>
                <a:schemeClr val="bg1">
                  <a:alpha val="65000"/>
                </a:schemeClr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BED1D7CC-2088-4BCD-8E84-01FDE25D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78205" y="4321810"/>
            <a:ext cx="158750" cy="396875"/>
          </a:xfrm>
          <a:custGeom xmlns:a="http://schemas.openxmlformats.org/drawingml/2006/main"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 sz="19900">
              <a:solidFill>
                <a:schemeClr val="bg1"/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C8D1B8FD-BD7E-4326-8E86-23D7EA17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40715" y="4321810"/>
            <a:ext cx="153670" cy="396875"/>
          </a:xfrm>
          <a:custGeom xmlns:a="http://schemas.openxmlformats.org/drawingml/2006/main"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 sz="19900">
              <a:solidFill>
                <a:schemeClr val="bg1"/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13" name="任意多边形 1">
            <a:extLst xmlns:a="http://schemas.openxmlformats.org/drawingml/2006/main">
              <a:ext uri="{FF2B5EF4-FFF2-40B4-BE49-F238E27FC236}">
                <a16:creationId xmlns:a16="http://schemas.microsoft.com/office/drawing/2014/main" id="{DF802476-CE4D-4503-BCC8-AED789654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3160395" y="2931160"/>
            <a:ext cx="922655" cy="1788795"/>
          </a:xfrm>
          <a:custGeom xmlns:a="http://schemas.openxmlformats.org/drawingml/2006/main">
            <a:gdLst>
              <a:gd name="connsiteX0" fmla="*/ 6 w 1453"/>
              <a:gd name="connsiteY0" fmla="*/ 2817 h 2817"/>
              <a:gd name="connsiteX1" fmla="*/ 0 w 1453"/>
              <a:gd name="connsiteY1" fmla="*/ 347 h 2817"/>
              <a:gd name="connsiteX2" fmla="*/ 310 w 1453"/>
              <a:gd name="connsiteY2" fmla="*/ 2 h 2817"/>
              <a:gd name="connsiteX3" fmla="*/ 1453 w 1453"/>
              <a:gd name="connsiteY3" fmla="*/ 0 h 2817"/>
            </a:gdLst>
            <a:rect l="l" t="t" r="r" b="b"/>
            <a:pathLst>
              <a:path w="1453" h="2817">
                <a:moveTo>
                  <a:pt x="6" y="2817"/>
                </a:moveTo>
                <a:lnTo>
                  <a:pt x="0" y="347"/>
                </a:lnTo>
                <a:cubicBezTo>
                  <a:pt x="0" y="156"/>
                  <a:pt x="138" y="2"/>
                  <a:pt x="310" y="2"/>
                </a:cubicBezTo>
                <a:lnTo>
                  <a:pt x="145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chemeClr val="accent1">
                <a:alpha val="6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91440D1-F245-4776-AA4E-B77227794C5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404000" y="2628000"/>
            <a:ext cx="2134800" cy="921600"/>
          </a:xfrm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>
            <a:lvl1pPr algn="ctr">
              <a:buNone/>
              <a:defRPr sz="5400">
                <a:solidFill>
                  <a:schemeClr val="tx1">
                    <a:alpha val="80000"/>
                  </a:schemeClr>
                </a:solidFill>
              </a:defRPr>
            </a:lvl1pPr>
          </a:lstStyle>
          <a:p xmlns:a="http://schemas.openxmlformats.org/drawingml/2006/main">
            <a:r>
              <a:t>标题</a:t>
            </a:r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showMasterSp="0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525E4F1D-0D0A-4692-8353-F2704BF96B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007ED94C-C611-48C7-AE80-F08F1F7EBF4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CD8AFF0A-5D9A-458C-9B7B-A476151BB61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7344B713-791C-4D31-A9AD-66BE0FC64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109085" y="4247515"/>
            <a:ext cx="144145" cy="360680"/>
          </a:xfrm>
          <a:custGeom xmlns:a="http://schemas.openxmlformats.org/drawingml/2006/main"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 sz="19900">
              <a:solidFill>
                <a:schemeClr val="bg1"/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0D2F491A-A673-4A85-A383-038C83415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330065" y="4247515"/>
            <a:ext cx="139065" cy="360680"/>
          </a:xfrm>
          <a:custGeom xmlns:a="http://schemas.openxmlformats.org/drawingml/2006/main"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 sz="19900">
              <a:solidFill>
                <a:schemeClr val="bg1"/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FA08DF32-0F15-4A11-8A2F-8C6D5B6F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92555" y="2370455"/>
            <a:ext cx="144145" cy="360680"/>
          </a:xfrm>
          <a:custGeom xmlns:a="http://schemas.openxmlformats.org/drawingml/2006/main"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 sz="19900">
              <a:solidFill>
                <a:schemeClr val="bg1">
                  <a:alpha val="65000"/>
                </a:schemeClr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AB80353F-357F-4D0A-BEFB-49664AC4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76655" y="2370455"/>
            <a:ext cx="139065" cy="360680"/>
          </a:xfrm>
          <a:custGeom xmlns:a="http://schemas.openxmlformats.org/drawingml/2006/main"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 sz="19900">
              <a:solidFill>
                <a:schemeClr val="bg1">
                  <a:alpha val="65000"/>
                </a:schemeClr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17" name="任意多边形: 形状 16">
            <a:extLst xmlns:a="http://schemas.openxmlformats.org/drawingml/2006/main">
              <a:ext uri="{FF2B5EF4-FFF2-40B4-BE49-F238E27FC236}">
                <a16:creationId xmlns:a16="http://schemas.microsoft.com/office/drawing/2014/main" id="{FBFE9134-2FAC-4588-894B-D56542A44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0" y="1924050"/>
            <a:ext cx="4290514" cy="1822450"/>
          </a:xfrm>
          <a:custGeom xmlns:a="http://schemas.openxmlformats.org/drawingml/2006/main">
            <a:gdLst>
              <a:gd name="connsiteX0" fmla="*/ 336550 w 4290514"/>
              <a:gd name="connsiteY0" fmla="*/ 1822450 h 1822450"/>
              <a:gd name="connsiteX1" fmla="*/ 635 w 4290514"/>
              <a:gd name="connsiteY1" fmla="*/ 1486535 h 1822450"/>
              <a:gd name="connsiteX2" fmla="*/ 0 w 4290514"/>
              <a:gd name="connsiteY2" fmla="*/ 0 h 1822450"/>
              <a:gd name="connsiteX3" fmla="*/ 4290514 w 4290514"/>
              <a:gd name="connsiteY3" fmla="*/ 619124 h 1822450"/>
              <a:gd name="connsiteX4" fmla="*/ 4290514 w 4290514"/>
              <a:gd name="connsiteY4" fmla="*/ 1819576 h 1822450"/>
              <a:gd name="connsiteX0-1" fmla="*/ 4290514 w 4381954"/>
              <a:gd name="connsiteY0-2" fmla="*/ 619124 h 1822450"/>
              <a:gd name="connsiteX1-3" fmla="*/ 4290514 w 4381954"/>
              <a:gd name="connsiteY1-4" fmla="*/ 1819576 h 1822450"/>
              <a:gd name="connsiteX2-5" fmla="*/ 336550 w 4381954"/>
              <a:gd name="connsiteY2-6" fmla="*/ 1822450 h 1822450"/>
              <a:gd name="connsiteX3-7" fmla="*/ 635 w 4381954"/>
              <a:gd name="connsiteY3-8" fmla="*/ 1486535 h 1822450"/>
              <a:gd name="connsiteX4-9" fmla="*/ 0 w 4381954"/>
              <a:gd name="connsiteY4-10" fmla="*/ 0 h 1822450"/>
              <a:gd name="connsiteX5" fmla="*/ 4381954 w 4381954"/>
              <a:gd name="connsiteY5" fmla="*/ 710564 h 1822450"/>
              <a:gd name="connsiteX0-11" fmla="*/ 4290514 w 4290514"/>
              <a:gd name="connsiteY0-12" fmla="*/ 619124 h 1822450"/>
              <a:gd name="connsiteX1-13" fmla="*/ 4290514 w 4290514"/>
              <a:gd name="connsiteY1-14" fmla="*/ 1819576 h 1822450"/>
              <a:gd name="connsiteX2-15" fmla="*/ 336550 w 4290514"/>
              <a:gd name="connsiteY2-16" fmla="*/ 1822450 h 1822450"/>
              <a:gd name="connsiteX3-17" fmla="*/ 635 w 4290514"/>
              <a:gd name="connsiteY3-18" fmla="*/ 1486535 h 1822450"/>
              <a:gd name="connsiteX4-19" fmla="*/ 0 w 4290514"/>
              <a:gd name="connsiteY4-20" fmla="*/ 0 h 1822450"/>
              <a:gd name="connsiteX0-21" fmla="*/ 4290514 w 4290514"/>
              <a:gd name="connsiteY0-22" fmla="*/ 1819576 h 1822450"/>
              <a:gd name="connsiteX1-23" fmla="*/ 336550 w 4290514"/>
              <a:gd name="connsiteY1-24" fmla="*/ 1822450 h 1822450"/>
              <a:gd name="connsiteX2-25" fmla="*/ 635 w 4290514"/>
              <a:gd name="connsiteY2-26" fmla="*/ 1486535 h 1822450"/>
              <a:gd name="connsiteX3-27" fmla="*/ 0 w 4290514"/>
              <a:gd name="connsiteY3-28" fmla="*/ 0 h 1822450"/>
            </a:gdLst>
            <a:rect l="l" t="t" r="r" b="b"/>
            <a:pathLst>
              <a:path w="4290514" h="1822450">
                <a:moveTo>
                  <a:pt x="4290514" y="1819576"/>
                </a:moveTo>
                <a:lnTo>
                  <a:pt x="336550" y="1822450"/>
                </a:lnTo>
                <a:cubicBezTo>
                  <a:pt x="151130" y="1822450"/>
                  <a:pt x="635" y="1671955"/>
                  <a:pt x="635" y="1486535"/>
                </a:cubicBezTo>
                <a:cubicBezTo>
                  <a:pt x="423" y="991023"/>
                  <a:pt x="212" y="495512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任意多边形: 形状 18">
            <a:extLst xmlns:a="http://schemas.openxmlformats.org/drawingml/2006/main">
              <a:ext uri="{FF2B5EF4-FFF2-40B4-BE49-F238E27FC236}">
                <a16:creationId xmlns:a16="http://schemas.microsoft.com/office/drawing/2014/main" id="{CF1E659E-FFF2-4460-A11B-65364023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676" y="3125470"/>
            <a:ext cx="10855325" cy="1822450"/>
          </a:xfrm>
          <a:custGeom xmlns:a="http://schemas.openxmlformats.org/drawingml/2006/main">
            <a:gdLst>
              <a:gd name="connsiteX0" fmla="*/ 0 w 10855325"/>
              <a:gd name="connsiteY0" fmla="*/ 0 h 1822450"/>
              <a:gd name="connsiteX1" fmla="*/ 10855325 w 10855325"/>
              <a:gd name="connsiteY1" fmla="*/ 1566432 h 1822450"/>
              <a:gd name="connsiteX2" fmla="*/ 10855325 w 10855325"/>
              <a:gd name="connsiteY2" fmla="*/ 1814805 h 1822450"/>
              <a:gd name="connsiteX3" fmla="*/ 336550 w 10855325"/>
              <a:gd name="connsiteY3" fmla="*/ 1822450 h 1822450"/>
              <a:gd name="connsiteX4" fmla="*/ 635 w 10855325"/>
              <a:gd name="connsiteY4" fmla="*/ 1486535 h 1822450"/>
              <a:gd name="connsiteX0-1" fmla="*/ 10855325 w 10946765"/>
              <a:gd name="connsiteY0-2" fmla="*/ 1566432 h 1822450"/>
              <a:gd name="connsiteX1-3" fmla="*/ 10855325 w 10946765"/>
              <a:gd name="connsiteY1-4" fmla="*/ 1814805 h 1822450"/>
              <a:gd name="connsiteX2-5" fmla="*/ 336550 w 10946765"/>
              <a:gd name="connsiteY2-6" fmla="*/ 1822450 h 1822450"/>
              <a:gd name="connsiteX3-7" fmla="*/ 635 w 10946765"/>
              <a:gd name="connsiteY3-8" fmla="*/ 1486535 h 1822450"/>
              <a:gd name="connsiteX4-9" fmla="*/ 0 w 10946765"/>
              <a:gd name="connsiteY4-10" fmla="*/ 0 h 1822450"/>
              <a:gd name="connsiteX5" fmla="*/ 10946765 w 10946765"/>
              <a:gd name="connsiteY5" fmla="*/ 1657872 h 1822450"/>
              <a:gd name="connsiteX0-11" fmla="*/ 10855325 w 10855325"/>
              <a:gd name="connsiteY0-12" fmla="*/ 1566432 h 1822450"/>
              <a:gd name="connsiteX1-13" fmla="*/ 10855325 w 10855325"/>
              <a:gd name="connsiteY1-14" fmla="*/ 1814805 h 1822450"/>
              <a:gd name="connsiteX2-15" fmla="*/ 336550 w 10855325"/>
              <a:gd name="connsiteY2-16" fmla="*/ 1822450 h 1822450"/>
              <a:gd name="connsiteX3-17" fmla="*/ 635 w 10855325"/>
              <a:gd name="connsiteY3-18" fmla="*/ 1486535 h 1822450"/>
              <a:gd name="connsiteX4-19" fmla="*/ 0 w 10855325"/>
              <a:gd name="connsiteY4-20" fmla="*/ 0 h 1822450"/>
              <a:gd name="connsiteX0-21" fmla="*/ 10855325 w 10855325"/>
              <a:gd name="connsiteY0-22" fmla="*/ 1814805 h 1822450"/>
              <a:gd name="connsiteX1-23" fmla="*/ 336550 w 10855325"/>
              <a:gd name="connsiteY1-24" fmla="*/ 1822450 h 1822450"/>
              <a:gd name="connsiteX2-25" fmla="*/ 635 w 10855325"/>
              <a:gd name="connsiteY2-26" fmla="*/ 1486535 h 1822450"/>
              <a:gd name="connsiteX3-27" fmla="*/ 0 w 10855325"/>
              <a:gd name="connsiteY3-28" fmla="*/ 0 h 1822450"/>
            </a:gdLst>
            <a:rect l="l" t="t" r="r" b="b"/>
            <a:pathLst>
              <a:path w="10855325" h="1822450">
                <a:moveTo>
                  <a:pt x="10855325" y="1814805"/>
                </a:moveTo>
                <a:lnTo>
                  <a:pt x="336550" y="1822450"/>
                </a:lnTo>
                <a:cubicBezTo>
                  <a:pt x="151130" y="1822450"/>
                  <a:pt x="635" y="1671955"/>
                  <a:pt x="635" y="1486535"/>
                </a:cubicBezTo>
                <a:cubicBezTo>
                  <a:pt x="423" y="991023"/>
                  <a:pt x="212" y="495512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577ED5D-AC51-410B-9BD7-A234E46030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616000" y="2412000"/>
            <a:ext cx="6004800" cy="1936800"/>
          </a:xfrm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>
            <a:lvl1pPr algn="l">
              <a:buNone/>
              <a:defRPr sz="5400">
                <a:solidFill>
                  <a:schemeClr val="tx1">
                    <a:alpha val="85000"/>
                  </a:schemeClr>
                </a:solidFill>
              </a:defRPr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8" name="节编号 3">
            <a:extLst xmlns:a="http://schemas.openxmlformats.org/drawingml/2006/main">
              <a:ext uri="{FF2B5EF4-FFF2-40B4-BE49-F238E27FC236}">
                <a16:creationId xmlns:a16="http://schemas.microsoft.com/office/drawing/2014/main" id="{110B32C6-81DF-4133-AAB0-7A5A5F649180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278000" y="2340000"/>
            <a:ext cx="3060000" cy="2361600"/>
          </a:xfrm>
        </p:spPr>
        <p:txBody>
          <a:bodyPr xmlns:a="http://schemas.openxmlformats.org/drawingml/2006/main" wrap="none" bIns="252000" anchor="ctr">
            <a:normAutofit/>
          </a:bodyPr>
          <a:lstStyle xmlns:a="http://schemas.openxmlformats.org/drawingml/2006/main">
            <a:lvl1pPr marL="0" indent="0" algn="ctr">
              <a:buNone/>
              <a:defRPr sz="10000" b="1">
                <a:solidFill>
                  <a:schemeClr val="tx1">
                    <a:alpha val="70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pPr lvl="0">
              <a:buNone/>
            </a:pPr>
            <a:r>
              <a:t>编号</a:t>
            </a:r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FA92E65-4304-4E69-8574-04C95C8FC4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vert="horz" wrap="square" lIns="0" tIns="0" rIns="0" bIns="0" anchor="b">
            <a:norm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4AF65416-5176-4686-B34E-A9476998FB9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95960" y="1301750"/>
            <a:ext cx="5323840" cy="4875850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</a:t>
            </a: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650D7305-85CB-4BC1-8047-00989394CB6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301750"/>
            <a:ext cx="5323840" cy="4875850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</a:t>
            </a: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6B09EAA5-FE85-49F2-8BE3-29B40598FE8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10CFB9B2-5CC2-4FFF-B9AD-0244A79759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EEE78743-1A97-453B-9856-A94D1D03C5B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5417E7E-2003-4267-93A4-FBFA05EB3D46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695960" y="1301750"/>
            <a:ext cx="5323840" cy="411303"/>
          </a:xfr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04992A7B-84F4-4287-96AD-7BF547FEB64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95960" y="1875099"/>
            <a:ext cx="5323840" cy="4300276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>
            <a:lvl1pPr>
              <a:buNone/>
              <a:defRPr sz="2200"/>
            </a:lvl1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</a:t>
            </a: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7C5FE966-1A72-4D0C-B947-CD226A838D42}"/>
              </a:ext>
            </a:extLst>
          </p:cNvPr>
          <p:cNvSpPr>
            <a:spLocks xmlns:a="http://schemas.openxmlformats.org/drawingml/2006/main" noGrp="1"/>
          </p:cNvSpPr>
          <p:nvPr>
            <p:ph type="body" idx="3" hasCustomPrompt="1"/>
          </p:nvPr>
        </p:nvSpPr>
        <p:spPr>
          <a:xfrm xmlns:a="http://schemas.openxmlformats.org/drawingml/2006/main">
            <a:off x="6172200" y="1301750"/>
            <a:ext cx="5323840" cy="411303"/>
          </a:xfr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E9E91BB1-AF1D-44FD-8BFE-96804A06587D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1875099"/>
            <a:ext cx="5323840" cy="4300276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>
            <a:lvl1pPr>
              <a:buNone/>
              <a:defRPr sz="2200"/>
            </a:lvl1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</a:t>
            </a: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8C45B004-6B8F-4B02-A6C8-7F3FF7C34F0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F3C46870-EBB4-4026-8673-6E84D6BF7C2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8D49D94D-1312-484F-8A4C-0DD8C57AB90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标题 9">
            <a:extLst xmlns:a="http://schemas.openxmlformats.org/drawingml/2006/main">
              <a:ext uri="{FF2B5EF4-FFF2-40B4-BE49-F238E27FC236}">
                <a16:creationId xmlns:a16="http://schemas.microsoft.com/office/drawing/2014/main" id="{99673560-FE1D-4791-9492-51DD779C3E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653EB06-4B58-482A-AC28-8F938D2B54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3A554979-77B5-4C03-A91D-0CF5E868527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68ABB588-EAED-4C33-A2F8-E092EB94356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3483129F-A1D1-4826-A45A-C57C1CB13C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9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8276177C-B16A-4D8A-BF2A-5AAF87374C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18045373-AA51-4738-8F30-CC464752389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41EB828E-21E4-48A3-BEA0-80F51D5674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0.xml><?xml version="1.0" encoding="utf-8"?>
<p:sldLayout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内容占位符 1">
            <a:extLst xmlns:a="http://schemas.openxmlformats.org/drawingml/2006/main">
              <a:ext uri="{FF2B5EF4-FFF2-40B4-BE49-F238E27FC236}">
                <a16:creationId xmlns:a16="http://schemas.microsoft.com/office/drawing/2014/main" id="{9C672E79-3BB6-4343-AC30-63A341F14BE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95960" y="360045"/>
            <a:ext cx="10801985" cy="5817870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</a:t>
            </a: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4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A0AC6E17-581C-46DE-9F82-F4352DC0D49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981313C8-1667-4765-B384-26C04C7BD74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3497C1C4-60EF-4A90-9D30-F8B655686E5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1.xml><?xml version="1.0" encoding="utf-8"?>
<p:sldLayout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C5AB2B6-3D81-4A15-9041-06E31A30500F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695960" y="1301750"/>
            <a:ext cx="10799088" cy="405553"/>
          </a:xfrm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r>
              <a:t>单击此处编辑副标题</a:t>
            </a:r>
            <a:endParaRPr/>
          </a:p>
        </p:txBody>
      </p:sp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FC015A5-0759-495A-959A-510E72E2BD3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42D4D67-9CED-45F3-9D0C-8BC8B30BEE6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9D76B3B-5753-438F-9FF6-2EEC4F14724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BC3A6DC6-F112-41A7-A389-C1B67B91E1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任意多边形: 形状 28">
            <a:extLst xmlns:a="http://schemas.openxmlformats.org/drawingml/2006/main">
              <a:ext uri="{FF2B5EF4-FFF2-40B4-BE49-F238E27FC236}">
                <a16:creationId xmlns:a16="http://schemas.microsoft.com/office/drawing/2014/main" id="{B94F9646-C76D-4A2B-97A2-F0214780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787400"/>
            <a:ext cx="11095355" cy="3505200"/>
          </a:xfrm>
          <a:custGeom xmlns:a="http://schemas.openxmlformats.org/drawingml/2006/main">
            <a:gdLst>
              <a:gd name="connsiteX0" fmla="*/ 10131107 w 11095355"/>
              <a:gd name="connsiteY0" fmla="*/ 0 h 3505200"/>
              <a:gd name="connsiteX1" fmla="*/ 11095355 w 11095355"/>
              <a:gd name="connsiteY1" fmla="*/ 835025 h 3505200"/>
              <a:gd name="connsiteX2" fmla="*/ 11095355 w 11095355"/>
              <a:gd name="connsiteY2" fmla="*/ 3505200 h 3505200"/>
              <a:gd name="connsiteX3" fmla="*/ 0 w 11095355"/>
              <a:gd name="connsiteY3" fmla="*/ 180612 h 3505200"/>
              <a:gd name="connsiteX4" fmla="*/ 0 w 11095355"/>
              <a:gd name="connsiteY4" fmla="*/ 36392 h 3505200"/>
              <a:gd name="connsiteX0-1" fmla="*/ 0 w 11095355"/>
              <a:gd name="connsiteY0-2" fmla="*/ 180612 h 3505200"/>
              <a:gd name="connsiteX1-3" fmla="*/ 0 w 11095355"/>
              <a:gd name="connsiteY1-4" fmla="*/ 36392 h 3505200"/>
              <a:gd name="connsiteX2-5" fmla="*/ 10131107 w 11095355"/>
              <a:gd name="connsiteY2-6" fmla="*/ 0 h 3505200"/>
              <a:gd name="connsiteX3-7" fmla="*/ 11095355 w 11095355"/>
              <a:gd name="connsiteY3-8" fmla="*/ 835025 h 3505200"/>
              <a:gd name="connsiteX4-9" fmla="*/ 11095355 w 11095355"/>
              <a:gd name="connsiteY4-10" fmla="*/ 3505200 h 3505200"/>
              <a:gd name="connsiteX5" fmla="*/ 91440 w 11095355"/>
              <a:gd name="connsiteY5" fmla="*/ 272052 h 3505200"/>
              <a:gd name="connsiteX0-11" fmla="*/ 0 w 11095355"/>
              <a:gd name="connsiteY0-12" fmla="*/ 180612 h 3505200"/>
              <a:gd name="connsiteX1-13" fmla="*/ 0 w 11095355"/>
              <a:gd name="connsiteY1-14" fmla="*/ 36392 h 3505200"/>
              <a:gd name="connsiteX2-15" fmla="*/ 10131107 w 11095355"/>
              <a:gd name="connsiteY2-16" fmla="*/ 0 h 3505200"/>
              <a:gd name="connsiteX3-17" fmla="*/ 11095355 w 11095355"/>
              <a:gd name="connsiteY3-18" fmla="*/ 835025 h 3505200"/>
              <a:gd name="connsiteX4-19" fmla="*/ 11095355 w 11095355"/>
              <a:gd name="connsiteY4-20" fmla="*/ 3505200 h 3505200"/>
              <a:gd name="connsiteX0-21" fmla="*/ 0 w 11095355"/>
              <a:gd name="connsiteY0-22" fmla="*/ 36392 h 3505200"/>
              <a:gd name="connsiteX1-23" fmla="*/ 10131107 w 11095355"/>
              <a:gd name="connsiteY1-24" fmla="*/ 0 h 3505200"/>
              <a:gd name="connsiteX2-25" fmla="*/ 11095355 w 11095355"/>
              <a:gd name="connsiteY2-26" fmla="*/ 835025 h 3505200"/>
              <a:gd name="connsiteX3-27" fmla="*/ 11095355 w 11095355"/>
              <a:gd name="connsiteY3-28" fmla="*/ 3505200 h 3505200"/>
            </a:gdLst>
            <a:rect l="l" t="t" r="r" b="b"/>
            <a:pathLst>
              <a:path w="11095355" h="3505200">
                <a:moveTo>
                  <a:pt x="0" y="36392"/>
                </a:moveTo>
                <a:lnTo>
                  <a:pt x="10131107" y="0"/>
                </a:lnTo>
                <a:cubicBezTo>
                  <a:pt x="10663460" y="0"/>
                  <a:pt x="11095355" y="374015"/>
                  <a:pt x="11095355" y="835025"/>
                </a:cubicBezTo>
                <a:lnTo>
                  <a:pt x="11095355" y="3505200"/>
                </a:lnTo>
              </a:path>
            </a:pathLst>
          </a:custGeom>
          <a:noFill xmlns:a="http://schemas.openxmlformats.org/drawingml/2006/main"/>
          <a:ln xmlns:a="http://schemas.openxmlformats.org/drawingml/2006/main" w="31750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任意多边形: 形状 30">
            <a:extLst xmlns:a="http://schemas.openxmlformats.org/drawingml/2006/main">
              <a:ext uri="{FF2B5EF4-FFF2-40B4-BE49-F238E27FC236}">
                <a16:creationId xmlns:a16="http://schemas.microsoft.com/office/drawing/2014/main" id="{F23F12A6-9510-4526-82C2-9EFBB30C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96646" y="2565400"/>
            <a:ext cx="11095355" cy="3505200"/>
          </a:xfrm>
          <a:custGeom xmlns:a="http://schemas.openxmlformats.org/drawingml/2006/main">
            <a:gdLst>
              <a:gd name="connsiteX0" fmla="*/ 11095355 w 11095355"/>
              <a:gd name="connsiteY0" fmla="*/ 3505200 h 3505200"/>
              <a:gd name="connsiteX1" fmla="*/ 0 w 11095355"/>
              <a:gd name="connsiteY1" fmla="*/ 180612 h 3505200"/>
              <a:gd name="connsiteX2" fmla="*/ 0 w 11095355"/>
              <a:gd name="connsiteY2" fmla="*/ 36392 h 3505200"/>
              <a:gd name="connsiteX3" fmla="*/ 10131107 w 11095355"/>
              <a:gd name="connsiteY3" fmla="*/ 0 h 3505200"/>
              <a:gd name="connsiteX4" fmla="*/ 11095355 w 11095355"/>
              <a:gd name="connsiteY4" fmla="*/ 835025 h 3505200"/>
              <a:gd name="connsiteX0-1" fmla="*/ 0 w 11095355"/>
              <a:gd name="connsiteY0-2" fmla="*/ 180612 h 3505200"/>
              <a:gd name="connsiteX1-3" fmla="*/ 0 w 11095355"/>
              <a:gd name="connsiteY1-4" fmla="*/ 36392 h 3505200"/>
              <a:gd name="connsiteX2-5" fmla="*/ 10131107 w 11095355"/>
              <a:gd name="connsiteY2-6" fmla="*/ 0 h 3505200"/>
              <a:gd name="connsiteX3-7" fmla="*/ 11095355 w 11095355"/>
              <a:gd name="connsiteY3-8" fmla="*/ 835025 h 3505200"/>
              <a:gd name="connsiteX4-9" fmla="*/ 11095355 w 11095355"/>
              <a:gd name="connsiteY4-10" fmla="*/ 3505200 h 3505200"/>
              <a:gd name="connsiteX5" fmla="*/ 91440 w 11095355"/>
              <a:gd name="connsiteY5" fmla="*/ 272052 h 3505200"/>
              <a:gd name="connsiteX0-11" fmla="*/ 0 w 11095355"/>
              <a:gd name="connsiteY0-12" fmla="*/ 180612 h 3505200"/>
              <a:gd name="connsiteX1-13" fmla="*/ 0 w 11095355"/>
              <a:gd name="connsiteY1-14" fmla="*/ 36392 h 3505200"/>
              <a:gd name="connsiteX2-15" fmla="*/ 10131107 w 11095355"/>
              <a:gd name="connsiteY2-16" fmla="*/ 0 h 3505200"/>
              <a:gd name="connsiteX3-17" fmla="*/ 11095355 w 11095355"/>
              <a:gd name="connsiteY3-18" fmla="*/ 835025 h 3505200"/>
              <a:gd name="connsiteX4-19" fmla="*/ 11095355 w 11095355"/>
              <a:gd name="connsiteY4-20" fmla="*/ 3505200 h 3505200"/>
              <a:gd name="connsiteX0-21" fmla="*/ 0 w 11095355"/>
              <a:gd name="connsiteY0-22" fmla="*/ 36392 h 3505200"/>
              <a:gd name="connsiteX1-23" fmla="*/ 10131107 w 11095355"/>
              <a:gd name="connsiteY1-24" fmla="*/ 0 h 3505200"/>
              <a:gd name="connsiteX2-25" fmla="*/ 11095355 w 11095355"/>
              <a:gd name="connsiteY2-26" fmla="*/ 835025 h 3505200"/>
              <a:gd name="connsiteX3-27" fmla="*/ 11095355 w 11095355"/>
              <a:gd name="connsiteY3-28" fmla="*/ 3505200 h 3505200"/>
            </a:gdLst>
            <a:rect l="l" t="t" r="r" b="b"/>
            <a:pathLst>
              <a:path w="11095355" h="3505200">
                <a:moveTo>
                  <a:pt x="0" y="36392"/>
                </a:moveTo>
                <a:lnTo>
                  <a:pt x="10131107" y="0"/>
                </a:lnTo>
                <a:cubicBezTo>
                  <a:pt x="10663460" y="0"/>
                  <a:pt x="11095355" y="374015"/>
                  <a:pt x="11095355" y="835025"/>
                </a:cubicBezTo>
                <a:lnTo>
                  <a:pt x="11095355" y="3505200"/>
                </a:lnTo>
              </a:path>
            </a:pathLst>
          </a:custGeom>
          <a:noFill xmlns:a="http://schemas.openxmlformats.org/drawingml/2006/main"/>
          <a:ln xmlns:a="http://schemas.openxmlformats.org/drawingml/2006/main" w="31750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65E0771A-5987-4E05-8060-9EAC277B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725150" y="4871720"/>
            <a:ext cx="295910" cy="681355"/>
          </a:xfrm>
          <a:custGeom xmlns:a="http://schemas.openxmlformats.org/drawingml/2006/main"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 sz="19900">
              <a:solidFill>
                <a:schemeClr val="bg1"/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5217EFE2-49F1-4C3B-90DF-E8C6DD74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1178540" y="4871720"/>
            <a:ext cx="286385" cy="681355"/>
          </a:xfrm>
          <a:custGeom xmlns:a="http://schemas.openxmlformats.org/drawingml/2006/main"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 sz="19900">
              <a:solidFill>
                <a:schemeClr val="bg1"/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705C23B6-703C-4DAE-A068-D635CCA78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70305" y="1399540"/>
            <a:ext cx="295910" cy="681355"/>
          </a:xfrm>
          <a:custGeom xmlns:a="http://schemas.openxmlformats.org/drawingml/2006/main"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 sz="19900">
              <a:solidFill>
                <a:schemeClr val="bg1">
                  <a:alpha val="65000"/>
                </a:schemeClr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C87D1AEC-28BA-4C72-B89E-FFBFA3B0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26440" y="1399540"/>
            <a:ext cx="286385" cy="681355"/>
          </a:xfrm>
          <a:custGeom xmlns:a="http://schemas.openxmlformats.org/drawingml/2006/main"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 sz="19900">
              <a:solidFill>
                <a:schemeClr val="bg1">
                  <a:alpha val="65000"/>
                </a:schemeClr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6F9F4BC-875B-4D24-8DB5-4FC96E3CF4B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44ACCCF-CFCF-40DF-B4E2-F0D9E5B2D71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B3586B0-A454-48D6-92F1-F9ED42EFBE1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C4999FA-BD25-4F65-A988-46F2547268E4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2298065" y="2835910"/>
            <a:ext cx="7595870" cy="1540510"/>
          </a:xfrm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6000"/>
            </a:lvl1pPr>
          </a:lstStyle>
          <a:p xmlns:a="http://schemas.openxmlformats.org/drawingml/2006/main">
            <a:r>
              <a:t>单击编辑母版标题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0A506024-0570-47C3-BABA-3939B4B1503A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2707200" y="2026800"/>
            <a:ext cx="6775200" cy="460800"/>
          </a:xfrm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400" b="1">
                <a:latin typeface="+mj-ea"/>
                <a:ea typeface="+mj-ea"/>
                <a:cs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单击此处编辑副标题</a:t>
            </a:r>
            <a:endParaRPr/>
          </a:p>
        </p:txBody>
      </p:sp>
      <p:sp>
        <p:nvSpPr>
          <p:cNvPr id="24" name="署名占位符 10">
            <a:extLst xmlns:a="http://schemas.openxmlformats.org/drawingml/2006/main">
              <a:ext uri="{FF2B5EF4-FFF2-40B4-BE49-F238E27FC236}">
                <a16:creationId xmlns:a16="http://schemas.microsoft.com/office/drawing/2014/main" id="{40E85217-1F6C-489A-AD9E-ABB35DE7DDC9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4656000" y="4618800"/>
            <a:ext cx="2880000" cy="504000"/>
          </a:xfrm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000" b="1"/>
            </a:lvl1pPr>
          </a:lstStyle>
          <a:p xmlns:a="http://schemas.openxmlformats.org/drawingml/2006/main">
            <a:pPr lvl="0">
              <a:buNone/>
            </a:pPr>
            <a:r>
              <a:t>署名</a:t>
            </a: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7dfcd1979a4bd2" /><Relationship Type="http://schemas.openxmlformats.org/officeDocument/2006/relationships/slideLayout" Target="/ppt/slideLayouts/slideLayout1.xml" Id="R56b65badce8d481a" /><Relationship Type="http://schemas.openxmlformats.org/officeDocument/2006/relationships/slideLayout" Target="/ppt/slideLayouts/slideLayout2.xml" Id="R3f7ad1b33ca243cb" /><Relationship Type="http://schemas.openxmlformats.org/officeDocument/2006/relationships/slideLayout" Target="/ppt/slideLayouts/slideLayout3.xml" Id="R95df9e0f37ed4382" /><Relationship Type="http://schemas.openxmlformats.org/officeDocument/2006/relationships/slideLayout" Target="/ppt/slideLayouts/slideLayout4.xml" Id="Rac5ffaf097874a98" /><Relationship Type="http://schemas.openxmlformats.org/officeDocument/2006/relationships/slideLayout" Target="/ppt/slideLayouts/slideLayout5.xml" Id="R0ba52b63ca414271" /><Relationship Type="http://schemas.openxmlformats.org/officeDocument/2006/relationships/slideLayout" Target="/ppt/slideLayouts/slideLayout6.xml" Id="Rb6894d4356be41ff" /><Relationship Type="http://schemas.openxmlformats.org/officeDocument/2006/relationships/slideLayout" Target="/ppt/slideLayouts/slideLayout7.xml" Id="R286c02c892ce4e8b" /><Relationship Type="http://schemas.openxmlformats.org/officeDocument/2006/relationships/slideLayout" Target="/ppt/slideLayouts/slideLayout8.xml" Id="R4a9260c69d6a4f14" /><Relationship Type="http://schemas.openxmlformats.org/officeDocument/2006/relationships/slideLayout" Target="/ppt/slideLayouts/slideLayout9.xml" Id="R0186be3064904bfa" /><Relationship Type="http://schemas.openxmlformats.org/officeDocument/2006/relationships/slideLayout" Target="/ppt/slideLayouts/slideLayout10.xml" Id="R339b4a57fd5447b5" /><Relationship Type="http://schemas.openxmlformats.org/officeDocument/2006/relationships/slideLayout" Target="/ppt/slideLayouts/slideLayout11.xml" Id="R6adf44566ce844a3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6b4628ce7d774e54" /><Relationship Type="http://schemas.openxmlformats.org/officeDocument/2006/relationships/slideLayout" Target="/ppt/slideLayouts/slideLayout12.xml" Id="R8eb9bdd54a7c457c" /><Relationship Type="http://schemas.openxmlformats.org/officeDocument/2006/relationships/slideLayout" Target="/ppt/slideLayouts/slideLayout13.xml" Id="R20564ce30e3640bb" /><Relationship Type="http://schemas.openxmlformats.org/officeDocument/2006/relationships/slideLayout" Target="/ppt/slideLayouts/slideLayout14.xml" Id="R7b185ace5b454ba7" /><Relationship Type="http://schemas.openxmlformats.org/officeDocument/2006/relationships/slideLayout" Target="/ppt/slideLayouts/slideLayout15.xml" Id="Rdee537e78bea4716" /><Relationship Type="http://schemas.openxmlformats.org/officeDocument/2006/relationships/slideLayout" Target="/ppt/slideLayouts/slideLayout16.xml" Id="R240e1d6fc3ac449c" /><Relationship Type="http://schemas.openxmlformats.org/officeDocument/2006/relationships/slideLayout" Target="/ppt/slideLayouts/slideLayout17.xml" Id="R973eb32ad02d4213" /><Relationship Type="http://schemas.openxmlformats.org/officeDocument/2006/relationships/slideLayout" Target="/ppt/slideLayouts/slideLayout18.xml" Id="Rc002609e5cf6404f" /><Relationship Type="http://schemas.openxmlformats.org/officeDocument/2006/relationships/slideLayout" Target="/ppt/slideLayouts/slideLayout19.xml" Id="R00a12ba76cf44e03" /><Relationship Type="http://schemas.openxmlformats.org/officeDocument/2006/relationships/slideLayout" Target="/ppt/slideLayouts/slideLayout20.xml" Id="R033c1504bf4d4201" /><Relationship Type="http://schemas.openxmlformats.org/officeDocument/2006/relationships/slideLayout" Target="/ppt/slideLayouts/slideLayout21.xml" Id="Rbf19ba4017c242cc" /><Relationship Type="http://schemas.openxmlformats.org/officeDocument/2006/relationships/slideLayout" Target="/ppt/slideLayouts/slideLayout22.xml" Id="R8edf705067a6402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FA67C49D-325D-47D6-BEAF-7D47D340BF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DA913A9-C4F4-4F02-BBCE-B9D3CEBE15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4CC3CD4-95A0-4FBD-98CD-2A5C7610B95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43B489F-30B3-45BC-B9B8-1A9BEA556AC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40AEA46-D192-4CAE-B06A-D9A47D8443B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b65badce8d481a"/>
    <p:sldLayoutId xmlns:r="http://schemas.openxmlformats.org/officeDocument/2006/relationships" id="2147483650" r:id="R3f7ad1b33ca243cb"/>
    <p:sldLayoutId xmlns:r="http://schemas.openxmlformats.org/officeDocument/2006/relationships" id="2147483651" r:id="R95df9e0f37ed4382"/>
    <p:sldLayoutId xmlns:r="http://schemas.openxmlformats.org/officeDocument/2006/relationships" id="2147483652" r:id="Rac5ffaf097874a98"/>
    <p:sldLayoutId xmlns:r="http://schemas.openxmlformats.org/officeDocument/2006/relationships" id="2147483653" r:id="R0ba52b63ca414271"/>
    <p:sldLayoutId xmlns:r="http://schemas.openxmlformats.org/officeDocument/2006/relationships" id="2147483654" r:id="Rb6894d4356be41ff"/>
    <p:sldLayoutId xmlns:r="http://schemas.openxmlformats.org/officeDocument/2006/relationships" id="2147483655" r:id="R286c02c892ce4e8b"/>
    <p:sldLayoutId xmlns:r="http://schemas.openxmlformats.org/officeDocument/2006/relationships" id="2147483656" r:id="R4a9260c69d6a4f14"/>
    <p:sldLayoutId xmlns:r="http://schemas.openxmlformats.org/officeDocument/2006/relationships" id="2147483657" r:id="R0186be3064904bfa"/>
    <p:sldLayoutId xmlns:r="http://schemas.openxmlformats.org/officeDocument/2006/relationships" id="2147483658" r:id="R339b4a57fd5447b5"/>
    <p:sldLayoutId xmlns:r="http://schemas.openxmlformats.org/officeDocument/2006/relationships" id="2147483659" r:id="R6adf44566ce844a3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C34A6950-0077-4146-97AB-F74A12D619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95960" y="36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72448574-8ACD-4884-968C-C685DD0325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95960" y="1301749"/>
            <a:ext cx="10800000" cy="4873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6494DB9-59FC-4A53-9564-A388F1951B1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9596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8274790-CBFF-4482-A34A-44D33207B73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3D6B672-422B-45EA-A373-417D372C23A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53983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E248EA41-A452-486D-B1F3-1F38D4428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631170" y="498475"/>
            <a:ext cx="151765" cy="380365"/>
          </a:xfrm>
          <a:custGeom xmlns:a="http://schemas.openxmlformats.org/drawingml/2006/main"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70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 sz="11500">
              <a:solidFill>
                <a:schemeClr val="bg1"/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7C3767AF-4CDD-4846-98FC-BAD816675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864215" y="498475"/>
            <a:ext cx="147320" cy="380365"/>
          </a:xfrm>
          <a:custGeom xmlns:a="http://schemas.openxmlformats.org/drawingml/2006/main"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70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 sz="11500">
              <a:solidFill>
                <a:schemeClr val="bg1"/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14" name="任意多边形: 形状 13">
            <a:extLst xmlns:a="http://schemas.openxmlformats.org/drawingml/2006/main">
              <a:ext uri="{FF2B5EF4-FFF2-40B4-BE49-F238E27FC236}">
                <a16:creationId xmlns:a16="http://schemas.microsoft.com/office/drawing/2014/main" id="{3854F348-9A19-405C-9351-C5381FA7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0270490" y="134620"/>
            <a:ext cx="1921510" cy="742950"/>
          </a:xfrm>
          <a:custGeom xmlns:a="http://schemas.openxmlformats.org/drawingml/2006/main">
            <a:gdLst>
              <a:gd name="connsiteX0" fmla="*/ 1784350 w 1921510"/>
              <a:gd name="connsiteY0" fmla="*/ 0 h 742950"/>
              <a:gd name="connsiteX1" fmla="*/ 0 w 1921510"/>
              <a:gd name="connsiteY1" fmla="*/ 3191 h 742950"/>
              <a:gd name="connsiteX2" fmla="*/ 0 w 1921510"/>
              <a:gd name="connsiteY2" fmla="*/ 626041 h 742950"/>
              <a:gd name="connsiteX3" fmla="*/ 1918970 w 1921510"/>
              <a:gd name="connsiteY3" fmla="*/ 742950 h 742950"/>
              <a:gd name="connsiteX4" fmla="*/ 1921510 w 1921510"/>
              <a:gd name="connsiteY4" fmla="*/ 137160 h 742950"/>
              <a:gd name="connsiteX5" fmla="*/ 1784350 w 1921510"/>
              <a:gd name="connsiteY5" fmla="*/ 0 h 742950"/>
              <a:gd name="connsiteX0-1" fmla="*/ 0 w 1921510"/>
              <a:gd name="connsiteY0-2" fmla="*/ 626041 h 742950"/>
              <a:gd name="connsiteX1-3" fmla="*/ 1918970 w 1921510"/>
              <a:gd name="connsiteY1-4" fmla="*/ 742950 h 742950"/>
              <a:gd name="connsiteX2-5" fmla="*/ 1921510 w 1921510"/>
              <a:gd name="connsiteY2-6" fmla="*/ 137160 h 742950"/>
              <a:gd name="connsiteX3-7" fmla="*/ 1784350 w 1921510"/>
              <a:gd name="connsiteY3-8" fmla="*/ 0 h 742950"/>
              <a:gd name="connsiteX4-9" fmla="*/ 0 w 1921510"/>
              <a:gd name="connsiteY4-10" fmla="*/ 3191 h 742950"/>
              <a:gd name="connsiteX5-11" fmla="*/ 91440 w 1921510"/>
              <a:gd name="connsiteY5-12" fmla="*/ 717481 h 742950"/>
              <a:gd name="connsiteX0-13" fmla="*/ 0 w 1921510"/>
              <a:gd name="connsiteY0-14" fmla="*/ 626041 h 742950"/>
              <a:gd name="connsiteX1-15" fmla="*/ 1918970 w 1921510"/>
              <a:gd name="connsiteY1-16" fmla="*/ 742950 h 742950"/>
              <a:gd name="connsiteX2-17" fmla="*/ 1921510 w 1921510"/>
              <a:gd name="connsiteY2-18" fmla="*/ 137160 h 742950"/>
              <a:gd name="connsiteX3-19" fmla="*/ 1784350 w 1921510"/>
              <a:gd name="connsiteY3-20" fmla="*/ 0 h 742950"/>
              <a:gd name="connsiteX4-21" fmla="*/ 0 w 1921510"/>
              <a:gd name="connsiteY4-22" fmla="*/ 3191 h 742950"/>
              <a:gd name="connsiteX0-23" fmla="*/ 1918970 w 1921510"/>
              <a:gd name="connsiteY0-24" fmla="*/ 742950 h 742950"/>
              <a:gd name="connsiteX1-25" fmla="*/ 1921510 w 1921510"/>
              <a:gd name="connsiteY1-26" fmla="*/ 137160 h 742950"/>
              <a:gd name="connsiteX2-27" fmla="*/ 1784350 w 1921510"/>
              <a:gd name="connsiteY2-28" fmla="*/ 0 h 742950"/>
              <a:gd name="connsiteX3-29" fmla="*/ 0 w 1921510"/>
              <a:gd name="connsiteY3-30" fmla="*/ 3191 h 742950"/>
            </a:gdLst>
            <a:rect l="l" t="t" r="r" b="b"/>
            <a:pathLst>
              <a:path w="1921510" h="742950">
                <a:moveTo>
                  <a:pt x="1918970" y="742950"/>
                </a:moveTo>
                <a:cubicBezTo>
                  <a:pt x="1919817" y="541020"/>
                  <a:pt x="1920663" y="339090"/>
                  <a:pt x="1921510" y="137160"/>
                </a:cubicBezTo>
                <a:cubicBezTo>
                  <a:pt x="1921510" y="61595"/>
                  <a:pt x="1859915" y="0"/>
                  <a:pt x="1784350" y="0"/>
                </a:cubicBezTo>
                <a:lnTo>
                  <a:pt x="0" y="319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chemeClr val="accent1">
                <a:alpha val="2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任意多边形 5">
            <a:extLst xmlns:a="http://schemas.openxmlformats.org/drawingml/2006/main">
              <a:ext uri="{FF2B5EF4-FFF2-40B4-BE49-F238E27FC236}">
                <a16:creationId xmlns:a16="http://schemas.microsoft.com/office/drawing/2014/main" id="{61F4DFB2-6C5C-4503-ABF7-9D354641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14400" y="449580"/>
            <a:ext cx="10406380" cy="749935"/>
          </a:xfrm>
          <a:custGeom xmlns:a="http://schemas.openxmlformats.org/drawingml/2006/main">
            <a:gdLst>
              <a:gd name="connsiteX0" fmla="*/ 0 w 16388"/>
              <a:gd name="connsiteY0" fmla="*/ 5 h 1181"/>
              <a:gd name="connsiteX1" fmla="*/ 16168 w 16388"/>
              <a:gd name="connsiteY1" fmla="*/ 0 h 1181"/>
              <a:gd name="connsiteX2" fmla="*/ 16384 w 16388"/>
              <a:gd name="connsiteY2" fmla="*/ 216 h 1181"/>
              <a:gd name="connsiteX3" fmla="*/ 16388 w 16388"/>
              <a:gd name="connsiteY3" fmla="*/ 1181 h 1181"/>
            </a:gdLst>
            <a:rect l="l" t="t" r="r" b="b"/>
            <a:pathLst>
              <a:path w="16388" h="1181">
                <a:moveTo>
                  <a:pt x="0" y="5"/>
                </a:moveTo>
                <a:lnTo>
                  <a:pt x="16168" y="0"/>
                </a:lnTo>
                <a:cubicBezTo>
                  <a:pt x="16287" y="0"/>
                  <a:pt x="16384" y="97"/>
                  <a:pt x="16384" y="216"/>
                </a:cubicBezTo>
                <a:lnTo>
                  <a:pt x="16388" y="118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chemeClr val="accent1">
                <a:alpha val="2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KSO_TEMPLATE" hidden="1">
            <a:extLst xmlns:a="http://schemas.openxmlformats.org/drawingml/2006/main">
              <a:ext uri="{FF2B5EF4-FFF2-40B4-BE49-F238E27FC236}">
                <a16:creationId xmlns:a16="http://schemas.microsoft.com/office/drawing/2014/main" id="{FFF96D30-C322-49D3-86F4-16722E26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8eb9bdd54a7c457c"/>
    <p:sldLayoutId xmlns:r="http://schemas.openxmlformats.org/officeDocument/2006/relationships" id="2147483662" r:id="R20564ce30e3640bb"/>
    <p:sldLayoutId xmlns:r="http://schemas.openxmlformats.org/officeDocument/2006/relationships" id="2147483663" r:id="R7b185ace5b454ba7"/>
    <p:sldLayoutId xmlns:r="http://schemas.openxmlformats.org/officeDocument/2006/relationships" id="2147483664" r:id="Rdee537e78bea4716"/>
    <p:sldLayoutId xmlns:r="http://schemas.openxmlformats.org/officeDocument/2006/relationships" id="2147483665" r:id="R240e1d6fc3ac449c"/>
    <p:sldLayoutId xmlns:r="http://schemas.openxmlformats.org/officeDocument/2006/relationships" id="2147483666" r:id="R973eb32ad02d4213"/>
    <p:sldLayoutId xmlns:r="http://schemas.openxmlformats.org/officeDocument/2006/relationships" id="2147483667" r:id="Rc002609e5cf6404f"/>
    <p:sldLayoutId xmlns:r="http://schemas.openxmlformats.org/officeDocument/2006/relationships" id="2147483668" r:id="R00a12ba76cf44e03"/>
    <p:sldLayoutId xmlns:r="http://schemas.openxmlformats.org/officeDocument/2006/relationships" id="2147483669" r:id="R033c1504bf4d4201"/>
    <p:sldLayoutId xmlns:r="http://schemas.openxmlformats.org/officeDocument/2006/relationships" id="2147483670" r:id="Rbf19ba4017c242cc"/>
    <p:sldLayoutId xmlns:r="http://schemas.openxmlformats.org/officeDocument/2006/relationships" id="2147483671" r:id="R8edf705067a64026"/>
  </p:sldLayoutIdLst>
  <p:txStyles>
    <p:titleStyle>
      <a:lvl1pPr xmlns:a="http://schemas.openxmlformats.org/drawingml/2006/main" algn="l" defTabSz="914400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13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38480" indent="-206375" algn="l" defTabSz="914400">
        <a:lnSpc>
          <a:spcPct val="130000"/>
        </a:lnSpc>
        <a:spcBef>
          <a:spcPts val="0"/>
        </a:spcBef>
        <a:buFont typeface="Arial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798830" indent="-161925" algn="l" defTabSz="914400">
        <a:lnSpc>
          <a:spcPct val="130000"/>
        </a:lnSpc>
        <a:spcBef>
          <a:spcPts val="0"/>
        </a:spcBef>
        <a:buFont typeface="Arial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030605" indent="-149225" algn="l" defTabSz="914400">
        <a:lnSpc>
          <a:spcPct val="130000"/>
        </a:lnSpc>
        <a:spcBef>
          <a:spcPts val="0"/>
        </a:spcBef>
        <a:buFont typeface="Arial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1235075" indent="-127000" algn="l" defTabSz="914400">
        <a:lnSpc>
          <a:spcPct val="130000"/>
        </a:lnSpc>
        <a:spcBef>
          <a:spcPts val="0"/>
        </a:spcBef>
        <a:buFont typeface="Arial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简约风线框职场办公">
  <a:themeElements>
    <a:clrScheme name="简约线条">
      <a:dk1>
        <a:srgbClr val="000000"/>
      </a:dk1>
      <a:lt1>
        <a:srgbClr val="FFFFFF"/>
      </a:lt1>
      <a:dk2>
        <a:srgbClr val="0A0A0A"/>
      </a:dk2>
      <a:lt2>
        <a:srgbClr val="F8F8F8"/>
      </a:lt2>
      <a:accent1>
        <a:srgbClr val="768CA4"/>
      </a:accent1>
      <a:accent2>
        <a:srgbClr val="7E809C"/>
      </a:accent2>
      <a:accent3>
        <a:srgbClr val="918199"/>
      </a:accent3>
      <a:accent4>
        <a:srgbClr val="9A9180"/>
      </a:accent4>
      <a:accent5>
        <a:srgbClr val="A68E74"/>
      </a:accent5>
      <a:accent6>
        <a:srgbClr val="A5A377"/>
      </a:accent6>
      <a:hlink>
        <a:srgbClr val="5F5F5F"/>
      </a:hlink>
      <a:folHlink>
        <a:srgbClr val="919191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简约线条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d2eae7b10b34951" /><Relationship Type="http://schemas.openxmlformats.org/officeDocument/2006/relationships/notesSlide" Target="/ppt/notesSlides/notesSlide1.xml" Id="R20fdc14f77b1432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148eaef2464e4cdb" /><Relationship Type="http://schemas.openxmlformats.org/officeDocument/2006/relationships/notesSlide" Target="/ppt/notesSlides/notesSlide2.xml" Id="R973626a1c1ba4a4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f16f1e5470074c90" /><Relationship Type="http://schemas.openxmlformats.org/officeDocument/2006/relationships/notesSlide" Target="/ppt/notesSlides/notesSlide3.xml" Id="R231610016c274b9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c25b1085ea974a2f" /><Relationship Type="http://schemas.openxmlformats.org/officeDocument/2006/relationships/notesSlide" Target="/ppt/notesSlides/notesSlide4.xml" Id="Rc38988db830642a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252a2fb0048d47a3" /><Relationship Type="http://schemas.openxmlformats.org/officeDocument/2006/relationships/notesSlide" Target="/ppt/notesSlides/notesSlide5.xml" Id="Re5b179defe1e4ea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4a96728064b04327" /><Relationship Type="http://schemas.openxmlformats.org/officeDocument/2006/relationships/notesSlide" Target="/ppt/notesSlides/notesSlide6.xml" Id="Re2d3d7d95cc2443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597b3bb7059741e0" /><Relationship Type="http://schemas.openxmlformats.org/officeDocument/2006/relationships/notesSlide" Target="/ppt/notesSlides/notesSlide7.xml" Id="Re22c5b9e0dcd4fa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7e327a8aed7d4975" /><Relationship Type="http://schemas.openxmlformats.org/officeDocument/2006/relationships/notesSlide" Target="/ppt/notesSlides/notesSlide8.xml" Id="R1fdb140f52c1450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453ba7f0df4846d8" /><Relationship Type="http://schemas.openxmlformats.org/officeDocument/2006/relationships/notesSlide" Target="/ppt/notesSlides/notesSlide9.xml" Id="R4fd1f42e88d644d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6bb134f25aea4025" /><Relationship Type="http://schemas.openxmlformats.org/officeDocument/2006/relationships/notesSlide" Target="/ppt/notesSlides/notesSlide10.xml" Id="R2f2f0bb06bcf419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ac55b00c76f94e2f" /><Relationship Type="http://schemas.openxmlformats.org/officeDocument/2006/relationships/chart" Target="/ppt/slides/charts/chart1.xml" Id="R33b0c3cd0b5b4711" /><Relationship Type="http://schemas.openxmlformats.org/officeDocument/2006/relationships/notesSlide" Target="/ppt/notesSlides/notesSlide11.xml" Id="R745f33a71ad94e0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67388786d2e641ec" /><Relationship Type="http://schemas.openxmlformats.org/officeDocument/2006/relationships/notesSlide" Target="/ppt/notesSlides/notesSlide12.xml" Id="R70d884c1542644e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6711bb54543743f9" /><Relationship Type="http://schemas.openxmlformats.org/officeDocument/2006/relationships/notesSlide" Target="/ppt/notesSlides/notesSlide13.xml" Id="Ra1d554987cb2422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0d79ece75dc94e27" /><Relationship Type="http://schemas.openxmlformats.org/officeDocument/2006/relationships/notesSlide" Target="/ppt/notesSlides/notesSlide14.xml" Id="R0d07ac7d8cd544c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ebaa7886492a4af1" /><Relationship Type="http://schemas.openxmlformats.org/officeDocument/2006/relationships/notesSlide" Target="/ppt/notesSlides/notesSlide15.xml" Id="R3bf38ad4aa0a47e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6cc3d9d265ff474f" /><Relationship Type="http://schemas.openxmlformats.org/officeDocument/2006/relationships/notesSlide" Target="/ppt/notesSlides/notesSlide16.xml" Id="Rc8972f8a6c984b0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055c6dafd40d4fd4" /><Relationship Type="http://schemas.openxmlformats.org/officeDocument/2006/relationships/notesSlide" Target="/ppt/notesSlides/notesSlide17.xml" Id="R9baccecad5b744f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949321dfb3e348dc" /><Relationship Type="http://schemas.openxmlformats.org/officeDocument/2006/relationships/notesSlide" Target="/ppt/notesSlides/notesSlide18.xml" Id="Re4c9dcaf49054cf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52325f15bcdb4a91" /><Relationship Type="http://schemas.openxmlformats.org/officeDocument/2006/relationships/notesSlide" Target="/ppt/notesSlides/notesSlide19.xml" Id="Re1e28d67f0a147a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db4edf2232f74929" /><Relationship Type="http://schemas.openxmlformats.org/officeDocument/2006/relationships/notesSlide" Target="/ppt/notesSlides/notesSlide20.xml" Id="Rdb5c0e80b567494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baa30d4f3a314607" /><Relationship Type="http://schemas.openxmlformats.org/officeDocument/2006/relationships/notesSlide" Target="/ppt/notesSlides/notesSlide21.xml" Id="R145d351e3f374a7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e3b54b202607420a" /><Relationship Type="http://schemas.openxmlformats.org/officeDocument/2006/relationships/notesSlide" Target="/ppt/notesSlides/notesSlide22.xml" Id="Rfe6bd2cd4cf44dd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8f8a7af8bb9e47a1" /><Relationship Type="http://schemas.openxmlformats.org/officeDocument/2006/relationships/notesSlide" Target="/ppt/notesSlides/notesSlide23.xml" Id="Rbb703d7bca5a4a8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f183b6692bf64da9" /><Relationship Type="http://schemas.openxmlformats.org/officeDocument/2006/relationships/notesSlide" Target="/ppt/notesSlides/notesSlide24.xml" Id="R50b740a40d1f48a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2.xml" Id="R46ab666c51424f03" /><Relationship Type="http://schemas.openxmlformats.org/officeDocument/2006/relationships/notesSlide" Target="/ppt/notesSlides/notesSlide25.xml" Id="Rb867eec04d9542e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42ce111666be41d6" /><Relationship Type="http://schemas.openxmlformats.org/officeDocument/2006/relationships/notesSlide" Target="/ppt/notesSlides/notesSlide26.xml" Id="Re7590af3db0742d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bf1541ef5d7b4211" /><Relationship Type="http://schemas.openxmlformats.org/officeDocument/2006/relationships/notesSlide" Target="/ppt/notesSlides/notesSlide27.xml" Id="R27eb63a4d576491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GPU 小时</c:v>
          </c:tx>
          <c:spPr>
            <a:solidFill xmlns:a="http://schemas.openxmlformats.org/drawingml/2006/main">
              <a:srgbClr val="778EA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778EA8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B7BBC5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PCU-Select</c:v>
                </c:pt>
                <c:pt idx="1">
                  <c:v>LESS</c:v>
                </c:pt>
              </c:strCache>
            </c:strRef>
          </c:cat>
          <c:val>
            <c:numRef>
              <c:f>'Chart Data'!$B$2:$B$3</c:f>
              <c:numCache>
                <c:formatCode>0.0</c:formatCode>
                <c:ptCount val="2"/>
                <c:pt idx="0">
                  <c:v>151.6</c:v>
                </c:pt>
                <c:pt idx="1">
                  <c:v>316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025" b="1">
                  <a:solidFill>
                    <a:srgbClr val="373B48"/>
                  </a:solidFill>
                  <a:latin typeface="微软雅黑"/>
                  <a:ea typeface="微软雅黑"/>
                  <a:cs typeface="微软雅黑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8CAC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</c:catAx>
      <c:valAx>
        <c:axId val="48672768"/>
        <c:scaling>
          <c:orientation val="minMax"/>
          <c:max val="4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Between val="between"/>
        <c:majorUnit val="100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">
            <a:extLst xmlns:a="http://schemas.openxmlformats.org/drawingml/2006/main">
              <a:ext uri="{FF2B5EF4-FFF2-40B4-BE49-F238E27FC236}">
                <a16:creationId xmlns:a16="http://schemas.microsoft.com/office/drawing/2014/main" id="{364422F9-523D-4E93-BF84-5D87C84DFA4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5400"/>
              <a:t>面向大模型的数据与参数</a:t>
            </a:r>
            <a:endParaRPr sz="5400"/>
          </a:p>
          <a:p xmlns:a="http://schemas.openxmlformats.org/drawingml/2006/main">
            <a:r>
              <a:rPr sz="5400"/>
              <a:t>联合高效微调算法研究</a:t>
            </a:r>
            <a:endParaRPr sz="5400"/>
          </a:p>
        </p:txBody>
      </p:sp>
      <p:sp>
        <p:nvSpPr>
          <p:cNvPr id="10" name="署名">
            <a:extLst xmlns:a="http://schemas.openxmlformats.org/drawingml/2006/main">
              <a:ext uri="{FF2B5EF4-FFF2-40B4-BE49-F238E27FC236}">
                <a16:creationId xmlns:a16="http://schemas.microsoft.com/office/drawing/2014/main" id="{AE164EFB-9380-4150-93F7-8798588468BB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汇报人: 林肯</a:t>
            </a:r>
            <a:r>
              <a:t>达</a:t>
            </a:r>
            <a:endParaRPr/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52F969-FA1B-448D-8E5A-5CCB88D04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47875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中期答辩</a:t>
            </a:r>
          </a:p>
        </p:txBody>
      </p:sp>
    </p:spTree>
    <p:extLst>
      <p:ext uri="{BB962C8B-B14F-4D97-AF65-F5344CB8AC3E}">
        <p14:creationId xmlns:p14="http://schemas.microsoft.com/office/powerpoint/2010/main" val="149529439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">
            <a:extLst xmlns:a="http://schemas.openxmlformats.org/drawingml/2006/main">
              <a:ext uri="{FF2B5EF4-FFF2-40B4-BE49-F238E27FC236}">
                <a16:creationId xmlns:a16="http://schemas.microsoft.com/office/drawing/2014/main" id="{E35F08FA-9D7C-4629-B503-CC8189336D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目录</a:t>
            </a:r>
            <a:endParaRPr/>
          </a:p>
        </p:txBody>
      </p:sp>
      <p:sp>
        <p:nvSpPr>
          <p:cNvPr id="6" name="序号">
            <a:extLst xmlns:a="http://schemas.openxmlformats.org/drawingml/2006/main">
              <a:ext uri="{FF2B5EF4-FFF2-40B4-BE49-F238E27FC236}">
                <a16:creationId xmlns:a16="http://schemas.microsoft.com/office/drawing/2014/main" id="{2799210A-035F-48CB-BCFD-C39C4839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1550" y="1146536"/>
            <a:ext cx="648000" cy="648000"/>
          </a:xfrm>
          <a:prstGeom xmlns:a="http://schemas.openxmlformats.org/drawingml/2006/main" prst="roundRect">
            <a:avLst>
              <a:gd name="adj" fmla="val 10052"/>
            </a:avLst>
          </a:prstGeom>
          <a:noFill xmlns:a="http://schemas.openxmlformats.org/drawingml/2006/main"/>
          <a:ln xmlns:a="http://schemas.openxmlformats.org/drawingml/2006/main" w="25400">
            <a:solidFill>
              <a:schemeClr val="accent1">
                <a:alpha val="60000"/>
              </a:schemeClr>
            </a:solidFill>
          </a:ln>
        </p:spPr>
        <p:txBody>
          <a:bodyPr xmlns:a="http://schemas.openxmlformats.org/drawingml/2006/main" wrap="none" lIns="36000" tIns="3600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3000" b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01</a:t>
            </a:r>
            <a:endParaRPr sz="3000" b="1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7" name="项标题">
            <a:extLst xmlns:a="http://schemas.openxmlformats.org/drawingml/2006/main">
              <a:ext uri="{FF2B5EF4-FFF2-40B4-BE49-F238E27FC236}">
                <a16:creationId xmlns:a16="http://schemas.microsoft.com/office/drawing/2014/main" id="{D93F09D7-2556-4261-9FF1-221C1A769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0260" y="1218536"/>
            <a:ext cx="4094144" cy="50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spc="300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课题进展概览</a:t>
            </a:r>
            <a:endParaRPr sz="2400" b="1" spc="30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22" name="序号">
            <a:extLst xmlns:a="http://schemas.openxmlformats.org/drawingml/2006/main">
              <a:ext uri="{FF2B5EF4-FFF2-40B4-BE49-F238E27FC236}">
                <a16:creationId xmlns:a16="http://schemas.microsoft.com/office/drawing/2014/main" id="{A90BD5D5-CF21-4F67-80A1-155397C79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1550" y="2331825"/>
            <a:ext cx="648000" cy="648000"/>
          </a:xfrm>
          <a:prstGeom xmlns:a="http://schemas.openxmlformats.org/drawingml/2006/main" prst="roundRect">
            <a:avLst>
              <a:gd name="adj" fmla="val 10052"/>
            </a:avLst>
          </a:prstGeom>
          <a:noFill xmlns:a="http://schemas.openxmlformats.org/drawingml/2006/main"/>
          <a:ln xmlns:a="http://schemas.openxmlformats.org/drawingml/2006/main" w="25400">
            <a:solidFill>
              <a:schemeClr val="accent1">
                <a:alpha val="60000"/>
              </a:schemeClr>
            </a:solidFill>
          </a:ln>
        </p:spPr>
        <p:txBody>
          <a:bodyPr xmlns:a="http://schemas.openxmlformats.org/drawingml/2006/main" wrap="none" lIns="0" tIns="3600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3000" b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02</a:t>
            </a:r>
            <a:endParaRPr sz="3000" b="1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23" name="项标题">
            <a:extLst xmlns:a="http://schemas.openxmlformats.org/drawingml/2006/main">
              <a:ext uri="{FF2B5EF4-FFF2-40B4-BE49-F238E27FC236}">
                <a16:creationId xmlns:a16="http://schemas.microsoft.com/office/drawing/2014/main" id="{7F1BC454-8037-4FF9-AEA9-BB32FC6E5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0260" y="2403825"/>
            <a:ext cx="4094144" cy="50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spc="300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工作一：PCU-Select</a:t>
            </a:r>
            <a:endParaRPr sz="2400" b="1" spc="30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25" name="序号">
            <a:extLst xmlns:a="http://schemas.openxmlformats.org/drawingml/2006/main">
              <a:ext uri="{FF2B5EF4-FFF2-40B4-BE49-F238E27FC236}">
                <a16:creationId xmlns:a16="http://schemas.microsoft.com/office/drawing/2014/main" id="{E9302445-E59A-4FFB-A404-A5952798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1550" y="3517115"/>
            <a:ext cx="648000" cy="648000"/>
          </a:xfrm>
          <a:prstGeom xmlns:a="http://schemas.openxmlformats.org/drawingml/2006/main" prst="roundRect">
            <a:avLst>
              <a:gd name="adj" fmla="val 10052"/>
            </a:avLst>
          </a:prstGeom>
          <a:noFill xmlns:a="http://schemas.openxmlformats.org/drawingml/2006/main"/>
          <a:ln xmlns:a="http://schemas.openxmlformats.org/drawingml/2006/main" w="25400">
            <a:solidFill>
              <a:schemeClr val="accent1">
                <a:alpha val="60000"/>
              </a:schemeClr>
            </a:solidFill>
          </a:ln>
        </p:spPr>
        <p:txBody>
          <a:bodyPr xmlns:a="http://schemas.openxmlformats.org/drawingml/2006/main" wrap="none" lIns="0" tIns="3600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3000" b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03</a:t>
            </a:r>
            <a:endParaRPr sz="3000" b="1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26" name="项标题">
            <a:extLst xmlns:a="http://schemas.openxmlformats.org/drawingml/2006/main">
              <a:ext uri="{FF2B5EF4-FFF2-40B4-BE49-F238E27FC236}">
                <a16:creationId xmlns:a16="http://schemas.microsoft.com/office/drawing/2014/main" id="{8C45B3E2-5937-4740-96F6-92263AB62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0260" y="3589115"/>
            <a:ext cx="4094144" cy="50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spc="300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工作二：实验管理系统</a:t>
            </a:r>
            <a:endParaRPr sz="2400" b="1" spc="30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3" name="序号">
            <a:extLst xmlns:a="http://schemas.openxmlformats.org/drawingml/2006/main">
              <a:ext uri="{FF2B5EF4-FFF2-40B4-BE49-F238E27FC236}">
                <a16:creationId xmlns:a16="http://schemas.microsoft.com/office/drawing/2014/main" id="{763EB293-07C9-487C-B84E-1F78B989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1550" y="4702784"/>
            <a:ext cx="648000" cy="648000"/>
          </a:xfrm>
          <a:prstGeom xmlns:a="http://schemas.openxmlformats.org/drawingml/2006/main" prst="roundRect">
            <a:avLst>
              <a:gd name="adj" fmla="val 10052"/>
            </a:avLst>
          </a:prstGeom>
          <a:noFill xmlns:a="http://schemas.openxmlformats.org/drawingml/2006/main"/>
          <a:ln xmlns:a="http://schemas.openxmlformats.org/drawingml/2006/main" w="25400">
            <a:solidFill>
              <a:schemeClr val="accent1">
                <a:alpha val="60000"/>
              </a:schemeClr>
            </a:solidFill>
          </a:ln>
        </p:spPr>
        <p:txBody>
          <a:bodyPr xmlns:a="http://schemas.openxmlformats.org/drawingml/2006/main" wrap="none" lIns="0" tIns="3600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3000" b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04</a:t>
            </a:r>
            <a:endParaRPr sz="3000" b="1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" name="项标题">
            <a:extLst xmlns:a="http://schemas.openxmlformats.org/drawingml/2006/main">
              <a:ext uri="{FF2B5EF4-FFF2-40B4-BE49-F238E27FC236}">
                <a16:creationId xmlns:a16="http://schemas.microsoft.com/office/drawing/2014/main" id="{5CF79500-9905-4B00-9C94-D53A2CC8F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0260" y="4774784"/>
            <a:ext cx="4094144" cy="50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spc="300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后续计划与总结</a:t>
            </a:r>
            <a:endParaRPr sz="2400" b="1" spc="30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33" name="任意多边形 32">
            <a:extLst xmlns:a="http://schemas.openxmlformats.org/drawingml/2006/main">
              <a:ext uri="{FF2B5EF4-FFF2-40B4-BE49-F238E27FC236}">
                <a16:creationId xmlns:a16="http://schemas.microsoft.com/office/drawing/2014/main" id="{FE0FED84-BC9E-471C-A3F5-211B9C29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834" y="3705840"/>
            <a:ext cx="2252137" cy="320381"/>
          </a:xfrm>
          <a:custGeom xmlns:a="http://schemas.openxmlformats.org/drawingml/2006/main">
            <a:rect l="l" t="t" r="r" b="b"/>
            <a:pathLst>
              <a:path w="3547" h="505">
                <a:moveTo>
                  <a:pt x="259" y="0"/>
                </a:moveTo>
                <a:cubicBezTo>
                  <a:pt x="307" y="0"/>
                  <a:pt x="346" y="6"/>
                  <a:pt x="379" y="19"/>
                </a:cubicBezTo>
                <a:lnTo>
                  <a:pt x="379" y="119"/>
                </a:lnTo>
                <a:cubicBezTo>
                  <a:pt x="346" y="100"/>
                  <a:pt x="308" y="90"/>
                  <a:pt x="266" y="90"/>
                </a:cubicBezTo>
                <a:cubicBezTo>
                  <a:pt x="219" y="90"/>
                  <a:pt x="181" y="105"/>
                  <a:pt x="152" y="136"/>
                </a:cubicBezTo>
                <a:cubicBezTo>
                  <a:pt x="124" y="166"/>
                  <a:pt x="109" y="206"/>
                  <a:pt x="109" y="255"/>
                </a:cubicBezTo>
                <a:cubicBezTo>
                  <a:pt x="109" y="303"/>
                  <a:pt x="123" y="342"/>
                  <a:pt x="150" y="371"/>
                </a:cubicBezTo>
                <a:cubicBezTo>
                  <a:pt x="177" y="400"/>
                  <a:pt x="214" y="414"/>
                  <a:pt x="260" y="414"/>
                </a:cubicBezTo>
                <a:cubicBezTo>
                  <a:pt x="303" y="414"/>
                  <a:pt x="343" y="404"/>
                  <a:pt x="379" y="383"/>
                </a:cubicBezTo>
                <a:lnTo>
                  <a:pt x="379" y="478"/>
                </a:lnTo>
                <a:cubicBezTo>
                  <a:pt x="343" y="496"/>
                  <a:pt x="297" y="505"/>
                  <a:pt x="240" y="505"/>
                </a:cubicBezTo>
                <a:cubicBezTo>
                  <a:pt x="166" y="505"/>
                  <a:pt x="108" y="483"/>
                  <a:pt x="65" y="439"/>
                </a:cubicBezTo>
                <a:cubicBezTo>
                  <a:pt x="22" y="395"/>
                  <a:pt x="0" y="336"/>
                  <a:pt x="0" y="263"/>
                </a:cubicBezTo>
                <a:cubicBezTo>
                  <a:pt x="0" y="186"/>
                  <a:pt x="24" y="123"/>
                  <a:pt x="72" y="74"/>
                </a:cubicBezTo>
                <a:cubicBezTo>
                  <a:pt x="120" y="25"/>
                  <a:pt x="183" y="0"/>
                  <a:pt x="259" y="0"/>
                </a:cubicBezTo>
                <a:close/>
                <a:moveTo>
                  <a:pt x="3405" y="0"/>
                </a:moveTo>
                <a:cubicBezTo>
                  <a:pt x="3453" y="0"/>
                  <a:pt x="3493" y="6"/>
                  <a:pt x="3525" y="19"/>
                </a:cubicBezTo>
                <a:lnTo>
                  <a:pt x="3525" y="116"/>
                </a:lnTo>
                <a:cubicBezTo>
                  <a:pt x="3493" y="94"/>
                  <a:pt x="3454" y="83"/>
                  <a:pt x="3410" y="83"/>
                </a:cubicBezTo>
                <a:cubicBezTo>
                  <a:pt x="3385" y="83"/>
                  <a:pt x="3364" y="88"/>
                  <a:pt x="3349" y="97"/>
                </a:cubicBezTo>
                <a:cubicBezTo>
                  <a:pt x="3334" y="106"/>
                  <a:pt x="3326" y="119"/>
                  <a:pt x="3326" y="134"/>
                </a:cubicBezTo>
                <a:cubicBezTo>
                  <a:pt x="3326" y="147"/>
                  <a:pt x="3331" y="159"/>
                  <a:pt x="3342" y="169"/>
                </a:cubicBezTo>
                <a:cubicBezTo>
                  <a:pt x="3352" y="180"/>
                  <a:pt x="3378" y="194"/>
                  <a:pt x="3419" y="212"/>
                </a:cubicBezTo>
                <a:cubicBezTo>
                  <a:pt x="3468" y="233"/>
                  <a:pt x="3501" y="255"/>
                  <a:pt x="3519" y="278"/>
                </a:cubicBezTo>
                <a:cubicBezTo>
                  <a:pt x="3538" y="301"/>
                  <a:pt x="3547" y="329"/>
                  <a:pt x="3547" y="361"/>
                </a:cubicBezTo>
                <a:cubicBezTo>
                  <a:pt x="3547" y="407"/>
                  <a:pt x="3530" y="443"/>
                  <a:pt x="3497" y="468"/>
                </a:cubicBezTo>
                <a:cubicBezTo>
                  <a:pt x="3464" y="492"/>
                  <a:pt x="3417" y="505"/>
                  <a:pt x="3356" y="505"/>
                </a:cubicBezTo>
                <a:cubicBezTo>
                  <a:pt x="3300" y="505"/>
                  <a:pt x="3254" y="496"/>
                  <a:pt x="3218" y="477"/>
                </a:cubicBezTo>
                <a:lnTo>
                  <a:pt x="3218" y="373"/>
                </a:lnTo>
                <a:cubicBezTo>
                  <a:pt x="3257" y="406"/>
                  <a:pt x="3302" y="422"/>
                  <a:pt x="3352" y="422"/>
                </a:cubicBezTo>
                <a:cubicBezTo>
                  <a:pt x="3380" y="422"/>
                  <a:pt x="3402" y="417"/>
                  <a:pt x="3416" y="407"/>
                </a:cubicBezTo>
                <a:cubicBezTo>
                  <a:pt x="3430" y="398"/>
                  <a:pt x="3437" y="385"/>
                  <a:pt x="3437" y="370"/>
                </a:cubicBezTo>
                <a:cubicBezTo>
                  <a:pt x="3437" y="357"/>
                  <a:pt x="3432" y="344"/>
                  <a:pt x="3420" y="332"/>
                </a:cubicBezTo>
                <a:cubicBezTo>
                  <a:pt x="3409" y="321"/>
                  <a:pt x="3379" y="305"/>
                  <a:pt x="3331" y="284"/>
                </a:cubicBezTo>
                <a:cubicBezTo>
                  <a:pt x="3254" y="252"/>
                  <a:pt x="3216" y="205"/>
                  <a:pt x="3216" y="143"/>
                </a:cubicBezTo>
                <a:cubicBezTo>
                  <a:pt x="3216" y="98"/>
                  <a:pt x="3234" y="63"/>
                  <a:pt x="3268" y="38"/>
                </a:cubicBezTo>
                <a:cubicBezTo>
                  <a:pt x="3303" y="13"/>
                  <a:pt x="3348" y="0"/>
                  <a:pt x="3405" y="0"/>
                </a:cubicBezTo>
                <a:close/>
                <a:moveTo>
                  <a:pt x="976" y="8"/>
                </a:moveTo>
                <a:lnTo>
                  <a:pt x="1089" y="8"/>
                </a:lnTo>
                <a:lnTo>
                  <a:pt x="1288" y="315"/>
                </a:lnTo>
                <a:cubicBezTo>
                  <a:pt x="1301" y="335"/>
                  <a:pt x="1309" y="348"/>
                  <a:pt x="1312" y="354"/>
                </a:cubicBezTo>
                <a:lnTo>
                  <a:pt x="1314" y="354"/>
                </a:lnTo>
                <a:cubicBezTo>
                  <a:pt x="1312" y="342"/>
                  <a:pt x="1311" y="319"/>
                  <a:pt x="1311" y="286"/>
                </a:cubicBezTo>
                <a:lnTo>
                  <a:pt x="1311" y="8"/>
                </a:lnTo>
                <a:lnTo>
                  <a:pt x="1409" y="8"/>
                </a:lnTo>
                <a:lnTo>
                  <a:pt x="1409" y="496"/>
                </a:lnTo>
                <a:lnTo>
                  <a:pt x="1303" y="496"/>
                </a:lnTo>
                <a:lnTo>
                  <a:pt x="1096" y="180"/>
                </a:lnTo>
                <a:cubicBezTo>
                  <a:pt x="1085" y="164"/>
                  <a:pt x="1078" y="151"/>
                  <a:pt x="1073" y="141"/>
                </a:cubicBezTo>
                <a:lnTo>
                  <a:pt x="1071" y="141"/>
                </a:lnTo>
                <a:cubicBezTo>
                  <a:pt x="1073" y="158"/>
                  <a:pt x="1074" y="184"/>
                  <a:pt x="1074" y="219"/>
                </a:cubicBezTo>
                <a:lnTo>
                  <a:pt x="1074" y="496"/>
                </a:lnTo>
                <a:lnTo>
                  <a:pt x="976" y="496"/>
                </a:lnTo>
                <a:lnTo>
                  <a:pt x="976" y="8"/>
                </a:lnTo>
                <a:close/>
                <a:moveTo>
                  <a:pt x="1470" y="8"/>
                </a:moveTo>
                <a:lnTo>
                  <a:pt x="1852" y="8"/>
                </a:lnTo>
                <a:lnTo>
                  <a:pt x="1852" y="93"/>
                </a:lnTo>
                <a:lnTo>
                  <a:pt x="1713" y="93"/>
                </a:lnTo>
                <a:lnTo>
                  <a:pt x="1713" y="496"/>
                </a:lnTo>
                <a:lnTo>
                  <a:pt x="1609" y="496"/>
                </a:lnTo>
                <a:lnTo>
                  <a:pt x="1609" y="93"/>
                </a:lnTo>
                <a:lnTo>
                  <a:pt x="1470" y="93"/>
                </a:lnTo>
                <a:lnTo>
                  <a:pt x="1470" y="8"/>
                </a:lnTo>
                <a:close/>
                <a:moveTo>
                  <a:pt x="1921" y="8"/>
                </a:moveTo>
                <a:lnTo>
                  <a:pt x="2198" y="8"/>
                </a:lnTo>
                <a:lnTo>
                  <a:pt x="2198" y="93"/>
                </a:lnTo>
                <a:lnTo>
                  <a:pt x="2024" y="93"/>
                </a:lnTo>
                <a:lnTo>
                  <a:pt x="2024" y="208"/>
                </a:lnTo>
                <a:lnTo>
                  <a:pt x="2186" y="208"/>
                </a:lnTo>
                <a:lnTo>
                  <a:pt x="2186" y="293"/>
                </a:lnTo>
                <a:lnTo>
                  <a:pt x="2024" y="293"/>
                </a:lnTo>
                <a:lnTo>
                  <a:pt x="2024" y="411"/>
                </a:lnTo>
                <a:lnTo>
                  <a:pt x="2209" y="411"/>
                </a:lnTo>
                <a:lnTo>
                  <a:pt x="2209" y="496"/>
                </a:lnTo>
                <a:lnTo>
                  <a:pt x="1921" y="496"/>
                </a:lnTo>
                <a:lnTo>
                  <a:pt x="1921" y="8"/>
                </a:lnTo>
                <a:close/>
                <a:moveTo>
                  <a:pt x="2296" y="8"/>
                </a:moveTo>
                <a:lnTo>
                  <a:pt x="2409" y="8"/>
                </a:lnTo>
                <a:lnTo>
                  <a:pt x="2608" y="315"/>
                </a:lnTo>
                <a:cubicBezTo>
                  <a:pt x="2621" y="335"/>
                  <a:pt x="2629" y="348"/>
                  <a:pt x="2632" y="354"/>
                </a:cubicBezTo>
                <a:lnTo>
                  <a:pt x="2634" y="354"/>
                </a:lnTo>
                <a:cubicBezTo>
                  <a:pt x="2632" y="342"/>
                  <a:pt x="2631" y="319"/>
                  <a:pt x="2631" y="286"/>
                </a:cubicBezTo>
                <a:lnTo>
                  <a:pt x="2631" y="8"/>
                </a:lnTo>
                <a:lnTo>
                  <a:pt x="2729" y="8"/>
                </a:lnTo>
                <a:lnTo>
                  <a:pt x="2729" y="496"/>
                </a:lnTo>
                <a:lnTo>
                  <a:pt x="2623" y="496"/>
                </a:lnTo>
                <a:lnTo>
                  <a:pt x="2416" y="180"/>
                </a:lnTo>
                <a:cubicBezTo>
                  <a:pt x="2405" y="164"/>
                  <a:pt x="2398" y="151"/>
                  <a:pt x="2393" y="141"/>
                </a:cubicBezTo>
                <a:lnTo>
                  <a:pt x="2391" y="141"/>
                </a:lnTo>
                <a:cubicBezTo>
                  <a:pt x="2393" y="158"/>
                  <a:pt x="2394" y="184"/>
                  <a:pt x="2394" y="219"/>
                </a:cubicBezTo>
                <a:lnTo>
                  <a:pt x="2394" y="496"/>
                </a:lnTo>
                <a:lnTo>
                  <a:pt x="2296" y="496"/>
                </a:lnTo>
                <a:lnTo>
                  <a:pt x="2296" y="8"/>
                </a:lnTo>
                <a:close/>
                <a:moveTo>
                  <a:pt x="2790" y="8"/>
                </a:moveTo>
                <a:lnTo>
                  <a:pt x="3172" y="8"/>
                </a:lnTo>
                <a:lnTo>
                  <a:pt x="3172" y="93"/>
                </a:lnTo>
                <a:lnTo>
                  <a:pt x="3033" y="93"/>
                </a:lnTo>
                <a:lnTo>
                  <a:pt x="3033" y="496"/>
                </a:lnTo>
                <a:lnTo>
                  <a:pt x="2929" y="496"/>
                </a:lnTo>
                <a:lnTo>
                  <a:pt x="2929" y="93"/>
                </a:lnTo>
                <a:lnTo>
                  <a:pt x="2790" y="93"/>
                </a:lnTo>
                <a:lnTo>
                  <a:pt x="2790" y="8"/>
                </a:lnTo>
                <a:close/>
                <a:moveTo>
                  <a:pt x="661" y="90"/>
                </a:moveTo>
                <a:cubicBezTo>
                  <a:pt x="620" y="90"/>
                  <a:pt x="588" y="105"/>
                  <a:pt x="564" y="135"/>
                </a:cubicBezTo>
                <a:cubicBezTo>
                  <a:pt x="541" y="166"/>
                  <a:pt x="529" y="205"/>
                  <a:pt x="529" y="253"/>
                </a:cubicBezTo>
                <a:cubicBezTo>
                  <a:pt x="529" y="300"/>
                  <a:pt x="541" y="339"/>
                  <a:pt x="564" y="369"/>
                </a:cubicBezTo>
                <a:cubicBezTo>
                  <a:pt x="586" y="399"/>
                  <a:pt x="618" y="414"/>
                  <a:pt x="658" y="414"/>
                </a:cubicBezTo>
                <a:cubicBezTo>
                  <a:pt x="699" y="414"/>
                  <a:pt x="730" y="400"/>
                  <a:pt x="753" y="371"/>
                </a:cubicBezTo>
                <a:cubicBezTo>
                  <a:pt x="776" y="342"/>
                  <a:pt x="787" y="303"/>
                  <a:pt x="787" y="255"/>
                </a:cubicBezTo>
                <a:cubicBezTo>
                  <a:pt x="787" y="204"/>
                  <a:pt x="776" y="164"/>
                  <a:pt x="754" y="134"/>
                </a:cubicBezTo>
                <a:cubicBezTo>
                  <a:pt x="732" y="105"/>
                  <a:pt x="701" y="90"/>
                  <a:pt x="661" y="90"/>
                </a:cubicBezTo>
                <a:close/>
                <a:moveTo>
                  <a:pt x="664" y="0"/>
                </a:moveTo>
                <a:cubicBezTo>
                  <a:pt x="733" y="0"/>
                  <a:pt x="790" y="23"/>
                  <a:pt x="832" y="70"/>
                </a:cubicBezTo>
                <a:cubicBezTo>
                  <a:pt x="875" y="116"/>
                  <a:pt x="896" y="176"/>
                  <a:pt x="896" y="248"/>
                </a:cubicBezTo>
                <a:cubicBezTo>
                  <a:pt x="896" y="324"/>
                  <a:pt x="874" y="386"/>
                  <a:pt x="830" y="434"/>
                </a:cubicBezTo>
                <a:cubicBezTo>
                  <a:pt x="785" y="481"/>
                  <a:pt x="727" y="505"/>
                  <a:pt x="656" y="505"/>
                </a:cubicBezTo>
                <a:cubicBezTo>
                  <a:pt x="586" y="505"/>
                  <a:pt x="529" y="482"/>
                  <a:pt x="486" y="436"/>
                </a:cubicBezTo>
                <a:cubicBezTo>
                  <a:pt x="442" y="390"/>
                  <a:pt x="420" y="331"/>
                  <a:pt x="420" y="259"/>
                </a:cubicBezTo>
                <a:cubicBezTo>
                  <a:pt x="420" y="182"/>
                  <a:pt x="442" y="120"/>
                  <a:pt x="487" y="72"/>
                </a:cubicBezTo>
                <a:cubicBezTo>
                  <a:pt x="532" y="24"/>
                  <a:pt x="590" y="0"/>
                  <a:pt x="664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636219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">
            <a:extLst xmlns:a="http://schemas.openxmlformats.org/drawingml/2006/main">
              <a:ext uri="{FF2B5EF4-FFF2-40B4-BE49-F238E27FC236}">
                <a16:creationId xmlns:a16="http://schemas.microsoft.com/office/drawing/2014/main" id="{6A439B48-94B4-46F1-8656-6DD8D8D5B4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48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课题进展</a:t>
            </a:r>
            <a:endParaRPr/>
          </a:p>
        </p:txBody>
      </p:sp>
      <p:sp>
        <p:nvSpPr>
          <p:cNvPr id="6" name="节编号">
            <a:extLst xmlns:a="http://schemas.openxmlformats.org/drawingml/2006/main">
              <a:ext uri="{FF2B5EF4-FFF2-40B4-BE49-F238E27FC236}">
                <a16:creationId xmlns:a16="http://schemas.microsoft.com/office/drawing/2014/main" id="{FFB9C174-C15C-443D-8899-3FB750A2376B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01</a:t>
            </a:r>
            <a:endParaRPr/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E8723A-7914-45BE-90DD-60DABCB6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95750"/>
            <a:ext cx="581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从开题目标到两项具体工作</a:t>
            </a:r>
          </a:p>
        </p:txBody>
      </p:sp>
    </p:spTree>
    <p:extLst>
      <p:ext uri="{BB962C8B-B14F-4D97-AF65-F5344CB8AC3E}">
        <p14:creationId xmlns:p14="http://schemas.microsoft.com/office/powerpoint/2010/main" val="139950408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0EC10430-E899-45DA-AFB3-7327D839A4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开题目标与中期聚焦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94EDD5-49CC-492B-AA90-5C5C19DD1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859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围绕数据选择与参数高效微调，形成两项相互衔接的工作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9769FF-B38F-47FE-BF0B-42FEC1F9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33650"/>
            <a:ext cx="5191125" cy="2466975"/>
          </a:xfrm>
          <a:prstGeom xmlns:a="http://schemas.openxmlformats.org/drawingml/2006/main" prst="roundRect">
            <a:avLst>
              <a:gd name="adj" fmla="val 3089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9E8791-0CEE-4501-8533-7A5B80056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4714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工作一：PCU-Select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FF489C-EB44-4DB5-9047-189322A31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90900"/>
            <a:ext cx="47148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78EA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0E2726-A15A-4B85-B4DF-8EF30D4F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29025"/>
            <a:ext cx="4714875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研究条件数据价值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复用特征与评分器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为不同目标生成各自子集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9190FB-938A-426B-9419-ED92487D9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193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11430">
            <a:solidFill>
              <a:srgbClr val="778EA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4F1AB5-61AB-40B4-A58A-B1BA50CFE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95525"/>
            <a:ext cx="552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301C0E-AB20-4256-93E5-96688EAC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33650"/>
            <a:ext cx="5191125" cy="2466975"/>
          </a:xfrm>
          <a:prstGeom xmlns:a="http://schemas.openxmlformats.org/drawingml/2006/main" prst="roundRect">
            <a:avLst>
              <a:gd name="adj" fmla="val 3089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C54659-75BF-4933-88E2-68D49A8B2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762250"/>
            <a:ext cx="4714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工作二：实验管理系统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FCF89B-AF7D-42B9-A20E-ACA95CF57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390900"/>
            <a:ext cx="47148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78EA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87575A-171B-4ECD-8E48-56652B4F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629025"/>
            <a:ext cx="4714875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组织多任务、多配置实验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识别可复用计算与产物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支持批量执行和阶段恢复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C58F71-E67C-4CFB-A054-79B2B626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193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11430">
            <a:solidFill>
              <a:srgbClr val="778EA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4D597D-FA88-40A0-BAD0-E9BEE51F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95525"/>
            <a:ext cx="552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141423-3418-4F40-8D72-3B6520FA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43550"/>
            <a:ext cx="10763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9EEF5"/>
          </a:solidFill>
          <a:ln xmlns:a="http://schemas.openxmlformats.org/drawingml/2006/main" w="11430">
            <a:solidFill>
              <a:srgbClr val="E9EEF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0F366F-9A8E-4DF2-BB9B-49E186DE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86425"/>
            <a:ext cx="10382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算法负责“如何选”，系统负责“如何可靠、重复地开展实验”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D76C6A-4A54-4789-97FC-5CC831E0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31507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原开题中的动态 PEFT 路由保留为后续展望，本阶段聚焦算法与系统两项工作。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B8DDA3-7227-4ED5-81C2-E6EFAE10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477000"/>
            <a:ext cx="285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221818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0EC10430-E899-45DA-AFB3-7327D839A4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当前进展与待完成工作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BFB5DD-A7B1-4981-8B5D-63F931D9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859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方法、代码和实验基础已经形成，后续重点是系统化实现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714375" y="2324100"/>
          <a:ext xmlns:a="http://schemas.openxmlformats.org/drawingml/2006/main" cx="10763250" cy="33147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943100"/>
                <a:gridCol w="4267200"/>
                <a:gridCol w="4552950"/>
              </a:tblGrid>
              <a:tr h="8286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工作层次</a:t>
                      </a:r>
                    </a:p>
                  </a:txBody>
                  <a:tcPr marL="152400" marR="152400" marT="95250" marB="95250" anchor="ctr">
                    <a:solidFill>
                      <a:srgbClr val="DEE5E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当前基础</a:t>
                      </a:r>
                    </a:p>
                  </a:txBody>
                  <a:tcPr marL="152400" marR="152400" marT="95250" marB="95250" anchor="ctr">
                    <a:solidFill>
                      <a:srgbClr val="DEE5E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接下来完成</a:t>
                      </a:r>
                    </a:p>
                  </a:txBody>
                  <a:tcPr marL="152400" marR="152400" marT="95250" marB="95250" anchor="ctr">
                    <a:solidFill>
                      <a:srgbClr val="DEE5EF"/>
                    </a:solidFill>
                  </a:tcPr>
                </a:tc>
              </a:tr>
              <a:tr h="8286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方法与论文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条件评分、配额选数流程</a:t>
                      </a:r>
                    </a:p>
                    <a:p>
                      <a:pPr algn="l"/>
                      <a:r>
                        <a:rPr sz="202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已形成论文稿件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梳理贡献与边界</a:t>
                      </a:r>
                    </a:p>
                    <a:p>
                      <a:pPr algn="l"/>
                      <a:r>
                        <a:rPr sz="202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完善论证和论文表述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8286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算法实现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特征缓存、PEFT 注册</a:t>
                      </a:r>
                    </a:p>
                    <a:p>
                      <a:pPr algn="l"/>
                      <a:r>
                        <a:rPr sz="202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训练评测与批量脚本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整理真实实验日志</a:t>
                      </a:r>
                    </a:p>
                    <a:p>
                      <a:pPr algn="l"/>
                      <a:r>
                        <a:rPr sz="202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记录训练种子与分项计时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</a:tr>
              <a:tr h="8286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系统工作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可复用的算法模块</a:t>
                      </a:r>
                    </a:p>
                    <a:p>
                      <a:pPr algn="l"/>
                      <a:r>
                        <a:rPr sz="202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已明确两项工程机制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依赖缓存、节点去重</a:t>
                      </a:r>
                    </a:p>
                    <a:p>
                      <a:pPr algn="l"/>
                      <a:r>
                        <a:rPr sz="202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阶段恢复和控制台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51930A-4EA8-4460-893C-D03F4FE4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31507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状态口径：已有方法与代码基础；实验数据已更新；第二项系统为后续计划。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A82FA6-2D4D-4A27-B253-D1F44AC8F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477000"/>
            <a:ext cx="285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2218188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">
            <a:extLst xmlns:a="http://schemas.openxmlformats.org/drawingml/2006/main">
              <a:ext uri="{FF2B5EF4-FFF2-40B4-BE49-F238E27FC236}">
                <a16:creationId xmlns:a16="http://schemas.microsoft.com/office/drawing/2014/main" id="{8B31B473-44A4-4DFD-AEB8-B3068375DA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48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工作一</a:t>
            </a:r>
            <a:endParaRPr/>
          </a:p>
        </p:txBody>
      </p:sp>
      <p:sp>
        <p:nvSpPr>
          <p:cNvPr id="6" name="节编号">
            <a:extLst xmlns:a="http://schemas.openxmlformats.org/drawingml/2006/main">
              <a:ext uri="{FF2B5EF4-FFF2-40B4-BE49-F238E27FC236}">
                <a16:creationId xmlns:a16="http://schemas.microsoft.com/office/drawing/2014/main" id="{5F2207CF-A71C-4518-93F3-DF0011676E6F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02</a:t>
            </a:r>
            <a:endParaRPr/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DC29A4-E9A9-466B-8DC9-BFFA0C89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95750"/>
            <a:ext cx="581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PCU-Select 条件数据选择方法</a:t>
            </a:r>
          </a:p>
        </p:txBody>
      </p:sp>
    </p:spTree>
    <p:extLst>
      <p:ext uri="{BB962C8B-B14F-4D97-AF65-F5344CB8AC3E}">
        <p14:creationId xmlns:p14="http://schemas.microsoft.com/office/powerpoint/2010/main" val="58160119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0EC10430-E899-45DA-AFB3-7327D839A4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研究问题：数据价值取决于目标条件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8CE45E-7092-42B9-99B9-8A3D0EB9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95450"/>
            <a:ext cx="504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57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u(x, p, t)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D50DE4-89DF-4DC0-BF96-8FEBC14CB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743075"/>
            <a:ext cx="5238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样本 x 在配置 p 下训练，</a:t>
            </a:r>
          </a:p>
          <a:p xmlns:a="http://schemas.openxmlformats.org/drawingml/2006/main">
            <a:pPr algn="l">
              <a:defRPr sz="25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对目标任务 t 有多大帮助？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714375" y="3152775"/>
          <a:ext xmlns:a="http://schemas.openxmlformats.org/drawingml/2006/main" cx="10763250" cy="24669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190750"/>
                <a:gridCol w="4533900"/>
                <a:gridCol w="4038600"/>
              </a:tblGrid>
              <a:tr h="616744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条件</a:t>
                      </a:r>
                    </a:p>
                  </a:txBody>
                  <a:tcPr marL="152400" marR="152400" marT="95250" marB="95250" anchor="ctr">
                    <a:solidFill>
                      <a:srgbClr val="DEE5E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含义</a:t>
                      </a:r>
                    </a:p>
                  </a:txBody>
                  <a:tcPr marL="152400" marR="152400" marT="95250" marB="95250" anchor="ctr">
                    <a:solidFill>
                      <a:srgbClr val="DEE5E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输入来源</a:t>
                      </a:r>
                    </a:p>
                  </a:txBody>
                  <a:tcPr marL="152400" marR="152400" marT="95250" marB="95250" anchor="ctr">
                    <a:solidFill>
                      <a:srgbClr val="DEE5EF"/>
                    </a:solidFill>
                  </a:tcPr>
                </a:tc>
              </a:tr>
              <a:tr h="616744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x：样本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候选指令与回答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共享候选数据池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616744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p：PEFT 配置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更新位置、算子、容量与配方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结构化配置编码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</a:tr>
              <a:tr h="616744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t：目标任务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希望提升的下游能力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32 条训练或开发样本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D6F80C-C04D-4355-BA4D-5A0C8954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31507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共享评分器，根据目标条件重新评分；每个目标保留自己的训练子集。测试集只用于最终评估。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EDBE52-C8F7-4EFD-A1E3-7BE24114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477000"/>
            <a:ext cx="285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2218188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0EC10430-E899-45DA-AFB3-7327D839A4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方法设计：统一表征，保留配置差异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F696EC-CB59-4ECA-A7DD-CB430AA64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859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用共享位点建立可比较的坐标，再显式描述样本、配置和任务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036658-D3FD-40B9-92FD-CA9EC9A2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43200"/>
            <a:ext cx="33718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42A995-B0E6-4717-9754-D00EBA41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71800"/>
            <a:ext cx="2895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样本表征 zₓ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268227-0499-4AC3-9012-726C06830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00450"/>
            <a:ext cx="2895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78EA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7C7FED-D077-4C45-9CCA-8AF667F3A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38575"/>
            <a:ext cx="28956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语义 + 描述统计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+ 激活特征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合计 848 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45C57D-64AF-4C1F-A28B-62979E1AF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288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11430">
            <a:solidFill>
              <a:srgbClr val="778EA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435C91-8809-40DF-A250-E00C5FA2A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05075"/>
            <a:ext cx="552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11896E-FD56-482B-A36D-D04C062C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743200"/>
            <a:ext cx="33718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5A224A-1D1E-4279-9943-C6703B463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71800"/>
            <a:ext cx="2895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PEFT 表征 zₚ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F6FD27-6BBF-418A-B74A-AC5161EB2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00450"/>
            <a:ext cx="2895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78EA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850E61-41C1-459E-9CFD-E2AB51C0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838575"/>
            <a:ext cx="28956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位点与算子掩码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+ 容量 + 训练配方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合计 128 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C9E34A-9757-4B41-8EF0-3C0D4D057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288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11430">
            <a:solidFill>
              <a:srgbClr val="778EA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DBCFC8-D69E-469F-A2DF-AF90D87B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05075"/>
            <a:ext cx="552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FAF650-1A1B-4FE7-A6EA-76F159551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743200"/>
            <a:ext cx="33718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133AAC-87FA-422B-9FCF-626FCB1D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71800"/>
            <a:ext cx="2895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任务表征 zₜ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E7CAB3-C6FF-42AF-AFF7-67D860A24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00450"/>
            <a:ext cx="2895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78EA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F08CC2-5F53-4F44-96E9-731D469FD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38575"/>
            <a:ext cx="28956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32 条任务样本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汇总任务特征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合计 848 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002F3A-7BC6-4B7B-8E21-6E0CAA39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288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11430">
            <a:solidFill>
              <a:srgbClr val="778EA8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A2992C-C689-4DC2-BFD1-6BB21D11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05075"/>
            <a:ext cx="552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9E93FF-FC89-429C-B9A3-85A93740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62600"/>
            <a:ext cx="10763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9EEF5"/>
          </a:solidFill>
          <a:ln xmlns:a="http://schemas.openxmlformats.org/drawingml/2006/main" w="11430">
            <a:solidFill>
              <a:srgbClr val="E9EEF5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972B0D-A296-478E-8BFF-FB45F8949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705475"/>
            <a:ext cx="10382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8 层 × 3 类模块输出 = 24 个共享位点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F67B99-D638-4B2D-88A6-B7209BDE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31507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共同观察位置：Attention 输出、MLP 输出、残差输出；共享位点提供近似坐标。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26F3F0-B27A-46C5-976C-287243F7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477000"/>
            <a:ext cx="285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2218188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0EC10430-E899-45DA-AFB3-7327D839A4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方法设计：多保真监督与聚类配额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8E6EFD-9F34-4E12-A028-52D0579C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5191125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633FC2-70BE-49AF-832A-7C403BCC6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71725"/>
            <a:ext cx="4714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先学会评分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D32BB5-4264-420D-A633-F57216826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0375"/>
            <a:ext cx="47148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78EA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E8B3FC-C252-4BCA-8A00-4048210D2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4714875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低成本梯度相似度提供广泛监督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少量短更新标签校正代理偏差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输出效用均值 μ 与不确定性 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1F4D42-7118-4281-A5B3-56F8CB17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43125"/>
            <a:ext cx="5191125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5781D6-AC55-4F32-B784-FF5AF17C0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371725"/>
            <a:ext cx="4714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再构建子集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A87C50-F5F3-403C-AFF3-EC447E9B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000375"/>
            <a:ext cx="47148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78EA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20C66A-95BD-463F-833B-B78801ECF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238500"/>
            <a:ext cx="4714875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使用 q = μ − 0.2σ 进行排序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语义聚类，按簇价值分配预算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各簇内部选取高分样本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9CA2EB-0046-4C59-8745-05CE14C06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43550"/>
            <a:ext cx="10763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9EEF5"/>
          </a:solidFill>
          <a:ln xmlns:a="http://schemas.openxmlformats.org/drawingml/2006/main" w="11430">
            <a:solidFill>
              <a:srgbClr val="E9EEF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3D6925-705F-45D1-A857-83B36BC1D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86425"/>
            <a:ext cx="10382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同时考虑目标效用与覆盖度，避免预算集中在少数语义区域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066D06-1EB4-4928-957C-1E37A7DA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31507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σ 在这里用于排序惩罚，不是置信区间。各预算独立分配配额，子集不要求互相嵌套。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E8BD2D-17F5-4022-A706-6AEDC595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477000"/>
            <a:ext cx="285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2218188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0EC10430-E899-45DA-AFB3-7327D839A4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PCU-Select 完整流程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DD3599-A95F-4D9D-B4E3-1DE80885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76400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离线准备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2B5183-0B46-4623-9F82-FD466010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619250"/>
            <a:ext cx="22098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2E4E9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A63FC0-5D7E-4340-91E6-A7B9A9148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771650"/>
            <a:ext cx="201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多保真效用标签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2C4D40-682E-44B3-B039-2F5BD4C76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657475"/>
            <a:ext cx="243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梯度代理 + 短更新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85E088-4CE1-4562-ADF2-90D7894C7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1943100"/>
            <a:ext cx="3810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D3A862-08FD-4879-848C-EBD237E1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19250"/>
            <a:ext cx="22098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2E4E9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585724-AB90-46EA-ABD9-B6CD916C2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771650"/>
            <a:ext cx="201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训练条件评分器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08A268-6CA6-4FD7-8417-34B36E62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57475"/>
            <a:ext cx="243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学习 u(x, p, t)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A100E9-183F-4F72-B4BD-97192040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1943100"/>
            <a:ext cx="3810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E50BD4-73DA-4687-A98E-0184BA2B1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0"/>
            <a:ext cx="2571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2E4E9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4FBB27-7916-4659-BECF-3FA576E2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716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保存可复用资产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D9DE2C-AE5F-4F23-A5A2-4A5921BA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57475"/>
            <a:ext cx="2800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特征、编码、评分器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12A7AA-F4F5-4E45-8BCA-8774C324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43300"/>
            <a:ext cx="107632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78EA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309914-300E-447D-A91D-C9203792F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38575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在线选数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9FD665-627E-4796-83D2-FF879A02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771900"/>
            <a:ext cx="22098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2E4E9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7372A5-D0C2-4455-9A6A-B2EEE891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924300"/>
            <a:ext cx="201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输入目标条件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9CEDCF-2257-4639-AE8A-143BEE969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10125"/>
            <a:ext cx="243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数据池 + PEFT + 任务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4911A7-5B86-4B24-A603-E0207DA1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095750"/>
            <a:ext cx="3810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0BB2B7-D006-4618-821D-0B6DA4A58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771900"/>
            <a:ext cx="22098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2E4E9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857F02-52A0-465C-B2F6-214443D1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924300"/>
            <a:ext cx="201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条件评分与聚类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65B6DC-A5A1-4151-B356-9A396BF35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810125"/>
            <a:ext cx="243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复用公共特征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6F2AD5-D944-4649-8429-899B42334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095750"/>
            <a:ext cx="3810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185F47-2869-4CEF-A38E-CFFF707E4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771900"/>
            <a:ext cx="2571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2E4E9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DBC177-E878-4BD3-BBA2-8468ED9E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243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配额选数与微调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75A0E8-B80F-48D6-A1D6-0FB119939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810125"/>
            <a:ext cx="2800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预算 B 对应的独立子集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EFB5AC-B011-47CA-9B8B-BBA2CEBEC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31507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算法层面复用表示与评分器；第二项工作将这些产物的依赖、复用和执行过程系统化。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196145A-D7D4-4CD7-A6A7-8B42A88C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477000"/>
            <a:ext cx="285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2218188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0EC10430-E899-45DA-AFB3-7327D839A4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稿件中的质量与成本分析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40F7C2-03B7-478A-B2FB-1BCE75F28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28775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下游质量：PCU 与 LESS 接近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714375" y="2238375"/>
          <a:ext xmlns:a="http://schemas.openxmlformats.org/drawingml/2006/main" cx="5238750" cy="1524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76450"/>
                <a:gridCol w="1733550"/>
                <a:gridCol w="1428750"/>
              </a:tblGrid>
              <a:tr h="7620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稿件均值</a:t>
                      </a:r>
                    </a:p>
                  </a:txBody>
                  <a:tcPr marL="152400" marR="152400" marT="95250" marB="95250" anchor="ctr">
                    <a:solidFill>
                      <a:srgbClr val="DEE5E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PCU-Select</a:t>
                      </a:r>
                    </a:p>
                  </a:txBody>
                  <a:tcPr marL="152400" marR="152400" marT="95250" marB="95250" anchor="ctr">
                    <a:solidFill>
                      <a:srgbClr val="DEE5E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LESS</a:t>
                      </a:r>
                    </a:p>
                  </a:txBody>
                  <a:tcPr marL="152400" marR="152400" marT="95250" marB="95250" anchor="ctr">
                    <a:solidFill>
                      <a:srgbClr val="DEE5EF"/>
                    </a:solidFill>
                  </a:tcPr>
                </a:tc>
              </a:tr>
              <a:tr h="7620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四任务 × 五配置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35.18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35.14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45254D-F9DF-480D-A961-690D665E0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57650"/>
            <a:ext cx="5143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差值 +0.04，当前口径应描述为接近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需要原始日志与独立重复支持结论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D0240B-FB4A-48EE-9F7C-4B0F3BD74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28775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选择侧成本：五套配置，四个任务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6286500" y="2333625"/>
          <a:ext xmlns:a="http://schemas.openxmlformats.org/drawingml/2006/main" cx="5143500" cy="2714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3b0c3cd0b5b4711"/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FD1BD4-1474-4F50-A4D2-0F9F1AD16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43550"/>
            <a:ext cx="10763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9EEF5"/>
          </a:solidFill>
          <a:ln xmlns:a="http://schemas.openxmlformats.org/drawingml/2006/main" w="11430">
            <a:solidFill>
              <a:srgbClr val="E9EEF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F8CF2A-97FD-4781-96CA-995A07A71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86425"/>
            <a:ext cx="10382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新加一套四任务配置的边际成本：PCU 1.51，LESS 63.2 GPU 小时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EA5A18-253A-4B1B-AB40-AD4FCBC9D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31507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实验结果汇总。成本不含下游训练；PCU 总成本含 144 GPU 小时前期投入。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FDD1D5-C2E0-49BE-8388-5756D9FA3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477000"/>
            <a:ext cx="285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2218188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0EC10430-E899-45DA-AFB3-7327D839A4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工作一小结与验证边界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8FC571-8620-4E77-BB1B-6370B5BB8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859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当前已经形成条件选数方案，重点验证“质量保持与多配置摊销”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B1EAF8-6728-487E-9997-BC6DA3B63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19375"/>
            <a:ext cx="5191125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3C70BB-002A-4B5B-A1CB-77823776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47975"/>
            <a:ext cx="4714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方法贡献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FC8442-15E2-4F0B-B3DB-F3119721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76625"/>
            <a:ext cx="47148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78EA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6F03A6-D8C9-460C-9557-F6D26550B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4714875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条件效用明确数据价值的目标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共享位点与配置编码支持复用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多保真监督结合聚类配额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E8564E-997D-49A2-8BD1-6C0C02F4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19375"/>
            <a:ext cx="5191125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DE47D1-B188-4C93-A34D-32302B46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47975"/>
            <a:ext cx="4714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实验记录与范围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559F2B-AE42-4BF1-9098-7520A449B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476625"/>
            <a:ext cx="47148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78EA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8BB2B1-8060-43C7-8614-A2DC3D23B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714750"/>
            <a:ext cx="4714875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真实训练记录与独立重复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选择侧、前期投入的分项计时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未见配置的兼容性与校准范围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4DB205-FBCA-4C7B-95BD-E6C6160C3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43550"/>
            <a:ext cx="10763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9EEF5"/>
          </a:solidFill>
          <a:ln xmlns:a="http://schemas.openxmlformats.org/drawingml/2006/main" w="11430">
            <a:solidFill>
              <a:srgbClr val="E9EEF5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DC71C0-A89A-4229-857C-DB0DD082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86425"/>
            <a:ext cx="10382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系统建设沿用已验证的骨干和 PEFT 支持范围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512318-8E79-4ACC-A9D4-238E6761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31507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首版不将 Prefix、P-Tuning 等结构外推为零样本通用支持；LN-Tuning 校准实验。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F40559-5800-43A2-82FE-858C7ADE2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477000"/>
            <a:ext cx="285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2218188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">
            <a:extLst xmlns:a="http://schemas.openxmlformats.org/drawingml/2006/main">
              <a:ext uri="{FF2B5EF4-FFF2-40B4-BE49-F238E27FC236}">
                <a16:creationId xmlns:a16="http://schemas.microsoft.com/office/drawing/2014/main" id="{217025F7-9B5A-4FC2-B3D8-F5ACB0F130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48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工作二</a:t>
            </a:r>
            <a:endParaRPr/>
          </a:p>
        </p:txBody>
      </p:sp>
      <p:sp>
        <p:nvSpPr>
          <p:cNvPr id="6" name="节编号">
            <a:extLst xmlns:a="http://schemas.openxmlformats.org/drawingml/2006/main">
              <a:ext uri="{FF2B5EF4-FFF2-40B4-BE49-F238E27FC236}">
                <a16:creationId xmlns:a16="http://schemas.microsoft.com/office/drawing/2014/main" id="{C29E71AA-69F4-48F5-8E0F-F170CDD9CD43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03</a:t>
            </a:r>
            <a:endParaRPr/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397105-283D-424C-B243-67F6B1F43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95750"/>
            <a:ext cx="581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多配置数据选择与微调实验管理系统</a:t>
            </a:r>
          </a:p>
        </p:txBody>
      </p:sp>
    </p:spTree>
    <p:extLst>
      <p:ext uri="{BB962C8B-B14F-4D97-AF65-F5344CB8AC3E}">
        <p14:creationId xmlns:p14="http://schemas.microsoft.com/office/powerpoint/2010/main" val="117571461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0EC10430-E899-45DA-AFB3-7327D839A4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系统目标：管理多配置实验的产物与执行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0552A6-9346-4A10-9715-1BE02EBA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76375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基于 PCU-Select 的多配置数据选择与微调实验管理系统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714375" y="2352675"/>
          <a:ext xmlns:a="http://schemas.openxmlformats.org/drawingml/2006/main" cx="10763250" cy="3048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714750"/>
                <a:gridCol w="7048500"/>
              </a:tblGrid>
              <a:tr h="7620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已有基础</a:t>
                      </a:r>
                    </a:p>
                  </a:txBody>
                  <a:tcPr marL="152400" marR="152400" marT="95250" marB="95250" anchor="ctr">
                    <a:solidFill>
                      <a:srgbClr val="DEE5E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第二项工作新增内容</a:t>
                      </a:r>
                    </a:p>
                  </a:txBody>
                  <a:tcPr marL="152400" marR="152400" marT="95250" marB="95250" anchor="ctr">
                    <a:solidFill>
                      <a:srgbClr val="DEE5EF"/>
                    </a:solidFill>
                  </a:tcPr>
                </a:tc>
              </a:tr>
              <a:tr h="7620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样本特征和任务表征缓存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记录内容与版本依赖，识别可复用产物并局部重算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条件评分与聚类配额选数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公共评分、聚类独立持久化，为各预算生成独立子集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</a:tr>
              <a:tr h="7620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PEFT 注册和训练评测脚本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统一批量执行、阶段恢复、结果隔离与报告导出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C6112B-7F0A-4453-9C7A-1AD7E9DB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43550"/>
            <a:ext cx="10763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9EEF5"/>
          </a:solidFill>
          <a:ln xmlns:a="http://schemas.openxmlformats.org/drawingml/2006/main" w="11430">
            <a:solidFill>
              <a:srgbClr val="E9EEF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ABB799-39BB-435E-A24B-91E87ADFC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86425"/>
            <a:ext cx="10382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已有模块提供算法能力，新增机制解决正确复用与可靠执行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CF72A1-5358-4F11-A224-D2DD5E03B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31507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代码中的具体需求：预算变化时仍重复评分与聚类；选数结果路径需要纳入预算，避免覆盖。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B66170-6352-4175-82C7-13B0F6B0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477000"/>
            <a:ext cx="285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02218188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0EC10430-E899-45DA-AFB3-7327D839A4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机制一：分层缓存与增量复用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65C0C8-53F3-49AD-842E-12769A799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859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为每项产物记录依赖，输入变化时只重算受影响节点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F01771-8F04-4797-BBF5-B42A85A57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62225"/>
            <a:ext cx="223837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2E4E9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869F8D-28A2-4A9D-8812-019C451F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14625"/>
            <a:ext cx="2047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样本特征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D54A69-7EAF-43D0-93EA-15B09B74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600450"/>
            <a:ext cx="24669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内容摘要、模型版本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160F45-3377-4A5B-AD6A-78150AA16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886075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12F620-5509-4976-9FCD-6F36952B6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562225"/>
            <a:ext cx="223837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2E4E9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9D6DED-E352-4050-B610-7CC12C75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714625"/>
            <a:ext cx="2047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目标评分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ADB24B-79A7-4752-8135-F4F07E40A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600450"/>
            <a:ext cx="24669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特征 + 任务 + PEFT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44EAD0-564A-43DE-A91E-7EADB70C1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886075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C2C721-D330-4CBD-8668-36E09B35B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562225"/>
            <a:ext cx="223837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2E4E9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0C756B-16AF-4CF9-9960-F4D3E484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714625"/>
            <a:ext cx="2047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配额与子集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BBC539-50A9-4EF2-AB23-2382FB041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600450"/>
            <a:ext cx="24669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评分 + 聚类 + 预算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9F9D7D-FE1B-4C7E-95DE-961BFD79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886075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4BDA11-15B7-404D-A2E5-8042E524C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562225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2E4E9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4D6748-059A-4A00-9EFF-321D9F89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7146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训练评测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73A8BF-D63B-4C07-A5FB-8758A8874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600450"/>
            <a:ext cx="1847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子集 + 训练种子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8B97F4-94B3-4E19-997A-0DF5F33CB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86275"/>
            <a:ext cx="50958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任务表征：任务样本、顺序、预处理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B60408-50E3-4E59-9951-6A76F4361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486275"/>
            <a:ext cx="50863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聚类：完整候选池、顺序、聚类种子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75E0BB-43A3-46DB-A15E-A0ECA70D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43550"/>
            <a:ext cx="10763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9EEF5"/>
          </a:solidFill>
          <a:ln xmlns:a="http://schemas.openxmlformats.org/drawingml/2006/main" w="11430">
            <a:solidFill>
              <a:srgbClr val="E9EEF5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18154B-985D-4453-B0AF-FA76E86A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86425"/>
            <a:ext cx="10382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依赖清单同时记录配置、随机种子与产物校验值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B2271A-852A-414B-B716-D271E15A7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31507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候选顺序纳入依赖；首版固定评分器版本。只有输入兼容、产物完整且校验通过，才允许命中。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6B39CF-AA57-40E8-A0F6-8088FA43F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477000"/>
            <a:ext cx="285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02218188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0EC10430-E899-45DA-AFB3-7327D839A4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机制一：明确复用与重算的边界</a:t>
            </a:r>
            <a:endParaRPr/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714375" y="1828800"/>
          <a:ext xmlns:a="http://schemas.openxmlformats.org/drawingml/2006/main" cx="10763250" cy="4000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314700"/>
                <a:gridCol w="3648075"/>
                <a:gridCol w="3800475"/>
              </a:tblGrid>
              <a:tr h="8001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输入变化</a:t>
                      </a:r>
                    </a:p>
                  </a:txBody>
                  <a:tcPr marL="152400" marR="152400" marT="95250" marB="95250" anchor="ctr">
                    <a:solidFill>
                      <a:srgbClr val="DEE5E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允许复用</a:t>
                      </a:r>
                    </a:p>
                  </a:txBody>
                  <a:tcPr marL="152400" marR="152400" marT="95250" marB="95250" anchor="ctr">
                    <a:solidFill>
                      <a:srgbClr val="DEE5E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需要重算</a:t>
                      </a:r>
                    </a:p>
                  </a:txBody>
                  <a:tcPr marL="152400" marR="152400" marT="95250" marB="95250" anchor="ctr">
                    <a:solidFill>
                      <a:srgbClr val="DEE5EF"/>
                    </a:solidFill>
                  </a:tcPr>
                </a:tc>
              </a:tr>
              <a:tr h="8001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只改变选数预算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样本特征、任务表示</a:t>
                      </a:r>
                    </a:p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目标评分、完整池聚类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配额与对应子集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只改变下游训练种子</a:t>
                      </a:r>
                    </a:p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选择种子保持不变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全部选择结果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训练与评测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</a:tr>
              <a:tr h="8001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追加候选样本</a:t>
                      </a:r>
                    </a:p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评分条件保持不变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旧样本的兼容特征</a:t>
                      </a:r>
                    </a:p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旧样本逐样本评分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新增样本特征与评分</a:t>
                      </a:r>
                    </a:p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完整池聚类、配额与子集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内容、版本或顺序变化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经依赖检查仍兼容的节点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受影响节点及其下游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4E4C5D-5E38-463F-B890-0D5EE7FEE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31507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同名样本内容改变不能命中旧结果；训练学习率等若属于 PEFT 条件，也会影响选择依赖。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9D4BBC-13D2-4CF2-9411-64D124844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477000"/>
            <a:ext cx="285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02218188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0EC10430-E899-45DA-AFB3-7327D839A4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机制二：公共计算去重与阶段恢复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887097-E5F3-4C3F-B7FD-171289C2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859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把实验请求拆成依赖节点，相同输入的公共节点只执行一次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95C527-422D-4951-8C54-3608639FF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86050"/>
            <a:ext cx="3371850" cy="261937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893287-1C2B-4DF1-8CB9-805EE516C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14650"/>
            <a:ext cx="2895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合并公共计算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74D47F-8C0B-4437-AF5F-B40A69B45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43300"/>
            <a:ext cx="2895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78EA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6C3C1B-CFF9-49FE-96FD-4C721CD8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81425"/>
            <a:ext cx="28956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特征、任务表示、评分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聚类、选数、训练、评测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逐阶段判断输入是否相同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9F8A86-3C15-4814-B550-BE575C09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71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11430">
            <a:solidFill>
              <a:srgbClr val="778EA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5C4751-110C-44C0-ACF2-1CA40CC3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47925"/>
            <a:ext cx="552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FF233D-B69C-4CD5-A8D8-377914BE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686050"/>
            <a:ext cx="3371850" cy="261937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B4CDB8-83CE-42D2-A8F9-0EEF77C5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14650"/>
            <a:ext cx="2895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保证产物完整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8AB7B8-FD67-4611-91F0-954F5B5B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543300"/>
            <a:ext cx="2895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78EA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83611A-66C6-4801-AAA6-E16F7C4D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781425"/>
            <a:ext cx="28956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先写临时文件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校验后原子提交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写入完成标记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4F73D8-1DE3-4BFB-B931-E8F3268D9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71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11430">
            <a:solidFill>
              <a:srgbClr val="778EA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A22837-78F4-4320-B7F3-72C2836B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47925"/>
            <a:ext cx="552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C6B35F-8DFF-4C73-AAF8-B6A9BAB2B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686050"/>
            <a:ext cx="3371850" cy="261937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4DED06-162A-484F-BFB6-5EE802E84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14650"/>
            <a:ext cx="2895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恢复失败阶段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F69366-C2C8-4070-A1F9-42297DDE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43300"/>
            <a:ext cx="2895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78EA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9467CE-DC81-4E82-8161-845811D8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81425"/>
            <a:ext cx="28956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请求使用独立目录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复用已完成产物并校验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仅重跑失败阶段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7A5F10-60DC-4587-8F3B-4EF08093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71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11430">
            <a:solidFill>
              <a:srgbClr val="778EA8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8242DC-3829-4474-94C5-0C2AC56D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47925"/>
            <a:ext cx="552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DEA916-9807-4D0D-B9D6-B0F106C66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43550"/>
            <a:ext cx="10763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9EEF5"/>
          </a:solidFill>
          <a:ln xmlns:a="http://schemas.openxmlformats.org/drawingml/2006/main" w="11430">
            <a:solidFill>
              <a:srgbClr val="E9EEF5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5FB598-97C4-410C-AF59-E1DEBE5A6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86425"/>
            <a:ext cx="10382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阶段恢复的目标：减少重复工作，并保持结果隔离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F2CE90-FCD1-4516-A43F-2FDC30FC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31507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首版恢复到阶段边界；不承诺从训练中断的具体 step 继续执行。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9F14F9-2321-462B-BBBA-17472F08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477000"/>
            <a:ext cx="285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02218188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0EC10430-E899-45DA-AFB3-7327D839A4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具体示例：24 次训练如何共享前置计算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7036F8-7513-4A36-AA6E-4367F1738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52575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2 种 PEFT × 2 个任务 × 3 个预算 × 2 个训练种子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196F60-7321-4A72-A2EA-2E23F79EC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09850"/>
            <a:ext cx="2476500" cy="2295525"/>
          </a:xfrm>
          <a:prstGeom xmlns:a="http://schemas.openxmlformats.org/drawingml/2006/main" prst="roundRect">
            <a:avLst>
              <a:gd name="adj" fmla="val 332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8AFD7E-C5FE-4264-B79D-64F1CDAA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57500"/>
            <a:ext cx="2095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1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61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0E09F8-8FA0-45B4-BE88-608A60B66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957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目标评分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D23518-3D45-4C44-B5D3-5FE02EFD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609850"/>
            <a:ext cx="2476500" cy="2295525"/>
          </a:xfrm>
          <a:prstGeom xmlns:a="http://schemas.openxmlformats.org/drawingml/2006/main" prst="roundRect">
            <a:avLst>
              <a:gd name="adj" fmla="val 332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918E24-3486-4D08-8688-8CE75644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857500"/>
            <a:ext cx="2095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1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61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69A16F-A877-4782-B229-6863E5C8F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0957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完整池聚类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4DC839-0A79-44C2-AC55-21BF7631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609850"/>
            <a:ext cx="2476500" cy="2295525"/>
          </a:xfrm>
          <a:prstGeom xmlns:a="http://schemas.openxmlformats.org/drawingml/2006/main" prst="roundRect">
            <a:avLst>
              <a:gd name="adj" fmla="val 332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41D337-6B7C-4022-BF17-1D8E88D6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857500"/>
            <a:ext cx="2095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1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61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EAF28F-2BE7-43A6-96F8-B7E2E857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0957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独立子集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BDC81C-54A9-44E5-91F3-75F3B75A2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609850"/>
            <a:ext cx="2476500" cy="2295525"/>
          </a:xfrm>
          <a:prstGeom xmlns:a="http://schemas.openxmlformats.org/drawingml/2006/main" prst="roundRect">
            <a:avLst>
              <a:gd name="adj" fmla="val 332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AEDE6E-3300-49D8-AF86-2D287F9AD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857500"/>
            <a:ext cx="2095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1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61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ACD438-0F15-4ACB-8190-D1A041682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0957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训练实验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69D155-146B-4DF5-9E86-017A4C5CF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720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按任务与 PEFT 区分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BFAB79-3F9C-43D8-B088-41B7B33E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1720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同一语义候选池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EEDA2A-8951-43EB-AB2B-53CE6430B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1720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4 个目标 × 3 预算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B0E4DB-F32B-41DA-A518-A7BE1EA2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1720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12 子集 × 2 种子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58FDEA-3E3E-4FA7-9A8F-458517711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31507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固定特征、评分器、聚类配置与选择种子。各目标使用自己的子集；这些执行次数不等于端到端加速倍数。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8138F8-C43D-4A51-B710-18DEEB5A3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477000"/>
            <a:ext cx="285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022181883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0EC10430-E899-45DA-AFB3-7327D839A4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首版系统范围与操作流程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C59041-6D26-44EF-94AB-1E36FDFB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859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采用单工作节点，围绕已有算法模块完成可运行的实验闭环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714375" y="2257425"/>
          <a:ext xmlns:a="http://schemas.openxmlformats.org/drawingml/2006/main" cx="10763250" cy="28098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333750"/>
                <a:gridCol w="7429500"/>
              </a:tblGrid>
              <a:tr h="702469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组件</a:t>
                      </a:r>
                    </a:p>
                  </a:txBody>
                  <a:tcPr marL="152400" marR="152400" marT="95250" marB="95250" anchor="ctr">
                    <a:solidFill>
                      <a:srgbClr val="DEE5E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职责</a:t>
                      </a:r>
                    </a:p>
                  </a:txBody>
                  <a:tcPr marL="152400" marR="152400" marT="95250" marB="95250" anchor="ctr">
                    <a:solidFill>
                      <a:srgbClr val="DEE5EF"/>
                    </a:solidFill>
                  </a:tcPr>
                </a:tc>
              </a:tr>
              <a:tr h="702469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简洁控制台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登记数据与任务、提交矩阵、查看复用计划与执行状态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702469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任务队列与执行器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按依赖安排阶段、去重公共节点、恢复失败阶段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</a:tr>
              <a:tr h="702469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元数据索引与本地产物库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维护依赖关系、版本、校验值、请求目录与结果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A49628-DA32-430A-AD9C-72906D5EA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72100"/>
            <a:ext cx="10763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登记数据与任务   →   提交实验矩阵   →   查看复用计划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81BE0B-8898-4050-8F93-94BCB1CB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19775"/>
            <a:ext cx="10763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执行选数   →   按需训练评测   →   导出报告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EF5A98-28BD-4F35-9AB0-1A8E76002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31507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继续沿用第一项工作已验证的骨干与 PEFT 范围；首版聚焦本地单工作节点。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05C5A5-4615-455C-BB58-A3D9C2649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477000"/>
            <a:ext cx="285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022181883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0EC10430-E899-45DA-AFB3-7327D839A4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定量验证：机制正确，也要测出实际收益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D00A7D-1F0A-434C-8DC1-7D4ECC8C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14475"/>
            <a:ext cx="10763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对照组：已有脚本流程 / 加入依赖缓存 / 完整系统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714375" y="2324100"/>
          <a:ext xmlns:a="http://schemas.openxmlformats.org/drawingml/2006/main" cx="10763250" cy="30575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724150"/>
                <a:gridCol w="4295775"/>
                <a:gridCol w="3743325"/>
              </a:tblGrid>
              <a:tr h="10191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验证对象</a:t>
                      </a:r>
                    </a:p>
                  </a:txBody>
                  <a:tcPr marL="152400" marR="152400" marT="95250" marB="95250" anchor="ctr">
                    <a:solidFill>
                      <a:srgbClr val="DEE5E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实验设置</a:t>
                      </a:r>
                    </a:p>
                  </a:txBody>
                  <a:tcPr marL="152400" marR="152400" marT="95250" marB="95250" anchor="ctr">
                    <a:solidFill>
                      <a:srgbClr val="DEE5E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记录指标</a:t>
                      </a:r>
                    </a:p>
                  </a:txBody>
                  <a:tcPr marL="152400" marR="152400" marT="95250" marB="95250" anchor="ctr">
                    <a:solidFill>
                      <a:srgbClr val="DEE5EF"/>
                    </a:solidFill>
                  </a:tcPr>
                </a:tc>
              </a:tr>
              <a:tr h="10191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分层缓存与增量复用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改预算、改训练种子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追加 1% / 5% / 10% 样本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 ID 改内容、改变顺序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重算样本与节点数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查验开销、选数耗时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存储增长与结果一致性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10191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去重与阶段恢复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冷启动运行 24 组矩阵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在评分、写子集、训练时中断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验证独立目录与恢复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节点执行与重复次数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恢复耗时、额外重算量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产物完整性与结果隔离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3071CD-7A45-4AD4-A202-3B8B64396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43550"/>
            <a:ext cx="10763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9EEF5"/>
          </a:solidFill>
          <a:ln xmlns:a="http://schemas.openxmlformats.org/drawingml/2006/main" w="11430">
            <a:solidFill>
              <a:srgbClr val="E9EEF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426AA4-5D1A-4247-9A2C-15FF22686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86425"/>
            <a:ext cx="10382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正确性优先：与完整重算的评分、子集和依赖结果核对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0089B9-BD1D-42EA-96CE-98C1FD2A4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31507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冷启动去重与热缓存增量复用分开测量；分别报告选数时间和端到端时间，不叠加收益比例。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B879B8-86FE-424E-AB75-834D4072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477000"/>
            <a:ext cx="285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022181883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">
            <a:extLst xmlns:a="http://schemas.openxmlformats.org/drawingml/2006/main">
              <a:ext uri="{FF2B5EF4-FFF2-40B4-BE49-F238E27FC236}">
                <a16:creationId xmlns:a16="http://schemas.microsoft.com/office/drawing/2014/main" id="{D0BA23B9-86F8-4AAA-B3AE-A35EC025C0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48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后续计划</a:t>
            </a:r>
            <a:endParaRPr/>
          </a:p>
        </p:txBody>
      </p:sp>
      <p:sp>
        <p:nvSpPr>
          <p:cNvPr id="6" name="节编号">
            <a:extLst xmlns:a="http://schemas.openxmlformats.org/drawingml/2006/main">
              <a:ext uri="{FF2B5EF4-FFF2-40B4-BE49-F238E27FC236}">
                <a16:creationId xmlns:a16="http://schemas.microsoft.com/office/drawing/2014/main" id="{792757A9-3287-4715-A457-08F5F9308714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04</a:t>
            </a:r>
            <a:endParaRPr/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3ACA74-B059-4380-9288-DE33AA1D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95750"/>
            <a:ext cx="581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分阶段交付，并行完善论文</a:t>
            </a:r>
          </a:p>
        </p:txBody>
      </p:sp>
    </p:spTree>
    <p:extLst>
      <p:ext uri="{BB962C8B-B14F-4D97-AF65-F5344CB8AC3E}">
        <p14:creationId xmlns:p14="http://schemas.microsoft.com/office/powerpoint/2010/main" val="1462195846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0EC10430-E899-45DA-AFB3-7327D839A4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后续工作安排：建议中期后 8 周</a:t>
            </a:r>
            <a:endParaRPr/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14375" y="1809750"/>
          <a:ext xmlns:a="http://schemas.openxmlformats.org/drawingml/2006/main" cx="10763250" cy="38385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781175"/>
                <a:gridCol w="4486275"/>
                <a:gridCol w="4495800"/>
              </a:tblGrid>
              <a:tr h="76771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时间</a:t>
                      </a:r>
                    </a:p>
                  </a:txBody>
                  <a:tcPr marL="152400" marR="152400" marT="95250" marB="95250" anchor="ctr">
                    <a:solidFill>
                      <a:srgbClr val="DEE5E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系统工作</a:t>
                      </a:r>
                    </a:p>
                  </a:txBody>
                  <a:tcPr marL="152400" marR="152400" marT="95250" marB="95250" anchor="ctr">
                    <a:solidFill>
                      <a:srgbClr val="DEE5E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可检查的里程碑</a:t>
                      </a:r>
                    </a:p>
                  </a:txBody>
                  <a:tcPr marL="152400" marR="152400" marT="95250" marB="95250" anchor="ctr">
                    <a:solidFill>
                      <a:srgbClr val="DEE5EF"/>
                    </a:solidFill>
                  </a:tcPr>
                </a:tc>
              </a:tr>
              <a:tr h="76771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 1–2 周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确定范围与依赖清单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拆分评分、聚类、配额接口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接口与目录规范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最小选数流程运行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76771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 3–4 周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内容摘要与版本检查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实现缓存与局部重算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输入变化场景通过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无错误命中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</a:tr>
              <a:tr h="76771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 5–6 周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节点去重、队列与阶段恢复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控制台与报告导出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24 组实验矩阵运行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中断恢复演示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76771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 7–8 周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两机制对照与开销测量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系统整合、论文修改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可运行系统与验证报告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论文与演示材料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60C0FC-AC2B-4DBD-A059-77E23BF7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81675"/>
            <a:ext cx="10763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9EEF5"/>
          </a:solidFill>
          <a:ln xmlns:a="http://schemas.openxmlformats.org/drawingml/2006/main" w="11430">
            <a:solidFill>
              <a:srgbClr val="E9EEF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E3D9B4-FA9B-4494-A2DC-84EB9AC1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924550"/>
            <a:ext cx="10382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并行推进：整理实验记录、统计口径与配置支持范围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2C50D9-4088-4C1C-B986-8D4D6B57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477000"/>
            <a:ext cx="285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022181883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0EC10430-E899-45DA-AFB3-7327D839A4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预期成果与验收标准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D591D4-D238-49E0-9172-87454D2D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859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交付一套可运行系统，以及两项可定量检验的工程机制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2BFBED-FB7A-4DB6-9EEC-3FDDE252E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95575"/>
            <a:ext cx="3371850" cy="2800350"/>
          </a:xfrm>
          <a:prstGeom xmlns:a="http://schemas.openxmlformats.org/drawingml/2006/main" prst="roundRect">
            <a:avLst>
              <a:gd name="adj" fmla="val 272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CBA092-8707-458A-A853-4A14C06B6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24175"/>
            <a:ext cx="2895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可运行系统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E13FA8-A3AC-400B-A634-84B8CAFA5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52825"/>
            <a:ext cx="2895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78EA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1A2AC3-802B-4F2B-A60E-CDFF232F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90950"/>
            <a:ext cx="28956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复现实验矩阵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查看复用计划与阶段状态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导出结果与依赖记录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09CBEF-5A3F-4FBF-AB08-031F5735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11430">
            <a:solidFill>
              <a:srgbClr val="778EA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98874C-F369-46A4-A623-A8117C00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57450"/>
            <a:ext cx="552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24868B-B171-4A68-8238-1CCBDEFC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695575"/>
            <a:ext cx="3371850" cy="2800350"/>
          </a:xfrm>
          <a:prstGeom xmlns:a="http://schemas.openxmlformats.org/drawingml/2006/main" prst="roundRect">
            <a:avLst>
              <a:gd name="adj" fmla="val 272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BCB555-CBCC-4D54-A2C0-4099141D6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24175"/>
            <a:ext cx="2895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机制验证报告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D73C43-0A37-43AD-ADD2-239C9D848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552825"/>
            <a:ext cx="2895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78EA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38651A-CE3A-46F9-9204-BD33FD6A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790950"/>
            <a:ext cx="28956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缓存命中与重算边界正确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统计重复计算和恢复开销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报告时间与存储变化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B76C8C-C372-4F30-BE8D-3330DDB1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812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11430">
            <a:solidFill>
              <a:srgbClr val="778EA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69CD69-9E86-4FED-B160-75FFCC26E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57450"/>
            <a:ext cx="552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8F1DEB-3EE2-4AF8-908E-2FEEBEF8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695575"/>
            <a:ext cx="3371850" cy="2800350"/>
          </a:xfrm>
          <a:prstGeom xmlns:a="http://schemas.openxmlformats.org/drawingml/2006/main" prst="roundRect">
            <a:avLst>
              <a:gd name="adj" fmla="val 272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F5F71F-C033-4C34-965D-E50C1B289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24175"/>
            <a:ext cx="2895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论文与实验材料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BD6C9B-F072-4D27-B619-AC75668A1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52825"/>
            <a:ext cx="2895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78EA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74D4F5-0AC9-4F2F-AA1E-2F99279C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90950"/>
            <a:ext cx="28956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原始日志可追溯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算法实验整理重复与计时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系统设计和对照结果入文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9001A5-4D3E-4968-A223-DFD05D84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812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11430">
            <a:solidFill>
              <a:srgbClr val="778EA8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52A9E6-B70D-47B8-B815-59062BD8E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552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F1FB8A-54B0-428C-B6CB-6C47AB63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31507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不预设加速倍数；收益由实际运行记录决定，同时报告索引、校验和存储开销。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CEB1AA-EEF7-4709-ABA3-6380D065A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477000"/>
            <a:ext cx="285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022181883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0EC10430-E899-45DA-AFB3-7327D839A4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总结：算法进展与系统计划相互衔接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D14E3E-4B8B-43DF-8846-E8F465C0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24000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总体目标：提高多配置微调中的数据使用效率与实验执行效率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F8C95C-1C5C-4977-BB99-3BB61880B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47950"/>
            <a:ext cx="5191125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E5B256-8DAD-489E-BFF0-42DE4DC9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4714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工作一：条件数据选择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103461-DA8A-4643-84A6-C9D52805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05200"/>
            <a:ext cx="47148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78EA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F42CDD-0C68-4D35-BDA0-B8EDFE37B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43325"/>
            <a:ext cx="471487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形成 PCU-Select 方法与代码基础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共享表征与评分器，保留目标条件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继续分析实验结果与适用边界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46AEA2-8602-44A4-AB8F-23B0EB1F1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47950"/>
            <a:ext cx="5191125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31C2EF-2CBD-477B-9506-D2E9EBBD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76550"/>
            <a:ext cx="4714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工作二：实验管理系统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38F525-D43C-441C-82F5-EFF791F0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505200"/>
            <a:ext cx="47148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78EA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66E9DE-C144-47A9-A5B6-A6756AC2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743325"/>
            <a:ext cx="471487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复用第一项工作已有模块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研究分层缓存、增量复用与阶段恢复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以系统演示和定量对照完成验证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09403A-5A92-41E1-99DD-EE4D67E4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43550"/>
            <a:ext cx="10763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9EEF5"/>
          </a:solidFill>
          <a:ln xmlns:a="http://schemas.openxmlformats.org/drawingml/2006/main" w="11430">
            <a:solidFill>
              <a:srgbClr val="E9EEF5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E010EE-FE6C-46DD-B0BF-524D2F57C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86425"/>
            <a:ext cx="10382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下一阶段重点：把方法、实验记录与系统验证一并落到可复现结果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FAE476-892F-400E-A88B-FEACC21B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477000"/>
            <a:ext cx="285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022181883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">
            <a:extLst xmlns:a="http://schemas.openxmlformats.org/drawingml/2006/main">
              <a:ext uri="{FF2B5EF4-FFF2-40B4-BE49-F238E27FC236}">
                <a16:creationId xmlns:a16="http://schemas.microsoft.com/office/drawing/2014/main" id="{9C0102EA-A8A1-40DB-A220-9395C02A6DC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>
            <a:normAutofit fontScale="84236"/>
          </a:bodyPr>
          <a:lstStyle xmlns:a="http://schemas.openxmlformats.org/drawingml/2006/main"/>
          <a:p xmlns:a="http://schemas.openxmlformats.org/drawingml/2006/main">
            <a:r>
              <a:t>感谢各位老师</a:t>
            </a:r>
            <a:endParaRPr/>
          </a:p>
          <a:p xmlns:a="http://schemas.openxmlformats.org/drawingml/2006/main">
            <a:r>
              <a:t>请批评指正</a:t>
            </a:r>
            <a:endParaRPr/>
          </a:p>
        </p:txBody>
      </p:sp>
      <p:sp>
        <p:nvSpPr>
          <p:cNvPr id="10" name="署名">
            <a:extLst xmlns:a="http://schemas.openxmlformats.org/drawingml/2006/main">
              <a:ext uri="{FF2B5EF4-FFF2-40B4-BE49-F238E27FC236}">
                <a16:creationId xmlns:a16="http://schemas.microsoft.com/office/drawing/2014/main" id="{F891AA28-0B6C-44E5-84C2-EFB18DD8B6F4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汇报人: 林肯</a:t>
            </a:r>
            <a:r>
              <a:t>达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19161721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0EC10430-E899-45DA-AFB3-7327D839A4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备用：缓存键与恢复边界</a:t>
            </a:r>
            <a:endParaRPr/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714375" y="1885950"/>
          <a:ext xmlns:a="http://schemas.openxmlformats.org/drawingml/2006/main" cx="10763250" cy="3429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762250"/>
                <a:gridCol w="8001000"/>
              </a:tblGrid>
              <a:tr h="6858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产物</a:t>
                      </a:r>
                    </a:p>
                  </a:txBody>
                  <a:tcPr marL="152400" marR="152400" marT="95250" marB="95250" anchor="ctr">
                    <a:solidFill>
                      <a:srgbClr val="DEE5E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必须纳入的关键依赖</a:t>
                      </a:r>
                    </a:p>
                  </a:txBody>
                  <a:tcPr marL="152400" marR="152400" marT="95250" marB="95250" anchor="ctr">
                    <a:solidFill>
                      <a:srgbClr val="DEE5EF"/>
                    </a:solidFill>
                  </a:tcPr>
                </a:tc>
              </a:tr>
              <a:tr h="6858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样本特征 / 任务表示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样本内容摘要与顺序、模型与预处理版本、特征配置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目标评分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特征校验值、任务表示、PEFT 编码、固定评分器版本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</a:tr>
              <a:tr h="6858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聚类 / 选择子集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完整候选池与顺序、聚类配置与种子；另含评分、预算、选择种子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训练 / 评测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子集校验值、模型、训练配方与种子、评测配置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73AA1F-C0DF-42F9-9B00-D6DE05EB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388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完成状态 = 产物存在 + 校验通过 + 完成标记</a:t>
            </a:r>
          </a:p>
          <a:p xmlns:a="http://schemas.openxmlformats.org/drawingml/2006/main">
            <a:pPr algn="l">
              <a:def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请求目录区分任务、配置、预算与训练种子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73C0FA-167B-4153-8198-3B81D989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477000"/>
            <a:ext cx="285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022181883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0EC10430-E899-45DA-AFB3-7327D839A4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备用：论文数据核验与支持范围</a:t>
            </a:r>
            <a:endParaRPr/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714375" y="1962150"/>
          <a:ext xmlns:a="http://schemas.openxmlformats.org/drawingml/2006/main" cx="10763250" cy="33051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190750"/>
                <a:gridCol w="4238625"/>
                <a:gridCol w="4333875"/>
              </a:tblGrid>
              <a:tr h="826294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检查项</a:t>
                      </a:r>
                    </a:p>
                  </a:txBody>
                  <a:tcPr marL="152400" marR="152400" marT="95250" marB="95250" anchor="ctr">
                    <a:solidFill>
                      <a:srgbClr val="DEE5E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实验记录</a:t>
                      </a:r>
                    </a:p>
                  </a:txBody>
                  <a:tcPr marL="152400" marR="152400" marT="95250" marB="95250" anchor="ctr">
                    <a:solidFill>
                      <a:srgbClr val="DEE5E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复现要求</a:t>
                      </a:r>
                    </a:p>
                  </a:txBody>
                  <a:tcPr marL="152400" marR="152400" marT="95250" marB="95250" anchor="ctr">
                    <a:solidFill>
                      <a:srgbClr val="DEE5EF"/>
                    </a:solidFill>
                  </a:tcPr>
                </a:tc>
              </a:tr>
              <a:tr h="826294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主表独立重复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按训练种子汇总实验结果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整理训练日志与独立重复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按任务与配置汇总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826294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动机图与成本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PEFT 配置相关性实验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成本为稿件口径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关联配置实验与分项计时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区分前期、选择与训练成本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</a:tr>
              <a:tr h="826294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未见结构支持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结构外配置需兼容标签校准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明确适用范围与回退条件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保留独立配置实验记录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32F18B-5A8F-493D-AD17-04C313291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43550"/>
            <a:ext cx="10763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9EEF5"/>
          </a:solidFill>
          <a:ln xmlns:a="http://schemas.openxmlformats.org/drawingml/2006/main" w="11430">
            <a:solidFill>
              <a:srgbClr val="E9EEF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F8C382-8FDC-45A8-9690-3BB0A68B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86425"/>
            <a:ext cx="10382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实验结果按质量、成本和配置支持范围分别解释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29A49C-D2A2-4849-AD02-3C55161EA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31507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依据：competition_numbers.py、revise_motivation_figure.py、competition_revision_notes.md。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6F3C7B-2F03-4F56-9B49-EFC13A4F5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477000"/>
            <a:ext cx="285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022181883"/>
      </p:ext>
    </p:extLst>
  </p:cSld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2026-09-09T08:23:05.1270000Z</dcterms:created>
  <dcterms:modified xsi:type="dcterms:W3CDTF">2026-09-09T08:23:05.1270000Z</dcterms:modified>
</coreProperties>
</file>